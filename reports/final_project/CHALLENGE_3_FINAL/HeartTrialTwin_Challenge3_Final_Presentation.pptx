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c0305606e845c1" /><Relationship Type="http://schemas.openxmlformats.org/officeDocument/2006/relationships/extended-properties" Target="/docProps/app.xml" Id="Re5c271016cd04143" /><Relationship Type="http://schemas.openxmlformats.org/officeDocument/2006/relationships/officeDocument" Target="/ppt/presentation.xml" Id="R28e4a0dc985f4a62" /></Relationships>
</file>

<file path=ppt/presentation.xml><?xml version="1.0" encoding="utf-8"?>
<p:presentation xmlns:p="http://schemas.openxmlformats.org/presentationml/2006/main">
  <p:sldMasterIdLst>
    <p:sldMasterId xmlns:r="http://schemas.openxmlformats.org/officeDocument/2006/relationships" id="2147483648" r:id="R4137d5ff18504407"/>
  </p:sldMasterIdLst>
  <p:notesMasterIdLst>
    <p:notesMasterId xmlns:r="http://schemas.openxmlformats.org/officeDocument/2006/relationships" r:id="R8f0cdf25a19b4d86"/>
  </p:notesMasterIdLst>
  <p:sldIdLst>
    <p:sldId xmlns:r="http://schemas.openxmlformats.org/officeDocument/2006/relationships" id="256" r:id="R135b14919e5f4a8c"/>
    <p:sldId xmlns:r="http://schemas.openxmlformats.org/officeDocument/2006/relationships" id="257" r:id="Rdd9d0c594fca406a"/>
    <p:sldId xmlns:r="http://schemas.openxmlformats.org/officeDocument/2006/relationships" id="258" r:id="R0eea90a9d9304e58"/>
    <p:sldId xmlns:r="http://schemas.openxmlformats.org/officeDocument/2006/relationships" id="259" r:id="R39c258a8c14044bb"/>
    <p:sldId xmlns:r="http://schemas.openxmlformats.org/officeDocument/2006/relationships" id="260" r:id="R9cc223c4e55c4406"/>
    <p:sldId xmlns:r="http://schemas.openxmlformats.org/officeDocument/2006/relationships" id="261" r:id="R9f8dfc0624944feb"/>
    <p:sldId xmlns:r="http://schemas.openxmlformats.org/officeDocument/2006/relationships" id="262" r:id="R7b91316f21734356"/>
    <p:sldId xmlns:r="http://schemas.openxmlformats.org/officeDocument/2006/relationships" id="263" r:id="Ra4c052c6dd4c49cf"/>
    <p:sldId xmlns:r="http://schemas.openxmlformats.org/officeDocument/2006/relationships" id="264" r:id="R0fbec3c105444ae9"/>
    <p:sldId xmlns:r="http://schemas.openxmlformats.org/officeDocument/2006/relationships" id="265" r:id="Rdf67d20c8631462d"/>
    <p:sldId xmlns:r="http://schemas.openxmlformats.org/officeDocument/2006/relationships" id="266" r:id="R43652e82e2a64f17"/>
    <p:sldId xmlns:r="http://schemas.openxmlformats.org/officeDocument/2006/relationships" id="267" r:id="Rbb5d9355952549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34a98a20d64a95" /><Relationship Type="http://schemas.openxmlformats.org/officeDocument/2006/relationships/slideMaster" Target="/ppt/slideMasters/slideMaster1.xml" Id="R4137d5ff18504407" /><Relationship Type="http://schemas.openxmlformats.org/officeDocument/2006/relationships/notesMaster" Target="/ppt/notesMasters/notesMaster1.xml" Id="R8f0cdf25a19b4d86" /><Relationship Type="http://schemas.openxmlformats.org/officeDocument/2006/relationships/presProps" Target="/ppt/presProps.xml" Id="Ra81a0cb01eac4003" /><Relationship Type="http://schemas.openxmlformats.org/officeDocument/2006/relationships/tableStyles" Target="/ppt/tableStyles.xml" Id="Rd0e80d59b71a4900" /><Relationship Type="http://schemas.openxmlformats.org/officeDocument/2006/relationships/slide" Target="/ppt/slides/slide1.xml" Id="R135b14919e5f4a8c" /><Relationship Type="http://schemas.openxmlformats.org/officeDocument/2006/relationships/slide" Target="/ppt/slides/slide2.xml" Id="Rdd9d0c594fca406a" /><Relationship Type="http://schemas.openxmlformats.org/officeDocument/2006/relationships/slide" Target="/ppt/slides/slide3.xml" Id="R0eea90a9d9304e58" /><Relationship Type="http://schemas.openxmlformats.org/officeDocument/2006/relationships/slide" Target="/ppt/slides/slide4.xml" Id="R39c258a8c14044bb" /><Relationship Type="http://schemas.openxmlformats.org/officeDocument/2006/relationships/slide" Target="/ppt/slides/slide5.xml" Id="R9cc223c4e55c4406" /><Relationship Type="http://schemas.openxmlformats.org/officeDocument/2006/relationships/slide" Target="/ppt/slides/slide6.xml" Id="R9f8dfc0624944feb" /><Relationship Type="http://schemas.openxmlformats.org/officeDocument/2006/relationships/slide" Target="/ppt/slides/slide7.xml" Id="R7b91316f21734356" /><Relationship Type="http://schemas.openxmlformats.org/officeDocument/2006/relationships/slide" Target="/ppt/slides/slide8.xml" Id="Ra4c052c6dd4c49cf" /><Relationship Type="http://schemas.openxmlformats.org/officeDocument/2006/relationships/slide" Target="/ppt/slides/slide9.xml" Id="R0fbec3c105444ae9" /><Relationship Type="http://schemas.openxmlformats.org/officeDocument/2006/relationships/slide" Target="/ppt/slides/slide10.xml" Id="Rdf67d20c8631462d" /><Relationship Type="http://schemas.openxmlformats.org/officeDocument/2006/relationships/slide" Target="/ppt/slides/slide11.xml" Id="R43652e82e2a64f17" /><Relationship Type="http://schemas.openxmlformats.org/officeDocument/2006/relationships/slide" Target="/ppt/slides/slide12.xml" Id="Rbb5d9355952549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72ed3a14934f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906326eee140d1" /><Relationship Type="http://schemas.openxmlformats.org/officeDocument/2006/relationships/notesMaster" Target="/ppt/notesMasters/notesMaster1.xml" Id="Rbb8c372dcd3843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ee0f2e87174e56" /><Relationship Type="http://schemas.openxmlformats.org/officeDocument/2006/relationships/notesMaster" Target="/ppt/notesMasters/notesMaster1.xml" Id="Rcbc12cdd707b4d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d8a6dbdaba4451" /><Relationship Type="http://schemas.openxmlformats.org/officeDocument/2006/relationships/notesMaster" Target="/ppt/notesMasters/notesMaster1.xml" Id="Rf3326e6571cd41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704e6cec8b469b" /><Relationship Type="http://schemas.openxmlformats.org/officeDocument/2006/relationships/notesMaster" Target="/ppt/notesMasters/notesMaster1.xml" Id="R783d7ef318b64d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b8b71223a4478a" /><Relationship Type="http://schemas.openxmlformats.org/officeDocument/2006/relationships/notesMaster" Target="/ppt/notesMasters/notesMaster1.xml" Id="R47907dc0f22045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e0b3c733054293" /><Relationship Type="http://schemas.openxmlformats.org/officeDocument/2006/relationships/notesMaster" Target="/ppt/notesMasters/notesMaster1.xml" Id="R0bcc91370c1a48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b29c8452c94150" /><Relationship Type="http://schemas.openxmlformats.org/officeDocument/2006/relationships/notesMaster" Target="/ppt/notesMasters/notesMaster1.xml" Id="R6f5375841c9b42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16e2796ea948e0" /><Relationship Type="http://schemas.openxmlformats.org/officeDocument/2006/relationships/notesMaster" Target="/ppt/notesMasters/notesMaster1.xml" Id="R8bd0941bb76a40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e17928721b4013" /><Relationship Type="http://schemas.openxmlformats.org/officeDocument/2006/relationships/notesMaster" Target="/ppt/notesMasters/notesMaster1.xml" Id="Rbd4d117271a240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af5ab56ae34690" /><Relationship Type="http://schemas.openxmlformats.org/officeDocument/2006/relationships/notesMaster" Target="/ppt/notesMasters/notesMaster1.xml" Id="R93251f3e10b04d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5ab34b497049b1" /><Relationship Type="http://schemas.openxmlformats.org/officeDocument/2006/relationships/notesMaster" Target="/ppt/notesMasters/notesMaster1.xml" Id="R9af6ca6514fe49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0fcd3d52014cf3" /><Relationship Type="http://schemas.openxmlformats.org/officeDocument/2006/relationships/notesMaster" Target="/ppt/notesMasters/notesMaster1.xml" Id="Rfed4d552c7894e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CS 5588 Challenge 3 final evidence through October 25, 2026. Full evidence, references, safeguards, and exact provenance are in the accompanying 20-page report. No new model training or benchmark evaluation was performed for this presentation. Original assignments: October 5, 12, 15 and 22. Full-cohort extensions through October 25 are labeled separately. Git remote verified; local full-cohort extensions are not claimed published. Credential rotation remains required before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semantic-model presentation, slide 6. Full evidence, references, safeguards, and exact provenance are in the accompanying 20-page report. No new model training or benchmark evaluation was performed for this presentation. Eleven proposed concepts included eight clinical concepts and Prediction, Evidence and Human Review. The original diagram is reproduced authentically. Prediction was separated from GraphRAG and unsupported node types were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October 12 materials and full-cohort manifest. Full evidence, references, safeguards, and exact provenance are in the accompanying 20-page report. No new model training or benchmark evaluation was performed for this presentation. The screenshot is the original five-trial shared-condition/intervention subgraph, not a 28,777-node visualization. Labels: Trial, ConditionTerm, Intervention, Sponsor, PlannedOutcome, SourceDataset. Submitted and browse conditions are distinct. Full graph prepared October 22 beyond the submitted hands-on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Submitted GraphRAG presentation and actual October 15 JSON traces. Full evidence, references, safeguards, and exact provenance are in the accompanying 20-page report. No new model training or benchmark evaluation was performed for this presentation. Local Ollama qwen2.5:1.5b. Q2 retrieved ten planned outcomes across five trials; Q3 did not justify claims of effectiveness. This is structured Cypher-based graph grounding, not the complete Edge et al. community summarization pipeline. Registered planned outcomes are not observed clinical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message-passing and trial-ranking diagnostic reports. Full evidence, references, safeguards, and exact provenance are in the accompanying 20-page report. No new model training or benchmark evaluation was performed for this presentation. Ten query outcomes and five trial candidates. Provenance remained in the source graph but provenance hubs were excluded from computational messages by human decision. No training, held-out retrieval improvement, clinical effect, or generalization was established by this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Frozen HTT-GNN-ASSOC-PROTOCOL-v2 and authorized execution record. Full evidence, references, safeguards, and exact provenance are in the accompanying 20-page report. No new model training or benchmark evaluation was performed for this presentation. Query projection and graph encoder meet in the same ranking space through a cosine score. Six type slots are appended to graph semantic features. 9,036 context nodes. Revision 1110a243fdf4706b3f48f1d95db1a4f5529b4d41, effective 256 tokens. External approvals preserve internal training_permitted=False guards. Sixty-nine weak-family endpoints are quarantined from held-out query evaluation; unresolved relatedness is not adjudicated.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HTT-GNN-ASSOC-RUN-v1 saved test results, descriptive comparison. Full evidence, references, safeguards, and exact provenance are in the accompanying 20-page report. No new model training or benchmark evaluation was performed for this presentation. Epoch 60 selected on validation after 80 full-graph updates. Validation MRR: TF-IDF .08519, MiniLM .08115, context pooling .07935, untrained GNN .00307, trained GNN .02180. No selection or tuning follows these test results. Context pooling versus MiniLM superiority is not statistically established. All metrics describe registered association ranking, not clinical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Training history and STEP_66G_1_DIAGNOSTIC_REPORT.md. Full evidence, references, safeguards, and exact provenance are in the accompanying 20-page report. No new model training or benchmark evaluation was performed for this presentation. Fixed-weight message removal is not a separately trained no-message ablation. Tiny training-only overfitting reached MRR 1.0, which verifies capacity rather than generalization. Checkpoint and benchmark results are preserved. No exposed-test retuning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Implemented demo_v2 path and separate experimental GNN lane. Full evidence, references, safeguards, and exact provenance are in the accompanying 20-page report. No new model training or benchmark evaluation was performed for this presentation. Semantic discovery keeps original cosine scores and examines a bounded ranked prefix for required evidence. Defaults: five examined, two selected; hard bounds ten and three. Exact NCT scope never silently changes. Unsupported effectiveness questions abstain. Neo4j data are unchanged and read-only.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live smoke traces and authentic October 25 browser captures. Full evidence, references, safeguards, and exact provenance are in the accompanying 20-page report. No new model training or benchmark evaluation was performed for this presentation. These are individual saved functionality timings, not repeated latency benchmarks. Sponsor citation cite:3db774038cf4618ff9294543 binds sponsors.txt 381715287; intervention cite:21f56031bbf8289fe76bfdcb binds interventions.txt 392379839. Seven outcomes have exact evidence-set validation. Discovery took 25.09 s and explicitly skipped a candidate without outcomes. The final audit recorded 220 offline passes, zero failures/errors/skips; the formal shared RAG benchmark remains NOT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decisions, approval records and verified implementation iterations. Full evidence, references, safeguards, and exact provenance are in the accompanying 20-page report. No new model training or benchmark evaluation was performed for this presentation. Eight schema recommendations: six ACCEPT, two MODIFY. No independent clinical peer review or invented signatures. The human required evidence preservation while excluding provenance hubs from GNN messages. Deterministic citations did not certify irrelevant or incomplete generated claims; field relevance and exact-set completeness remain separate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Sections 7–8 and consolidated reproducibility guide. Full evidence, references, safeguards, and exact provenance are in the accompanying 20-page report. No new model training or benchmark evaluation was performed for this presentation. Repository https://github.com/akwasianing/HeartTrialTwin verified from configured origin. Full-cohort extensions remain local. No commit or push. Final PDF contains references for AACT, Neo4j, RAG, GraphRAG, MiniLM, GraphSAGE and Ollama. This presentation does not claim clinical validation, GraphSAGE superiority or unseen-trial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7c707fadb044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c39898b17a47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5cf7a9e9444a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9f61c9b28a4b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94a5a6015148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e116dd84be4f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FC3576-0641-4860-90DE-A6EBCF9A7D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5CFD7BD-7CF9-46A2-BB80-E6749B57BD5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02D0B6-9782-4545-BA03-14D0235965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ED36CD-24E9-4B3A-974A-465BBB9F21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226D518-DC5A-4B81-AD21-5EACE67C42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3B0767-2BA2-4781-997D-52006A5736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71B12F-3B2E-48B7-BFE5-1B3D1A3A28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4C60D3-11AB-4044-BBAB-A9C33E7FC1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C00FD-9D59-47A7-AF68-3FF68EEC0C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EEF175-6734-4A5E-B2E8-901946DCF1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5514527d7c40f2" /><Relationship Type="http://schemas.openxmlformats.org/officeDocument/2006/relationships/slideLayout" Target="/ppt/slideLayouts/slideLayout1.xml" Id="Ra3fcbb875511413f" /><Relationship Type="http://schemas.openxmlformats.org/officeDocument/2006/relationships/slideLayout" Target="/ppt/slideLayouts/slideLayout2.xml" Id="R4b19d460cf0542de" /><Relationship Type="http://schemas.openxmlformats.org/officeDocument/2006/relationships/slideLayout" Target="/ppt/slideLayouts/slideLayout3.xml" Id="Rfa52c780b65c475b" /><Relationship Type="http://schemas.openxmlformats.org/officeDocument/2006/relationships/slideLayout" Target="/ppt/slideLayouts/slideLayout4.xml" Id="R7c73c09351844f3a" /><Relationship Type="http://schemas.openxmlformats.org/officeDocument/2006/relationships/slideLayout" Target="/ppt/slideLayouts/slideLayout5.xml" Id="Ra4e4b687bdac4c7b" /><Relationship Type="http://schemas.openxmlformats.org/officeDocument/2006/relationships/slideLayout" Target="/ppt/slideLayouts/slideLayout6.xml" Id="R9bb359d82ed945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fcbb875511413f"/>
    <p:sldLayoutId xmlns:r="http://schemas.openxmlformats.org/officeDocument/2006/relationships" id="2147483650" r:id="R4b19d460cf0542de"/>
    <p:sldLayoutId xmlns:r="http://schemas.openxmlformats.org/officeDocument/2006/relationships" id="2147483651" r:id="Rfa52c780b65c475b"/>
    <p:sldLayoutId xmlns:r="http://schemas.openxmlformats.org/officeDocument/2006/relationships" id="2147483652" r:id="R7c73c09351844f3a"/>
    <p:sldLayoutId xmlns:r="http://schemas.openxmlformats.org/officeDocument/2006/relationships" id="2147483653" r:id="Ra4e4b687bdac4c7b"/>
    <p:sldLayoutId xmlns:r="http://schemas.openxmlformats.org/officeDocument/2006/relationships" id="2147483654" r:id="R9bb359d82ed945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4d12f8712e4d6f" /><Relationship Type="http://schemas.openxmlformats.org/officeDocument/2006/relationships/notesSlide" Target="/ppt/notesSlides/notesSlide1.xml" Id="Ra69ed54001aa47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b03de3e0ae4eef" /><Relationship Type="http://schemas.openxmlformats.org/officeDocument/2006/relationships/image" Target="/ppt/media/image.png" Id="R91d68c2a95bd4a07" /><Relationship Type="http://schemas.openxmlformats.org/officeDocument/2006/relationships/notesSlide" Target="/ppt/notesSlides/notesSlide2.xml" Id="Rc95ce7d8e8724b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14231567da4727" /><Relationship Type="http://schemas.openxmlformats.org/officeDocument/2006/relationships/image" Target="/ppt/media/image2.png" Id="Ra19782cf36324bf9" /><Relationship Type="http://schemas.openxmlformats.org/officeDocument/2006/relationships/notesSlide" Target="/ppt/notesSlides/notesSlide3.xml" Id="R3ef46021cb7747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d7c4713824439f" /><Relationship Type="http://schemas.openxmlformats.org/officeDocument/2006/relationships/image" Target="/ppt/media/image3.png" Id="R2c579f213f1f4b4f" /><Relationship Type="http://schemas.openxmlformats.org/officeDocument/2006/relationships/notesSlide" Target="/ppt/notesSlides/notesSlide4.xml" Id="Rb9a0bc9faf7d44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53c90b9e7646e8" /><Relationship Type="http://schemas.openxmlformats.org/officeDocument/2006/relationships/image" Target="/ppt/media/image4.png" Id="Rc3bec77345684825" /><Relationship Type="http://schemas.openxmlformats.org/officeDocument/2006/relationships/notesSlide" Target="/ppt/notesSlides/notesSlide5.xml" Id="Rccfc6a530d914c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008d12d9e44a35" /><Relationship Type="http://schemas.openxmlformats.org/officeDocument/2006/relationships/notesSlide" Target="/ppt/notesSlides/notesSlide6.xml" Id="R2c2cca2587e344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a6aecb1a9749ae" /><Relationship Type="http://schemas.openxmlformats.org/officeDocument/2006/relationships/chart" Target="/ppt/slides/charts/chart1.xml" Id="Rc5d798b5cde34c0b" /><Relationship Type="http://schemas.openxmlformats.org/officeDocument/2006/relationships/notesSlide" Target="/ppt/notesSlides/notesSlide7.xml" Id="Rb66acbc79a4443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9fae59eafd4ed7" /><Relationship Type="http://schemas.openxmlformats.org/officeDocument/2006/relationships/image" Target="/ppt/media/image5.png" Id="Rf5d6e47603b44df6" /><Relationship Type="http://schemas.openxmlformats.org/officeDocument/2006/relationships/notesSlide" Target="/ppt/notesSlides/notesSlide8.xml" Id="R34dfccda961143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044d10f61d4c58" /><Relationship Type="http://schemas.openxmlformats.org/officeDocument/2006/relationships/notesSlide" Target="/ppt/notesSlides/notesSlide9.xml" Id="R08823ef2ea4b4b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8f791f352a4fc1" /><Relationship Type="http://schemas.openxmlformats.org/officeDocument/2006/relationships/image" Target="/ppt/media/image6.png" Id="R422bbb649c744b54" /><Relationship Type="http://schemas.openxmlformats.org/officeDocument/2006/relationships/notesSlide" Target="/ppt/notesSlides/notesSlide10.xml" Id="R07ed9052e8f045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146c231ffe4c79" /><Relationship Type="http://schemas.openxmlformats.org/officeDocument/2006/relationships/notesSlide" Target="/ppt/notesSlides/notesSlide11.xml" Id="R8f1bc0b6a15a4c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f05bdc8a6864b37" /><Relationship Type="http://schemas.openxmlformats.org/officeDocument/2006/relationships/notesSlide" Target="/ppt/notesSlides/notesSlide12.xml" Id="R1f794c2f5fd8401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172F40"/>
                </a:solidFill>
                <a:latin typeface="Arial"/>
                <a:ea typeface="Arial"/>
                <a:cs typeface="Arial"/>
              </a:rPr>
              <a:t>Test MRR</a:t>
            </a:r>
          </a:p>
        </c:rich>
      </c:tx>
      <c:overlay val="0"/>
      <c:txPr>
        <a:bodyPr xmlns:a="http://schemas.openxmlformats.org/drawingml/2006/main" anchorCtr="1"/>
        <a:lstStyle xmlns:a="http://schemas.openxmlformats.org/drawingml/2006/main"/>
        <a:p xmlns:a="http://schemas.openxmlformats.org/drawingml/2006/main">
          <a:pPr>
            <a:defRPr sz="1800" b="1">
              <a:solidFill>
                <a:srgbClr val="172F40"/>
              </a:solidFill>
              <a:latin typeface="Arial"/>
              <a:ea typeface="Arial"/>
              <a:cs typeface="Arial"/>
            </a:defRPr>
          </a:pPr>
        </a:p>
      </c:txPr>
    </c:title>
    <c:plotArea>
      <c:barChart>
        <c:barDir val="bar"/>
        <c:grouping val="clustered"/>
        <c:varyColors val="0"/>
        <c:ser>
          <c:idx val="0"/>
          <c:order val="0"/>
          <c:tx>
            <c:v>Test MRR</c:v>
          </c:tx>
          <c:spPr>
            <a:solidFill xmlns:a="http://schemas.openxmlformats.org/drawingml/2006/main">
              <a:srgbClr val="246684"/>
            </a:solidFill>
          </c:spPr>
          <c:invertIfNegative val="0"/>
          <c:cat>
            <c:strLit>
              <c:ptCount val="5"/>
              <c:pt idx="0">
                <c:v>TF-IDF</c:v>
              </c:pt>
              <c:pt idx="1">
                <c:v>MiniLM</c:v>
              </c:pt>
              <c:pt idx="2">
                <c:v>Context pooling</c:v>
              </c:pt>
              <c:pt idx="3">
                <c:v>Untrained GraphSAGE</c:v>
              </c:pt>
              <c:pt idx="4">
                <c:v>Trained GraphSAGE</c:v>
              </c:pt>
            </c:strLit>
          </c:cat>
          <c:val>
            <c:numLit>
              <c:formatCode>General</c:formatCode>
              <c:ptCount val="5"/>
              <c:pt idx="0">
                <c:v>0.07074</c:v>
              </c:pt>
              <c:pt idx="1">
                <c:v>0.07619</c:v>
              </c:pt>
              <c:pt idx="2">
                <c:v>0.07841</c:v>
              </c:pt>
              <c:pt idx="3">
                <c:v>0.00266</c:v>
              </c:pt>
              <c:pt idx="4">
                <c:v>0.01124</c:v>
              </c:pt>
            </c:numLit>
          </c:val>
        </c:ser>
        <c:dLbls>
          <c:numFmt formatCode="0.00000" sourceLinked="0"/>
          <c:txPr>
            <a:bodyPr xmlns:a="http://schemas.openxmlformats.org/drawingml/2006/main" anchorCtr="1"/>
            <a:lstStyle xmlns:a="http://schemas.openxmlformats.org/drawingml/2006/main"/>
            <a:p xmlns:a="http://schemas.openxmlformats.org/drawingml/2006/main">
              <a:pPr>
                <a:defRPr sz="1350">
                  <a:solidFill>
                    <a:srgbClr val="172F40"/>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E1E7"/>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2F40"/>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F40"/>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12E31C-E942-4046-9D21-9D3D937F8D3C}"/>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HeartTrialTwin</a:t>
            </a:r>
          </a:p>
        </p:txBody>
      </p:sp>
      <p:sp>
        <p:nvSpPr>
          <p:cNvPr id="2" name="">
            <a:extLst xmlns:a="http://schemas.openxmlformats.org/drawingml/2006/main">
              <a:ext uri="{FF2B5EF4-FFF2-40B4-BE49-F238E27FC236}">
                <a16:creationId xmlns:a16="http://schemas.microsoft.com/office/drawing/2014/main" id="{E3DCE6ED-1D10-437A-B3B3-636F6B400393}"/>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1   CS 5588 Challenge 3 final evidence through October 25, 2026</a:t>
            </a:r>
          </a:p>
        </p:txBody>
      </p:sp>
      <p:sp>
        <p:nvSpPr>
          <p:cNvPr id="3" name="">
            <a:extLst xmlns:a="http://schemas.openxmlformats.org/drawingml/2006/main">
              <a:ext uri="{FF2B5EF4-FFF2-40B4-BE49-F238E27FC236}">
                <a16:creationId xmlns:a16="http://schemas.microsoft.com/office/drawing/2014/main" id="{36DE8BF3-7E8A-46D1-96AC-B936CC7E3E52}"/>
              </a:ext>
            </a:extLst>
          </p:cNvPr>
          <p:cNvSpPr>
            <a:spLocks xmlns:a="http://schemas.openxmlformats.org/drawingml/2006/main" noGrp="1"/>
          </p:cNvSpPr>
          <p:nvPr/>
        </p:nvSpPr>
        <p:spPr>
          <a:xfrm xmlns:a="http://schemas.openxmlformats.org/drawingml/2006/main">
            <a:off x="533400" y="15716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1">
                <a:solidFill>
                  <a:srgbClr val="172F40"/>
                </a:solidFill>
                <a:latin typeface="Arial"/>
                <a:ea typeface="Arial"/>
                <a:cs typeface="Arial"/>
              </a:defRPr>
            </a:defPPr>
            <a:lvl1pPr>
              <a:defRPr sz="2400" b="1">
                <a:solidFill>
                  <a:srgbClr val="172F40"/>
                </a:solidFill>
                <a:latin typeface="Arial"/>
                <a:ea typeface="Arial"/>
                <a:cs typeface="Arial"/>
              </a:defRPr>
            </a:lvl1pPr>
            <a:lvl2pPr>
              <a:defRPr sz="2400" b="1">
                <a:solidFill>
                  <a:srgbClr val="172F40"/>
                </a:solidFill>
                <a:latin typeface="Arial"/>
                <a:ea typeface="Arial"/>
                <a:cs typeface="Arial"/>
              </a:defRPr>
            </a:lvl2pPr>
            <a:lvl3pPr>
              <a:defRPr sz="2400" b="1">
                <a:solidFill>
                  <a:srgbClr val="172F40"/>
                </a:solidFill>
                <a:latin typeface="Arial"/>
                <a:ea typeface="Arial"/>
                <a:cs typeface="Arial"/>
              </a:defRPr>
            </a:lvl3pPr>
            <a:lvl4pPr>
              <a:defRPr sz="2400" b="1">
                <a:solidFill>
                  <a:srgbClr val="172F40"/>
                </a:solidFill>
                <a:latin typeface="Arial"/>
                <a:ea typeface="Arial"/>
                <a:cs typeface="Arial"/>
              </a:defRPr>
            </a:lvl4pPr>
            <a:lvl5pPr>
              <a:defRPr sz="2400" b="1">
                <a:solidFill>
                  <a:srgbClr val="172F40"/>
                </a:solidFill>
                <a:latin typeface="Arial"/>
                <a:ea typeface="Arial"/>
                <a:cs typeface="Arial"/>
              </a:defRPr>
            </a:lvl5pPr>
            <a:lvl6pPr>
              <a:defRPr sz="2400" b="1">
                <a:solidFill>
                  <a:srgbClr val="172F40"/>
                </a:solidFill>
                <a:latin typeface="Arial"/>
                <a:ea typeface="Arial"/>
                <a:cs typeface="Arial"/>
              </a:defRPr>
            </a:lvl6pPr>
            <a:lvl7pPr>
              <a:defRPr sz="2400" b="1">
                <a:solidFill>
                  <a:srgbClr val="172F40"/>
                </a:solidFill>
                <a:latin typeface="Arial"/>
                <a:ea typeface="Arial"/>
                <a:cs typeface="Arial"/>
              </a:defRPr>
            </a:lvl7pPr>
            <a:lvl8pPr>
              <a:defRPr sz="2400" b="1">
                <a:solidFill>
                  <a:srgbClr val="172F40"/>
                </a:solidFill>
                <a:latin typeface="Arial"/>
                <a:ea typeface="Arial"/>
                <a:cs typeface="Arial"/>
              </a:defRPr>
            </a:lvl8pPr>
            <a:lvl9pPr>
              <a:defRPr sz="2400" b="1">
                <a:solidFill>
                  <a:srgbClr val="172F40"/>
                </a:solidFill>
                <a:latin typeface="Arial"/>
                <a:ea typeface="Arial"/>
                <a:cs typeface="Arial"/>
              </a:defRPr>
            </a:lvl9pPr>
          </a:lstStyle>
          <a:p xmlns:a="http://schemas.openxmlformats.org/drawingml/2006/main">
            <a:pPr>
              <a:defRPr sz="2400" b="1">
                <a:solidFill>
                  <a:srgbClr val="172F40"/>
                </a:solidFill>
                <a:latin typeface="Arial"/>
                <a:ea typeface="Arial"/>
                <a:cs typeface="Arial"/>
              </a:defRPr>
            </a:pPr>
            <a:r>
              <a:rPr sz="2400" b="1">
                <a:solidFill>
                  <a:srgbClr val="172F40"/>
                </a:solidFill>
                <a:latin typeface="Arial"/>
                <a:ea typeface="Arial"/>
                <a:cs typeface="Arial"/>
              </a:rPr>
              <a:t>Human Design, AI Design and Human–AI Co-Design</a:t>
            </a:r>
          </a:p>
        </p:txBody>
      </p:sp>
      <p:sp>
        <p:nvSpPr>
          <p:cNvPr id="4" name="">
            <a:extLst xmlns:a="http://schemas.openxmlformats.org/drawingml/2006/main">
              <a:ext uri="{FF2B5EF4-FFF2-40B4-BE49-F238E27FC236}">
                <a16:creationId xmlns:a16="http://schemas.microsoft.com/office/drawing/2014/main" id="{0EC07C46-73FE-48F4-8CCE-27D90320DC4B}"/>
              </a:ext>
            </a:extLst>
          </p:cNvPr>
          <p:cNvSpPr>
            <a:spLocks xmlns:a="http://schemas.openxmlformats.org/drawingml/2006/main" noGrp="1"/>
          </p:cNvSpPr>
          <p:nvPr/>
        </p:nvSpPr>
        <p:spPr>
          <a:xfrm xmlns:a="http://schemas.openxmlformats.org/drawingml/2006/main">
            <a:off x="533400" y="23812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F40"/>
                </a:solidFill>
                <a:latin typeface="Arial"/>
                <a:ea typeface="Arial"/>
                <a:cs typeface="Arial"/>
              </a:defRPr>
            </a:defPPr>
            <a:lvl1pPr>
              <a:defRPr sz="2175" b="0">
                <a:solidFill>
                  <a:srgbClr val="172F40"/>
                </a:solidFill>
                <a:latin typeface="Arial"/>
                <a:ea typeface="Arial"/>
                <a:cs typeface="Arial"/>
              </a:defRPr>
            </a:lvl1pPr>
            <a:lvl2pPr>
              <a:defRPr sz="2175" b="0">
                <a:solidFill>
                  <a:srgbClr val="172F40"/>
                </a:solidFill>
                <a:latin typeface="Arial"/>
                <a:ea typeface="Arial"/>
                <a:cs typeface="Arial"/>
              </a:defRPr>
            </a:lvl2pPr>
            <a:lvl3pPr>
              <a:defRPr sz="2175" b="0">
                <a:solidFill>
                  <a:srgbClr val="172F40"/>
                </a:solidFill>
                <a:latin typeface="Arial"/>
                <a:ea typeface="Arial"/>
                <a:cs typeface="Arial"/>
              </a:defRPr>
            </a:lvl3pPr>
            <a:lvl4pPr>
              <a:defRPr sz="2175" b="0">
                <a:solidFill>
                  <a:srgbClr val="172F40"/>
                </a:solidFill>
                <a:latin typeface="Arial"/>
                <a:ea typeface="Arial"/>
                <a:cs typeface="Arial"/>
              </a:defRPr>
            </a:lvl4pPr>
            <a:lvl5pPr>
              <a:defRPr sz="2175" b="0">
                <a:solidFill>
                  <a:srgbClr val="172F40"/>
                </a:solidFill>
                <a:latin typeface="Arial"/>
                <a:ea typeface="Arial"/>
                <a:cs typeface="Arial"/>
              </a:defRPr>
            </a:lvl5pPr>
            <a:lvl6pPr>
              <a:defRPr sz="2175" b="0">
                <a:solidFill>
                  <a:srgbClr val="172F40"/>
                </a:solidFill>
                <a:latin typeface="Arial"/>
                <a:ea typeface="Arial"/>
                <a:cs typeface="Arial"/>
              </a:defRPr>
            </a:lvl6pPr>
            <a:lvl7pPr>
              <a:defRPr sz="2175" b="0">
                <a:solidFill>
                  <a:srgbClr val="172F40"/>
                </a:solidFill>
                <a:latin typeface="Arial"/>
                <a:ea typeface="Arial"/>
                <a:cs typeface="Arial"/>
              </a:defRPr>
            </a:lvl7pPr>
            <a:lvl8pPr>
              <a:defRPr sz="2175" b="0">
                <a:solidFill>
                  <a:srgbClr val="172F40"/>
                </a:solidFill>
                <a:latin typeface="Arial"/>
                <a:ea typeface="Arial"/>
                <a:cs typeface="Arial"/>
              </a:defRPr>
            </a:lvl8pPr>
            <a:lvl9pPr>
              <a:defRPr sz="2175" b="0">
                <a:solidFill>
                  <a:srgbClr val="172F40"/>
                </a:solidFill>
                <a:latin typeface="Arial"/>
                <a:ea typeface="Arial"/>
                <a:cs typeface="Arial"/>
              </a:defRPr>
            </a:lvl9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Evidence-grounded trial exploration with Neo4j and MiniLM</a:t>
            </a:r>
          </a:p>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A separate, supervised GraphSAGE association-ranking experiment</a:t>
            </a:r>
          </a:p>
        </p:txBody>
      </p:sp>
      <p:sp>
        <p:nvSpPr>
          <p:cNvPr id="5" name="">
            <a:extLst xmlns:a="http://schemas.openxmlformats.org/drawingml/2006/main">
              <a:ext uri="{FF2B5EF4-FFF2-40B4-BE49-F238E27FC236}">
                <a16:creationId xmlns:a16="http://schemas.microsoft.com/office/drawing/2014/main" id="{663A5CB8-3763-44E6-A4A6-429E245BA8A2}"/>
              </a:ext>
            </a:extLst>
          </p:cNvPr>
          <p:cNvSpPr>
            <a:spLocks xmlns:a="http://schemas.openxmlformats.org/drawingml/2006/main" noGrp="1"/>
          </p:cNvSpPr>
          <p:nvPr/>
        </p:nvSpPr>
        <p:spPr>
          <a:xfrm xmlns:a="http://schemas.openxmlformats.org/drawingml/2006/main">
            <a:off x="533400" y="4095750"/>
            <a:ext cx="952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Obed Akwasi Aning</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University of Missouri Kansas City</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October 26, 2026 submission</a:t>
            </a:r>
          </a:p>
        </p:txBody>
      </p:sp>
      <p:sp>
        <p:nvSpPr>
          <p:cNvPr id="6" name="">
            <a:extLst xmlns:a="http://schemas.openxmlformats.org/drawingml/2006/main">
              <a:ext uri="{FF2B5EF4-FFF2-40B4-BE49-F238E27FC236}">
                <a16:creationId xmlns:a16="http://schemas.microsoft.com/office/drawing/2014/main" id="{8044EDD1-3FFE-484C-B19E-4C95E51DF1F9}"/>
              </a:ext>
            </a:extLst>
          </p:cNvPr>
          <p:cNvSpPr>
            <a:spLocks xmlns:a="http://schemas.openxmlformats.org/drawingml/2006/main" noGrp="1"/>
          </p:cNvSpPr>
          <p:nvPr/>
        </p:nvSpPr>
        <p:spPr>
          <a:xfrm xmlns:a="http://schemas.openxmlformats.org/drawingml/2006/main">
            <a:off x="533400" y="56197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246684"/>
                </a:solidFill>
                <a:latin typeface="Arial"/>
                <a:ea typeface="Arial"/>
                <a:cs typeface="Arial"/>
              </a:defRPr>
            </a:defPPr>
            <a:lvl1pPr>
              <a:defRPr sz="1875" b="0">
                <a:solidFill>
                  <a:srgbClr val="246684"/>
                </a:solidFill>
                <a:latin typeface="Arial"/>
                <a:ea typeface="Arial"/>
                <a:cs typeface="Arial"/>
              </a:defRPr>
            </a:lvl1pPr>
            <a:lvl2pPr>
              <a:defRPr sz="1875" b="0">
                <a:solidFill>
                  <a:srgbClr val="246684"/>
                </a:solidFill>
                <a:latin typeface="Arial"/>
                <a:ea typeface="Arial"/>
                <a:cs typeface="Arial"/>
              </a:defRPr>
            </a:lvl2pPr>
            <a:lvl3pPr>
              <a:defRPr sz="1875" b="0">
                <a:solidFill>
                  <a:srgbClr val="246684"/>
                </a:solidFill>
                <a:latin typeface="Arial"/>
                <a:ea typeface="Arial"/>
                <a:cs typeface="Arial"/>
              </a:defRPr>
            </a:lvl3pPr>
            <a:lvl4pPr>
              <a:defRPr sz="1875" b="0">
                <a:solidFill>
                  <a:srgbClr val="246684"/>
                </a:solidFill>
                <a:latin typeface="Arial"/>
                <a:ea typeface="Arial"/>
                <a:cs typeface="Arial"/>
              </a:defRPr>
            </a:lvl4pPr>
            <a:lvl5pPr>
              <a:defRPr sz="1875" b="0">
                <a:solidFill>
                  <a:srgbClr val="246684"/>
                </a:solidFill>
                <a:latin typeface="Arial"/>
                <a:ea typeface="Arial"/>
                <a:cs typeface="Arial"/>
              </a:defRPr>
            </a:lvl5pPr>
            <a:lvl6pPr>
              <a:defRPr sz="1875" b="0">
                <a:solidFill>
                  <a:srgbClr val="246684"/>
                </a:solidFill>
                <a:latin typeface="Arial"/>
                <a:ea typeface="Arial"/>
                <a:cs typeface="Arial"/>
              </a:defRPr>
            </a:lvl6pPr>
            <a:lvl7pPr>
              <a:defRPr sz="1875" b="0">
                <a:solidFill>
                  <a:srgbClr val="246684"/>
                </a:solidFill>
                <a:latin typeface="Arial"/>
                <a:ea typeface="Arial"/>
                <a:cs typeface="Arial"/>
              </a:defRPr>
            </a:lvl7pPr>
            <a:lvl8pPr>
              <a:defRPr sz="1875" b="0">
                <a:solidFill>
                  <a:srgbClr val="246684"/>
                </a:solidFill>
                <a:latin typeface="Arial"/>
                <a:ea typeface="Arial"/>
                <a:cs typeface="Arial"/>
              </a:defRPr>
            </a:lvl8pPr>
            <a:lvl9pPr>
              <a:defRPr sz="1875" b="0">
                <a:solidFill>
                  <a:srgbClr val="246684"/>
                </a:solidFill>
                <a:latin typeface="Arial"/>
                <a:ea typeface="Arial"/>
                <a:cs typeface="Arial"/>
              </a:defRPr>
            </a:lvl9pPr>
          </a:lstStyle>
          <a:p xmlns:a="http://schemas.openxmlformats.org/drawingml/2006/main">
            <a:pPr>
              <a:defRPr sz="1875" b="0">
                <a:solidFill>
                  <a:srgbClr val="246684"/>
                </a:solidFill>
                <a:latin typeface="Arial"/>
                <a:ea typeface="Arial"/>
                <a:cs typeface="Arial"/>
              </a:defRPr>
            </a:pPr>
            <a:r>
              <a:rPr sz="1875" b="0">
                <a:solidFill>
                  <a:srgbClr val="246684"/>
                </a:solidFill>
                <a:latin typeface="Arial"/>
                <a:ea typeface="Arial"/>
                <a:cs typeface="Arial"/>
              </a:rPr>
              <a:t>https://github.com/akwasianing/HeartTrialTwin</a:t>
            </a:r>
          </a:p>
        </p:txBody>
      </p:sp>
    </p:spTree>
    <p:extLst>
      <p:ext uri="{BB962C8B-B14F-4D97-AF65-F5344CB8AC3E}">
        <p14:creationId xmlns:p14="http://schemas.microsoft.com/office/powerpoint/2010/main" val="18625924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0D142B-1AD1-4D00-A88B-BCC25C25CD50}"/>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Human Design on October 5</a:t>
            </a:r>
          </a:p>
        </p:txBody>
      </p:sp>
      <p:sp>
        <p:nvSpPr>
          <p:cNvPr id="2" name="">
            <a:extLst xmlns:a="http://schemas.openxmlformats.org/drawingml/2006/main">
              <a:ext uri="{FF2B5EF4-FFF2-40B4-BE49-F238E27FC236}">
                <a16:creationId xmlns:a16="http://schemas.microsoft.com/office/drawing/2014/main" id="{1AF63808-5F16-4FD5-A877-5BA5E386DCA4}"/>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2   Original semantic-model presentation, slide 6</a:t>
            </a:r>
          </a:p>
        </p:txBody>
      </p:sp>
      <p:pic>
        <p:nvPicPr>
          <p:cNvPr id="3" name="">
            <a:extLst xmlns:a="http://schemas.openxmlformats.org/drawingml/2006/main">
              <a:ext uri="{FF2B5EF4-FFF2-40B4-BE49-F238E27FC236}">
                <a16:creationId xmlns:a16="http://schemas.microsoft.com/office/drawing/2014/main" id="{7253A286-5228-461F-8885-D20D31B73316}"/>
              </a:ext>
            </a:extLst>
          </p:cNvPr>
          <p:cNvPicPr>
            <a:picLocks xmlns:a="http://schemas.openxmlformats.org/drawingml/2006/main" noChangeAspect="1"/>
          </p:cNvPicPr>
          <p:nvPr/>
        </p:nvPicPr>
        <p:blipFill>
          <a:blip xmlns:r="http://schemas.openxmlformats.org/officeDocument/2006/relationships" xmlns:a="http://schemas.openxmlformats.org/drawingml/2006/main" r:embed="R91d68c2a95bd4a07"/>
          <a:stretch xmlns:a="http://schemas.openxmlformats.org/drawingml/2006/main"/>
        </p:blipFill>
        <p:spPr>
          <a:xfrm xmlns:a="http://schemas.openxmlformats.org/drawingml/2006/main">
            <a:off x="1864756" y="1190625"/>
            <a:ext cx="8462488"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4CB83F-DD54-48BD-82B0-C4A6A3F506E8}"/>
              </a:ext>
            </a:extLst>
          </p:cNvPr>
          <p:cNvSpPr>
            <a:spLocks xmlns:a="http://schemas.openxmlformats.org/drawingml/2006/main" noGrp="1"/>
          </p:cNvSpPr>
          <p:nvPr/>
        </p:nvSpPr>
        <p:spPr>
          <a:xfrm xmlns:a="http://schemas.openxmlformats.org/drawingml/2006/main">
            <a:off x="533400" y="598170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172F40"/>
                </a:solidFill>
                <a:latin typeface="Arial"/>
                <a:ea typeface="Arial"/>
                <a:cs typeface="Arial"/>
              </a:defRPr>
            </a:defPPr>
            <a:lvl1pPr>
              <a:defRPr sz="1575" b="0">
                <a:solidFill>
                  <a:srgbClr val="172F40"/>
                </a:solidFill>
                <a:latin typeface="Arial"/>
                <a:ea typeface="Arial"/>
                <a:cs typeface="Arial"/>
              </a:defRPr>
            </a:lvl1pPr>
            <a:lvl2pPr>
              <a:defRPr sz="1575" b="0">
                <a:solidFill>
                  <a:srgbClr val="172F40"/>
                </a:solidFill>
                <a:latin typeface="Arial"/>
                <a:ea typeface="Arial"/>
                <a:cs typeface="Arial"/>
              </a:defRPr>
            </a:lvl2pPr>
            <a:lvl3pPr>
              <a:defRPr sz="1575" b="0">
                <a:solidFill>
                  <a:srgbClr val="172F40"/>
                </a:solidFill>
                <a:latin typeface="Arial"/>
                <a:ea typeface="Arial"/>
                <a:cs typeface="Arial"/>
              </a:defRPr>
            </a:lvl3pPr>
            <a:lvl4pPr>
              <a:defRPr sz="1575" b="0">
                <a:solidFill>
                  <a:srgbClr val="172F40"/>
                </a:solidFill>
                <a:latin typeface="Arial"/>
                <a:ea typeface="Arial"/>
                <a:cs typeface="Arial"/>
              </a:defRPr>
            </a:lvl4pPr>
            <a:lvl5pPr>
              <a:defRPr sz="1575" b="0">
                <a:solidFill>
                  <a:srgbClr val="172F40"/>
                </a:solidFill>
                <a:latin typeface="Arial"/>
                <a:ea typeface="Arial"/>
                <a:cs typeface="Arial"/>
              </a:defRPr>
            </a:lvl5pPr>
            <a:lvl6pPr>
              <a:defRPr sz="1575" b="0">
                <a:solidFill>
                  <a:srgbClr val="172F40"/>
                </a:solidFill>
                <a:latin typeface="Arial"/>
                <a:ea typeface="Arial"/>
                <a:cs typeface="Arial"/>
              </a:defRPr>
            </a:lvl6pPr>
            <a:lvl7pPr>
              <a:defRPr sz="1575" b="0">
                <a:solidFill>
                  <a:srgbClr val="172F40"/>
                </a:solidFill>
                <a:latin typeface="Arial"/>
                <a:ea typeface="Arial"/>
                <a:cs typeface="Arial"/>
              </a:defRPr>
            </a:lvl7pPr>
            <a:lvl8pPr>
              <a:defRPr sz="1575" b="0">
                <a:solidFill>
                  <a:srgbClr val="172F40"/>
                </a:solidFill>
                <a:latin typeface="Arial"/>
                <a:ea typeface="Arial"/>
                <a:cs typeface="Arial"/>
              </a:defRPr>
            </a:lvl8pPr>
            <a:lvl9pPr>
              <a:defRPr sz="1575" b="0">
                <a:solidFill>
                  <a:srgbClr val="172F40"/>
                </a:solidFill>
                <a:latin typeface="Arial"/>
                <a:ea typeface="Arial"/>
                <a:cs typeface="Arial"/>
              </a:defRPr>
            </a:lvl9pPr>
          </a:lstStyle>
          <a:p xmlns:a="http://schemas.openxmlformats.org/drawingml/2006/main">
            <a:pPr>
              <a:defRPr sz="1575" b="0">
                <a:solidFill>
                  <a:srgbClr val="172F40"/>
                </a:solidFill>
                <a:latin typeface="Arial"/>
                <a:ea typeface="Arial"/>
                <a:cs typeface="Arial"/>
              </a:defRPr>
            </a:pPr>
            <a:r>
              <a:rPr sz="1575" b="0">
                <a:solidFill>
                  <a:srgbClr val="172F40"/>
                </a:solidFill>
                <a:latin typeface="Arial"/>
                <a:ea typeface="Arial"/>
                <a:cs typeface="Arial"/>
              </a:rPr>
              <a:t>Broad design included prediction and review concepts. Later implementation retained only verified entities.</a:t>
            </a:r>
          </a:p>
        </p:txBody>
      </p:sp>
    </p:spTree>
    <p:extLst>
      <p:ext uri="{BB962C8B-B14F-4D97-AF65-F5344CB8AC3E}">
        <p14:creationId xmlns:p14="http://schemas.microsoft.com/office/powerpoint/2010/main" val="14622299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18CAA8-C920-4FC0-A6CC-16F4D038A1A6}"/>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AI Design and the pinned knowledge graph</a:t>
            </a:r>
          </a:p>
        </p:txBody>
      </p:sp>
      <p:sp>
        <p:nvSpPr>
          <p:cNvPr id="2" name="">
            <a:extLst xmlns:a="http://schemas.openxmlformats.org/drawingml/2006/main">
              <a:ext uri="{FF2B5EF4-FFF2-40B4-BE49-F238E27FC236}">
                <a16:creationId xmlns:a16="http://schemas.microsoft.com/office/drawing/2014/main" id="{9ADF5BD8-EFDD-4580-B98B-0EF2098A7B21}"/>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3   October 12 materials and full-cohort manifest</a:t>
            </a:r>
          </a:p>
        </p:txBody>
      </p:sp>
      <p:pic>
        <p:nvPicPr>
          <p:cNvPr id="3" name="">
            <a:extLst xmlns:a="http://schemas.openxmlformats.org/drawingml/2006/main">
              <a:ext uri="{FF2B5EF4-FFF2-40B4-BE49-F238E27FC236}">
                <a16:creationId xmlns:a16="http://schemas.microsoft.com/office/drawing/2014/main" id="{E7DBC60F-F99F-403C-AFAC-24EC616CFA8F}"/>
              </a:ext>
            </a:extLst>
          </p:cNvPr>
          <p:cNvPicPr>
            <a:picLocks xmlns:a="http://schemas.openxmlformats.org/drawingml/2006/main" noChangeAspect="1"/>
          </p:cNvPicPr>
          <p:nvPr/>
        </p:nvPicPr>
        <p:blipFill>
          <a:blip xmlns:r="http://schemas.openxmlformats.org/officeDocument/2006/relationships" xmlns:a="http://schemas.openxmlformats.org/drawingml/2006/main" r:embed="Ra19782cf36324bf9"/>
          <a:stretch xmlns:a="http://schemas.openxmlformats.org/drawingml/2006/main"/>
        </p:blipFill>
        <p:spPr>
          <a:xfrm xmlns:a="http://schemas.openxmlformats.org/drawingml/2006/main">
            <a:off x="533400" y="1493928"/>
            <a:ext cx="4857750" cy="410826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C2D73D-9003-478F-A304-58CA2B96BE5C}"/>
              </a:ext>
            </a:extLst>
          </p:cNvPr>
          <p:cNvSpPr>
            <a:spLocks xmlns:a="http://schemas.openxmlformats.org/drawingml/2006/main" noGrp="1"/>
          </p:cNvSpPr>
          <p:nvPr/>
        </p:nvSpPr>
        <p:spPr>
          <a:xfrm xmlns:a="http://schemas.openxmlformats.org/drawingml/2006/main">
            <a:off x="5905500" y="1381125"/>
            <a:ext cx="5572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72F40"/>
                </a:solidFill>
                <a:latin typeface="Arial"/>
                <a:ea typeface="Arial"/>
                <a:cs typeface="Arial"/>
              </a:defRPr>
            </a:defPPr>
            <a:lvl1pPr>
              <a:defRPr sz="2250" b="1">
                <a:solidFill>
                  <a:srgbClr val="172F40"/>
                </a:solidFill>
                <a:latin typeface="Arial"/>
                <a:ea typeface="Arial"/>
                <a:cs typeface="Arial"/>
              </a:defRPr>
            </a:lvl1pPr>
            <a:lvl2pPr>
              <a:defRPr sz="2250" b="1">
                <a:solidFill>
                  <a:srgbClr val="172F40"/>
                </a:solidFill>
                <a:latin typeface="Arial"/>
                <a:ea typeface="Arial"/>
                <a:cs typeface="Arial"/>
              </a:defRPr>
            </a:lvl2pPr>
            <a:lvl3pPr>
              <a:defRPr sz="2250" b="1">
                <a:solidFill>
                  <a:srgbClr val="172F40"/>
                </a:solidFill>
                <a:latin typeface="Arial"/>
                <a:ea typeface="Arial"/>
                <a:cs typeface="Arial"/>
              </a:defRPr>
            </a:lvl3pPr>
            <a:lvl4pPr>
              <a:defRPr sz="2250" b="1">
                <a:solidFill>
                  <a:srgbClr val="172F40"/>
                </a:solidFill>
                <a:latin typeface="Arial"/>
                <a:ea typeface="Arial"/>
                <a:cs typeface="Arial"/>
              </a:defRPr>
            </a:lvl4pPr>
            <a:lvl5pPr>
              <a:defRPr sz="2250" b="1">
                <a:solidFill>
                  <a:srgbClr val="172F40"/>
                </a:solidFill>
                <a:latin typeface="Arial"/>
                <a:ea typeface="Arial"/>
                <a:cs typeface="Arial"/>
              </a:defRPr>
            </a:lvl5pPr>
            <a:lvl6pPr>
              <a:defRPr sz="2250" b="1">
                <a:solidFill>
                  <a:srgbClr val="172F40"/>
                </a:solidFill>
                <a:latin typeface="Arial"/>
                <a:ea typeface="Arial"/>
                <a:cs typeface="Arial"/>
              </a:defRPr>
            </a:lvl6pPr>
            <a:lvl7pPr>
              <a:defRPr sz="2250" b="1">
                <a:solidFill>
                  <a:srgbClr val="172F40"/>
                </a:solidFill>
                <a:latin typeface="Arial"/>
                <a:ea typeface="Arial"/>
                <a:cs typeface="Arial"/>
              </a:defRPr>
            </a:lvl7pPr>
            <a:lvl8pPr>
              <a:defRPr sz="2250" b="1">
                <a:solidFill>
                  <a:srgbClr val="172F40"/>
                </a:solidFill>
                <a:latin typeface="Arial"/>
                <a:ea typeface="Arial"/>
                <a:cs typeface="Arial"/>
              </a:defRPr>
            </a:lvl8pPr>
            <a:lvl9pPr>
              <a:defRPr sz="2250" b="1">
                <a:solidFill>
                  <a:srgbClr val="172F40"/>
                </a:solidFill>
                <a:latin typeface="Arial"/>
                <a:ea typeface="Arial"/>
                <a:cs typeface="Arial"/>
              </a:defRPr>
            </a:lvl9pPr>
          </a:lstStyle>
          <a:p xmlns:a="http://schemas.openxmlformats.org/drawingml/2006/main">
            <a:pPr>
              <a:defRPr sz="2250" b="1">
                <a:solidFill>
                  <a:srgbClr val="172F40"/>
                </a:solidFill>
                <a:latin typeface="Arial"/>
                <a:ea typeface="Arial"/>
                <a:cs typeface="Arial"/>
              </a:defRPr>
            </a:pPr>
            <a:r>
              <a:rPr sz="2250" b="1">
                <a:solidFill>
                  <a:srgbClr val="172F40"/>
                </a:solidFill>
                <a:latin typeface="Arial"/>
                <a:ea typeface="Arial"/>
                <a:cs typeface="Arial"/>
              </a:rPr>
              <a:t>Original illustration</a:t>
            </a:r>
          </a:p>
          <a:p xmlns:a="http://schemas.openxmlformats.org/drawingml/2006/main">
            <a:pPr>
              <a:defRPr sz="2250" b="1">
                <a:solidFill>
                  <a:srgbClr val="172F40"/>
                </a:solidFill>
                <a:latin typeface="Arial"/>
                <a:ea typeface="Arial"/>
                <a:cs typeface="Arial"/>
              </a:defRPr>
            </a:pPr>
            <a:r>
              <a:rPr sz="2250" b="1">
                <a:solidFill>
                  <a:srgbClr val="172F40"/>
                </a:solidFill>
                <a:latin typeface="Arial"/>
                <a:ea typeface="Arial"/>
                <a:cs typeface="Arial"/>
              </a:rPr>
              <a:t>5 trials, 26 nodes, 65 relationships</a:t>
            </a:r>
          </a:p>
        </p:txBody>
      </p:sp>
      <p:sp>
        <p:nvSpPr>
          <p:cNvPr id="5" name="">
            <a:extLst xmlns:a="http://schemas.openxmlformats.org/drawingml/2006/main">
              <a:ext uri="{FF2B5EF4-FFF2-40B4-BE49-F238E27FC236}">
                <a16:creationId xmlns:a16="http://schemas.microsoft.com/office/drawing/2014/main" id="{15044119-F6CA-429E-B214-67AD402D7ECE}"/>
              </a:ext>
            </a:extLst>
          </p:cNvPr>
          <p:cNvSpPr>
            <a:spLocks xmlns:a="http://schemas.openxmlformats.org/drawingml/2006/main" noGrp="1"/>
          </p:cNvSpPr>
          <p:nvPr/>
        </p:nvSpPr>
        <p:spPr>
          <a:xfrm xmlns:a="http://schemas.openxmlformats.org/drawingml/2006/main">
            <a:off x="5905500" y="2571750"/>
            <a:ext cx="55721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F40"/>
                </a:solidFill>
                <a:latin typeface="Arial"/>
                <a:ea typeface="Arial"/>
                <a:cs typeface="Arial"/>
              </a:defRPr>
            </a:defPPr>
            <a:lvl1pPr>
              <a:defRPr sz="2175" b="0">
                <a:solidFill>
                  <a:srgbClr val="172F40"/>
                </a:solidFill>
                <a:latin typeface="Arial"/>
                <a:ea typeface="Arial"/>
                <a:cs typeface="Arial"/>
              </a:defRPr>
            </a:lvl1pPr>
            <a:lvl2pPr>
              <a:defRPr sz="2175" b="0">
                <a:solidFill>
                  <a:srgbClr val="172F40"/>
                </a:solidFill>
                <a:latin typeface="Arial"/>
                <a:ea typeface="Arial"/>
                <a:cs typeface="Arial"/>
              </a:defRPr>
            </a:lvl2pPr>
            <a:lvl3pPr>
              <a:defRPr sz="2175" b="0">
                <a:solidFill>
                  <a:srgbClr val="172F40"/>
                </a:solidFill>
                <a:latin typeface="Arial"/>
                <a:ea typeface="Arial"/>
                <a:cs typeface="Arial"/>
              </a:defRPr>
            </a:lvl3pPr>
            <a:lvl4pPr>
              <a:defRPr sz="2175" b="0">
                <a:solidFill>
                  <a:srgbClr val="172F40"/>
                </a:solidFill>
                <a:latin typeface="Arial"/>
                <a:ea typeface="Arial"/>
                <a:cs typeface="Arial"/>
              </a:defRPr>
            </a:lvl4pPr>
            <a:lvl5pPr>
              <a:defRPr sz="2175" b="0">
                <a:solidFill>
                  <a:srgbClr val="172F40"/>
                </a:solidFill>
                <a:latin typeface="Arial"/>
                <a:ea typeface="Arial"/>
                <a:cs typeface="Arial"/>
              </a:defRPr>
            </a:lvl5pPr>
            <a:lvl6pPr>
              <a:defRPr sz="2175" b="0">
                <a:solidFill>
                  <a:srgbClr val="172F40"/>
                </a:solidFill>
                <a:latin typeface="Arial"/>
                <a:ea typeface="Arial"/>
                <a:cs typeface="Arial"/>
              </a:defRPr>
            </a:lvl6pPr>
            <a:lvl7pPr>
              <a:defRPr sz="2175" b="0">
                <a:solidFill>
                  <a:srgbClr val="172F40"/>
                </a:solidFill>
                <a:latin typeface="Arial"/>
                <a:ea typeface="Arial"/>
                <a:cs typeface="Arial"/>
              </a:defRPr>
            </a:lvl7pPr>
            <a:lvl8pPr>
              <a:defRPr sz="2175" b="0">
                <a:solidFill>
                  <a:srgbClr val="172F40"/>
                </a:solidFill>
                <a:latin typeface="Arial"/>
                <a:ea typeface="Arial"/>
                <a:cs typeface="Arial"/>
              </a:defRPr>
            </a:lvl8pPr>
            <a:lvl9pPr>
              <a:defRPr sz="2175" b="0">
                <a:solidFill>
                  <a:srgbClr val="172F40"/>
                </a:solidFill>
                <a:latin typeface="Arial"/>
                <a:ea typeface="Arial"/>
                <a:cs typeface="Arial"/>
              </a:defRPr>
            </a:lvl9pPr>
          </a:lstStyle>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Full-cohort extension</a:t>
            </a:r>
          </a:p>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2,824 trials</a:t>
            </a:r>
          </a:p>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28,777 nodes</a:t>
            </a:r>
          </a:p>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79,125 relationships</a:t>
            </a:r>
          </a:p>
          <a:p xmlns:a="http://schemas.openxmlformats.org/drawingml/2006/main">
            <a:pPr>
              <a:defRPr sz="2175" b="0">
                <a:solidFill>
                  <a:srgbClr val="172F40"/>
                </a:solidFill>
                <a:latin typeface="Arial"/>
                <a:ea typeface="Arial"/>
                <a:cs typeface="Arial"/>
              </a:defRPr>
            </a:pPr>
            <a:r>
              <a:rPr sz="2175" b="0">
                <a:solidFill>
                  <a:srgbClr val="172F40"/>
                </a:solidFill>
                <a:latin typeface="Arial"/>
                <a:ea typeface="Arial"/>
                <a:cs typeface="Arial"/>
              </a:rPr>
              <a:t>19,740 registered planned outcomes</a:t>
            </a:r>
          </a:p>
        </p:txBody>
      </p:sp>
      <p:sp>
        <p:nvSpPr>
          <p:cNvPr id="6" name="">
            <a:extLst xmlns:a="http://schemas.openxmlformats.org/drawingml/2006/main">
              <a:ext uri="{FF2B5EF4-FFF2-40B4-BE49-F238E27FC236}">
                <a16:creationId xmlns:a16="http://schemas.microsoft.com/office/drawing/2014/main" id="{EFB2F6E8-4E77-40FC-AE97-FA473E27EE73}"/>
              </a:ext>
            </a:extLst>
          </p:cNvPr>
          <p:cNvSpPr>
            <a:spLocks xmlns:a="http://schemas.openxmlformats.org/drawingml/2006/main" noGrp="1"/>
          </p:cNvSpPr>
          <p:nvPr/>
        </p:nvSpPr>
        <p:spPr>
          <a:xfrm xmlns:a="http://schemas.openxmlformats.org/drawingml/2006/main">
            <a:off x="5905500" y="5000625"/>
            <a:ext cx="557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246684"/>
                </a:solidFill>
                <a:latin typeface="Arial"/>
                <a:ea typeface="Arial"/>
                <a:cs typeface="Arial"/>
              </a:defRPr>
            </a:defPPr>
            <a:lvl1pPr>
              <a:defRPr sz="1725" b="0">
                <a:solidFill>
                  <a:srgbClr val="246684"/>
                </a:solidFill>
                <a:latin typeface="Arial"/>
                <a:ea typeface="Arial"/>
                <a:cs typeface="Arial"/>
              </a:defRPr>
            </a:lvl1pPr>
            <a:lvl2pPr>
              <a:defRPr sz="1725" b="0">
                <a:solidFill>
                  <a:srgbClr val="246684"/>
                </a:solidFill>
                <a:latin typeface="Arial"/>
                <a:ea typeface="Arial"/>
                <a:cs typeface="Arial"/>
              </a:defRPr>
            </a:lvl2pPr>
            <a:lvl3pPr>
              <a:defRPr sz="1725" b="0">
                <a:solidFill>
                  <a:srgbClr val="246684"/>
                </a:solidFill>
                <a:latin typeface="Arial"/>
                <a:ea typeface="Arial"/>
                <a:cs typeface="Arial"/>
              </a:defRPr>
            </a:lvl3pPr>
            <a:lvl4pPr>
              <a:defRPr sz="1725" b="0">
                <a:solidFill>
                  <a:srgbClr val="246684"/>
                </a:solidFill>
                <a:latin typeface="Arial"/>
                <a:ea typeface="Arial"/>
                <a:cs typeface="Arial"/>
              </a:defRPr>
            </a:lvl4pPr>
            <a:lvl5pPr>
              <a:defRPr sz="1725" b="0">
                <a:solidFill>
                  <a:srgbClr val="246684"/>
                </a:solidFill>
                <a:latin typeface="Arial"/>
                <a:ea typeface="Arial"/>
                <a:cs typeface="Arial"/>
              </a:defRPr>
            </a:lvl5pPr>
            <a:lvl6pPr>
              <a:defRPr sz="1725" b="0">
                <a:solidFill>
                  <a:srgbClr val="246684"/>
                </a:solidFill>
                <a:latin typeface="Arial"/>
                <a:ea typeface="Arial"/>
                <a:cs typeface="Arial"/>
              </a:defRPr>
            </a:lvl6pPr>
            <a:lvl7pPr>
              <a:defRPr sz="1725" b="0">
                <a:solidFill>
                  <a:srgbClr val="246684"/>
                </a:solidFill>
                <a:latin typeface="Arial"/>
                <a:ea typeface="Arial"/>
                <a:cs typeface="Arial"/>
              </a:defRPr>
            </a:lvl7pPr>
            <a:lvl8pPr>
              <a:defRPr sz="1725" b="0">
                <a:solidFill>
                  <a:srgbClr val="246684"/>
                </a:solidFill>
                <a:latin typeface="Arial"/>
                <a:ea typeface="Arial"/>
                <a:cs typeface="Arial"/>
              </a:defRPr>
            </a:lvl8pPr>
            <a:lvl9pPr>
              <a:defRPr sz="1725" b="0">
                <a:solidFill>
                  <a:srgbClr val="246684"/>
                </a:solidFill>
                <a:latin typeface="Arial"/>
                <a:ea typeface="Arial"/>
                <a:cs typeface="Arial"/>
              </a:defRPr>
            </a:lvl9pPr>
          </a:lstStyle>
          <a:p xmlns:a="http://schemas.openxmlformats.org/drawingml/2006/main">
            <a:pPr>
              <a:defRPr sz="1725" b="0">
                <a:solidFill>
                  <a:srgbClr val="246684"/>
                </a:solidFill>
                <a:latin typeface="Arial"/>
                <a:ea typeface="Arial"/>
                <a:cs typeface="Arial"/>
              </a:defRPr>
            </a:pPr>
            <a:r>
              <a:rPr sz="1725" b="0">
                <a:solidFill>
                  <a:srgbClr val="246684"/>
                </a:solidFill>
                <a:latin typeface="Arial"/>
                <a:ea typeface="Arial"/>
                <a:cs typeface="Arial"/>
              </a:rPr>
              <a:t>Six labels and seven relationship types</a:t>
            </a:r>
          </a:p>
          <a:p xmlns:a="http://schemas.openxmlformats.org/drawingml/2006/main">
            <a:pPr>
              <a:defRPr sz="1725" b="0">
                <a:solidFill>
                  <a:srgbClr val="246684"/>
                </a:solidFill>
                <a:latin typeface="Arial"/>
                <a:ea typeface="Arial"/>
                <a:cs typeface="Arial"/>
              </a:defRPr>
            </a:pPr>
            <a:r>
              <a:rPr sz="1725" b="0">
                <a:solidFill>
                  <a:srgbClr val="246684"/>
                </a:solidFill>
                <a:latin typeface="Arial"/>
                <a:ea typeface="Arial"/>
                <a:cs typeface="Arial"/>
              </a:rPr>
              <a:t>HTT-P1-AACT-20260905</a:t>
            </a:r>
          </a:p>
          <a:p xmlns:a="http://schemas.openxmlformats.org/drawingml/2006/main">
            <a:pPr>
              <a:defRPr sz="1725" b="0">
                <a:solidFill>
                  <a:srgbClr val="246684"/>
                </a:solidFill>
                <a:latin typeface="Arial"/>
                <a:ea typeface="Arial"/>
                <a:cs typeface="Arial"/>
              </a:defRPr>
            </a:pPr>
            <a:r>
              <a:rPr sz="1725" b="0">
                <a:solidFill>
                  <a:srgbClr val="246684"/>
                </a:solidFill>
                <a:latin typeface="Arial"/>
                <a:ea typeface="Arial"/>
                <a:cs typeface="Arial"/>
              </a:rPr>
              <a:t>Snapshot September 5, 2026</a:t>
            </a:r>
          </a:p>
        </p:txBody>
      </p:sp>
    </p:spTree>
    <p:extLst>
      <p:ext uri="{BB962C8B-B14F-4D97-AF65-F5344CB8AC3E}">
        <p14:creationId xmlns:p14="http://schemas.microsoft.com/office/powerpoint/2010/main" val="21016905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46E9E2-8D61-4D5B-9AF8-9C17C3D418CE}"/>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GraphRAG on October 15</a:t>
            </a:r>
          </a:p>
        </p:txBody>
      </p:sp>
      <p:sp>
        <p:nvSpPr>
          <p:cNvPr id="2" name="">
            <a:extLst xmlns:a="http://schemas.openxmlformats.org/drawingml/2006/main">
              <a:ext uri="{FF2B5EF4-FFF2-40B4-BE49-F238E27FC236}">
                <a16:creationId xmlns:a16="http://schemas.microsoft.com/office/drawing/2014/main" id="{71B87FE6-D7C1-4A41-BF84-BA48067DD4D2}"/>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4   Submitted GraphRAG presentation and actual October 15 JSON traces</a:t>
            </a:r>
          </a:p>
        </p:txBody>
      </p:sp>
      <p:pic>
        <p:nvPicPr>
          <p:cNvPr id="3" name="">
            <a:extLst xmlns:a="http://schemas.openxmlformats.org/drawingml/2006/main">
              <a:ext uri="{FF2B5EF4-FFF2-40B4-BE49-F238E27FC236}">
                <a16:creationId xmlns:a16="http://schemas.microsoft.com/office/drawing/2014/main" id="{7B6CC357-48E1-4ABE-B15A-5B515AC4083E}"/>
              </a:ext>
            </a:extLst>
          </p:cNvPr>
          <p:cNvPicPr>
            <a:picLocks xmlns:a="http://schemas.openxmlformats.org/drawingml/2006/main" noChangeAspect="1"/>
          </p:cNvPicPr>
          <p:nvPr/>
        </p:nvPicPr>
        <p:blipFill>
          <a:blip xmlns:r="http://schemas.openxmlformats.org/officeDocument/2006/relationships" xmlns:a="http://schemas.openxmlformats.org/drawingml/2006/main" r:embed="R2c579f213f1f4b4f"/>
          <a:stretch xmlns:a="http://schemas.openxmlformats.org/drawingml/2006/main"/>
        </p:blipFill>
        <p:spPr>
          <a:xfrm xmlns:a="http://schemas.openxmlformats.org/drawingml/2006/main">
            <a:off x="430213" y="1381125"/>
            <a:ext cx="8331200" cy="4686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FE2367-9F92-40D5-9D02-3FE2770818F5}"/>
              </a:ext>
            </a:extLst>
          </p:cNvPr>
          <p:cNvSpPr>
            <a:spLocks xmlns:a="http://schemas.openxmlformats.org/drawingml/2006/main" noGrp="1"/>
          </p:cNvSpPr>
          <p:nvPr/>
        </p:nvSpPr>
        <p:spPr>
          <a:xfrm xmlns:a="http://schemas.openxmlformats.org/drawingml/2006/main">
            <a:off x="9048750" y="1428750"/>
            <a:ext cx="2619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172F40"/>
                </a:solidFill>
                <a:latin typeface="Arial"/>
                <a:ea typeface="Arial"/>
                <a:cs typeface="Arial"/>
              </a:defRPr>
            </a:defPPr>
            <a:lvl1pPr>
              <a:defRPr sz="1800" b="1">
                <a:solidFill>
                  <a:srgbClr val="172F40"/>
                </a:solidFill>
                <a:latin typeface="Arial"/>
                <a:ea typeface="Arial"/>
                <a:cs typeface="Arial"/>
              </a:defRPr>
            </a:lvl1pPr>
            <a:lvl2pPr>
              <a:defRPr sz="1800" b="1">
                <a:solidFill>
                  <a:srgbClr val="172F40"/>
                </a:solidFill>
                <a:latin typeface="Arial"/>
                <a:ea typeface="Arial"/>
                <a:cs typeface="Arial"/>
              </a:defRPr>
            </a:lvl2pPr>
            <a:lvl3pPr>
              <a:defRPr sz="1800" b="1">
                <a:solidFill>
                  <a:srgbClr val="172F40"/>
                </a:solidFill>
                <a:latin typeface="Arial"/>
                <a:ea typeface="Arial"/>
                <a:cs typeface="Arial"/>
              </a:defRPr>
            </a:lvl3pPr>
            <a:lvl4pPr>
              <a:defRPr sz="1800" b="1">
                <a:solidFill>
                  <a:srgbClr val="172F40"/>
                </a:solidFill>
                <a:latin typeface="Arial"/>
                <a:ea typeface="Arial"/>
                <a:cs typeface="Arial"/>
              </a:defRPr>
            </a:lvl4pPr>
            <a:lvl5pPr>
              <a:defRPr sz="1800" b="1">
                <a:solidFill>
                  <a:srgbClr val="172F40"/>
                </a:solidFill>
                <a:latin typeface="Arial"/>
                <a:ea typeface="Arial"/>
                <a:cs typeface="Arial"/>
              </a:defRPr>
            </a:lvl5pPr>
            <a:lvl6pPr>
              <a:defRPr sz="1800" b="1">
                <a:solidFill>
                  <a:srgbClr val="172F40"/>
                </a:solidFill>
                <a:latin typeface="Arial"/>
                <a:ea typeface="Arial"/>
                <a:cs typeface="Arial"/>
              </a:defRPr>
            </a:lvl6pPr>
            <a:lvl7pPr>
              <a:defRPr sz="1800" b="1">
                <a:solidFill>
                  <a:srgbClr val="172F40"/>
                </a:solidFill>
                <a:latin typeface="Arial"/>
                <a:ea typeface="Arial"/>
                <a:cs typeface="Arial"/>
              </a:defRPr>
            </a:lvl7pPr>
            <a:lvl8pPr>
              <a:defRPr sz="1800" b="1">
                <a:solidFill>
                  <a:srgbClr val="172F40"/>
                </a:solidFill>
                <a:latin typeface="Arial"/>
                <a:ea typeface="Arial"/>
                <a:cs typeface="Arial"/>
              </a:defRPr>
            </a:lvl8pPr>
            <a:lvl9pPr>
              <a:defRPr sz="1800" b="1">
                <a:solidFill>
                  <a:srgbClr val="172F40"/>
                </a:solidFill>
                <a:latin typeface="Arial"/>
                <a:ea typeface="Arial"/>
                <a:cs typeface="Arial"/>
              </a:defRPr>
            </a:lvl9pPr>
          </a:lstStyle>
          <a:p xmlns:a="http://schemas.openxmlformats.org/drawingml/2006/main">
            <a:pPr>
              <a:defRPr sz="1800" b="1">
                <a:solidFill>
                  <a:srgbClr val="172F40"/>
                </a:solidFill>
                <a:latin typeface="Arial"/>
                <a:ea typeface="Arial"/>
                <a:cs typeface="Arial"/>
              </a:defRPr>
            </a:pPr>
            <a:r>
              <a:rPr sz="1800" b="1">
                <a:solidFill>
                  <a:srgbClr val="172F40"/>
                </a:solidFill>
                <a:latin typeface="Arial"/>
                <a:ea typeface="Arial"/>
                <a:cs typeface="Arial"/>
              </a:rPr>
              <a:t>Q1 profile</a:t>
            </a:r>
          </a:p>
          <a:p xmlns:a="http://schemas.openxmlformats.org/drawingml/2006/main">
            <a:pPr>
              <a:defRPr sz="1800" b="1">
                <a:solidFill>
                  <a:srgbClr val="172F40"/>
                </a:solidFill>
                <a:latin typeface="Arial"/>
                <a:ea typeface="Arial"/>
                <a:cs typeface="Arial"/>
              </a:defRPr>
            </a:pPr>
            <a:r>
              <a:rPr sz="1800" b="1">
                <a:solidFill>
                  <a:srgbClr val="172F40"/>
                </a:solidFill>
                <a:latin typeface="Arial"/>
                <a:ea typeface="Arial"/>
                <a:cs typeface="Arial"/>
              </a:rPr>
              <a:t>Grounding passed</a:t>
            </a:r>
          </a:p>
          <a:p xmlns:a="http://schemas.openxmlformats.org/drawingml/2006/main">
            <a:pPr>
              <a:defRPr sz="1800" b="1">
                <a:solidFill>
                  <a:srgbClr val="172F40"/>
                </a:solidFill>
                <a:latin typeface="Arial"/>
                <a:ea typeface="Arial"/>
                <a:cs typeface="Arial"/>
              </a:defRPr>
            </a:pPr>
            <a:r>
              <a:rPr sz="1800" b="1">
                <a:solidFill>
                  <a:srgbClr val="172F40"/>
                </a:solidFill>
                <a:latin typeface="Arial"/>
                <a:ea typeface="Arial"/>
                <a:cs typeface="Arial"/>
              </a:rPr>
              <a:t>Prose was incomplete</a:t>
            </a:r>
          </a:p>
        </p:txBody>
      </p:sp>
      <p:sp>
        <p:nvSpPr>
          <p:cNvPr id="5" name="">
            <a:extLst xmlns:a="http://schemas.openxmlformats.org/drawingml/2006/main">
              <a:ext uri="{FF2B5EF4-FFF2-40B4-BE49-F238E27FC236}">
                <a16:creationId xmlns:a16="http://schemas.microsoft.com/office/drawing/2014/main" id="{3A4F6229-CE91-4953-A1D6-B38BAEA2A098}"/>
              </a:ext>
            </a:extLst>
          </p:cNvPr>
          <p:cNvSpPr>
            <a:spLocks xmlns:a="http://schemas.openxmlformats.org/drawingml/2006/main" noGrp="1"/>
          </p:cNvSpPr>
          <p:nvPr/>
        </p:nvSpPr>
        <p:spPr>
          <a:xfrm xmlns:a="http://schemas.openxmlformats.org/drawingml/2006/main">
            <a:off x="9048750" y="3000375"/>
            <a:ext cx="2619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72F40"/>
                </a:solidFill>
                <a:latin typeface="Arial"/>
                <a:ea typeface="Arial"/>
                <a:cs typeface="Arial"/>
              </a:defRPr>
            </a:defPPr>
            <a:lvl1pPr>
              <a:defRPr sz="1800" b="0">
                <a:solidFill>
                  <a:srgbClr val="172F40"/>
                </a:solidFill>
                <a:latin typeface="Arial"/>
                <a:ea typeface="Arial"/>
                <a:cs typeface="Arial"/>
              </a:defRPr>
            </a:lvl1pPr>
            <a:lvl2pPr>
              <a:defRPr sz="1800" b="0">
                <a:solidFill>
                  <a:srgbClr val="172F40"/>
                </a:solidFill>
                <a:latin typeface="Arial"/>
                <a:ea typeface="Arial"/>
                <a:cs typeface="Arial"/>
              </a:defRPr>
            </a:lvl2pPr>
            <a:lvl3pPr>
              <a:defRPr sz="1800" b="0">
                <a:solidFill>
                  <a:srgbClr val="172F40"/>
                </a:solidFill>
                <a:latin typeface="Arial"/>
                <a:ea typeface="Arial"/>
                <a:cs typeface="Arial"/>
              </a:defRPr>
            </a:lvl3pPr>
            <a:lvl4pPr>
              <a:defRPr sz="1800" b="0">
                <a:solidFill>
                  <a:srgbClr val="172F40"/>
                </a:solidFill>
                <a:latin typeface="Arial"/>
                <a:ea typeface="Arial"/>
                <a:cs typeface="Arial"/>
              </a:defRPr>
            </a:lvl4pPr>
            <a:lvl5pPr>
              <a:defRPr sz="1800" b="0">
                <a:solidFill>
                  <a:srgbClr val="172F40"/>
                </a:solidFill>
                <a:latin typeface="Arial"/>
                <a:ea typeface="Arial"/>
                <a:cs typeface="Arial"/>
              </a:defRPr>
            </a:lvl5pPr>
            <a:lvl6pPr>
              <a:defRPr sz="1800" b="0">
                <a:solidFill>
                  <a:srgbClr val="172F40"/>
                </a:solidFill>
                <a:latin typeface="Arial"/>
                <a:ea typeface="Arial"/>
                <a:cs typeface="Arial"/>
              </a:defRPr>
            </a:lvl6pPr>
            <a:lvl7pPr>
              <a:defRPr sz="1800" b="0">
                <a:solidFill>
                  <a:srgbClr val="172F40"/>
                </a:solidFill>
                <a:latin typeface="Arial"/>
                <a:ea typeface="Arial"/>
                <a:cs typeface="Arial"/>
              </a:defRPr>
            </a:lvl7pPr>
            <a:lvl8pPr>
              <a:defRPr sz="1800" b="0">
                <a:solidFill>
                  <a:srgbClr val="172F40"/>
                </a:solidFill>
                <a:latin typeface="Arial"/>
                <a:ea typeface="Arial"/>
                <a:cs typeface="Arial"/>
              </a:defRPr>
            </a:lvl8pPr>
            <a:lvl9pPr>
              <a:defRPr sz="1800" b="0">
                <a:solidFill>
                  <a:srgbClr val="172F40"/>
                </a:solidFill>
                <a:latin typeface="Arial"/>
                <a:ea typeface="Arial"/>
                <a:cs typeface="Arial"/>
              </a:defRPr>
            </a:lvl9pPr>
          </a:lstStyle>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Q2 multi-hop</a:t>
            </a:r>
          </a:p>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Retrieval passed</a:t>
            </a:r>
          </a:p>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Incomplete prose blocked</a:t>
            </a:r>
          </a:p>
        </p:txBody>
      </p:sp>
      <p:sp>
        <p:nvSpPr>
          <p:cNvPr id="6" name="">
            <a:extLst xmlns:a="http://schemas.openxmlformats.org/drawingml/2006/main">
              <a:ext uri="{FF2B5EF4-FFF2-40B4-BE49-F238E27FC236}">
                <a16:creationId xmlns:a16="http://schemas.microsoft.com/office/drawing/2014/main" id="{2FB30C3A-12F1-4185-8694-E7011D1AB2B2}"/>
              </a:ext>
            </a:extLst>
          </p:cNvPr>
          <p:cNvSpPr>
            <a:spLocks xmlns:a="http://schemas.openxmlformats.org/drawingml/2006/main" noGrp="1"/>
          </p:cNvSpPr>
          <p:nvPr/>
        </p:nvSpPr>
        <p:spPr>
          <a:xfrm xmlns:a="http://schemas.openxmlformats.org/drawingml/2006/main">
            <a:off x="9048750" y="4714875"/>
            <a:ext cx="2619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72F40"/>
                </a:solidFill>
                <a:latin typeface="Arial"/>
                <a:ea typeface="Arial"/>
                <a:cs typeface="Arial"/>
              </a:defRPr>
            </a:defPPr>
            <a:lvl1pPr>
              <a:defRPr sz="1800" b="0">
                <a:solidFill>
                  <a:srgbClr val="172F40"/>
                </a:solidFill>
                <a:latin typeface="Arial"/>
                <a:ea typeface="Arial"/>
                <a:cs typeface="Arial"/>
              </a:defRPr>
            </a:lvl1pPr>
            <a:lvl2pPr>
              <a:defRPr sz="1800" b="0">
                <a:solidFill>
                  <a:srgbClr val="172F40"/>
                </a:solidFill>
                <a:latin typeface="Arial"/>
                <a:ea typeface="Arial"/>
                <a:cs typeface="Arial"/>
              </a:defRPr>
            </a:lvl2pPr>
            <a:lvl3pPr>
              <a:defRPr sz="1800" b="0">
                <a:solidFill>
                  <a:srgbClr val="172F40"/>
                </a:solidFill>
                <a:latin typeface="Arial"/>
                <a:ea typeface="Arial"/>
                <a:cs typeface="Arial"/>
              </a:defRPr>
            </a:lvl3pPr>
            <a:lvl4pPr>
              <a:defRPr sz="1800" b="0">
                <a:solidFill>
                  <a:srgbClr val="172F40"/>
                </a:solidFill>
                <a:latin typeface="Arial"/>
                <a:ea typeface="Arial"/>
                <a:cs typeface="Arial"/>
              </a:defRPr>
            </a:lvl4pPr>
            <a:lvl5pPr>
              <a:defRPr sz="1800" b="0">
                <a:solidFill>
                  <a:srgbClr val="172F40"/>
                </a:solidFill>
                <a:latin typeface="Arial"/>
                <a:ea typeface="Arial"/>
                <a:cs typeface="Arial"/>
              </a:defRPr>
            </a:lvl5pPr>
            <a:lvl6pPr>
              <a:defRPr sz="1800" b="0">
                <a:solidFill>
                  <a:srgbClr val="172F40"/>
                </a:solidFill>
                <a:latin typeface="Arial"/>
                <a:ea typeface="Arial"/>
                <a:cs typeface="Arial"/>
              </a:defRPr>
            </a:lvl6pPr>
            <a:lvl7pPr>
              <a:defRPr sz="1800" b="0">
                <a:solidFill>
                  <a:srgbClr val="172F40"/>
                </a:solidFill>
                <a:latin typeface="Arial"/>
                <a:ea typeface="Arial"/>
                <a:cs typeface="Arial"/>
              </a:defRPr>
            </a:lvl7pPr>
            <a:lvl8pPr>
              <a:defRPr sz="1800" b="0">
                <a:solidFill>
                  <a:srgbClr val="172F40"/>
                </a:solidFill>
                <a:latin typeface="Arial"/>
                <a:ea typeface="Arial"/>
                <a:cs typeface="Arial"/>
              </a:defRPr>
            </a:lvl8pPr>
            <a:lvl9pPr>
              <a:defRPr sz="1800" b="0">
                <a:solidFill>
                  <a:srgbClr val="172F40"/>
                </a:solidFill>
                <a:latin typeface="Arial"/>
                <a:ea typeface="Arial"/>
                <a:cs typeface="Arial"/>
              </a:defRPr>
            </a:lvl9pPr>
          </a:lstStyle>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Q3 comparison</a:t>
            </a:r>
          </a:p>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Unsupported generalization blocked</a:t>
            </a:r>
          </a:p>
        </p:txBody>
      </p:sp>
    </p:spTree>
    <p:extLst>
      <p:ext uri="{BB962C8B-B14F-4D97-AF65-F5344CB8AC3E}">
        <p14:creationId xmlns:p14="http://schemas.microsoft.com/office/powerpoint/2010/main" val="14875855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F7919E-EDC8-441B-ABBB-0C7BDEC751BF}"/>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GraphSAGE on October 22</a:t>
            </a:r>
          </a:p>
        </p:txBody>
      </p:sp>
      <p:sp>
        <p:nvSpPr>
          <p:cNvPr id="2" name="">
            <a:extLst xmlns:a="http://schemas.openxmlformats.org/drawingml/2006/main">
              <a:ext uri="{FF2B5EF4-FFF2-40B4-BE49-F238E27FC236}">
                <a16:creationId xmlns:a16="http://schemas.microsoft.com/office/drawing/2014/main" id="{623B68D0-7C8A-4374-93E1-874610DDAFAE}"/>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5   Original message-passing and trial-ranking diagnostic reports</a:t>
            </a:r>
          </a:p>
        </p:txBody>
      </p:sp>
      <p:pic>
        <p:nvPicPr>
          <p:cNvPr id="3" name="">
            <a:extLst xmlns:a="http://schemas.openxmlformats.org/drawingml/2006/main">
              <a:ext uri="{FF2B5EF4-FFF2-40B4-BE49-F238E27FC236}">
                <a16:creationId xmlns:a16="http://schemas.microsoft.com/office/drawing/2014/main" id="{0D366244-2686-45F1-8E32-EAE085EC8BC9}"/>
              </a:ext>
            </a:extLst>
          </p:cNvPr>
          <p:cNvPicPr>
            <a:picLocks xmlns:a="http://schemas.openxmlformats.org/drawingml/2006/main" noChangeAspect="1"/>
          </p:cNvPicPr>
          <p:nvPr/>
        </p:nvPicPr>
        <p:blipFill>
          <a:blip xmlns:r="http://schemas.openxmlformats.org/officeDocument/2006/relationships" xmlns:a="http://schemas.openxmlformats.org/drawingml/2006/main" r:embed="Rc3bec77345684825"/>
          <a:stretch xmlns:a="http://schemas.openxmlformats.org/drawingml/2006/main"/>
        </p:blipFill>
        <p:spPr>
          <a:xfrm xmlns:a="http://schemas.openxmlformats.org/drawingml/2006/main">
            <a:off x="381000" y="1334393"/>
            <a:ext cx="8429625" cy="474166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B27C95-1371-4B81-B6A7-D2948D49C220}"/>
              </a:ext>
            </a:extLst>
          </p:cNvPr>
          <p:cNvSpPr>
            <a:spLocks xmlns:a="http://schemas.openxmlformats.org/drawingml/2006/main" noGrp="1"/>
          </p:cNvSpPr>
          <p:nvPr/>
        </p:nvSpPr>
        <p:spPr>
          <a:xfrm xmlns:a="http://schemas.openxmlformats.org/drawingml/2006/main">
            <a:off x="9048750" y="1381125"/>
            <a:ext cx="2619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172F40"/>
                </a:solidFill>
                <a:latin typeface="Arial"/>
                <a:ea typeface="Arial"/>
                <a:cs typeface="Arial"/>
              </a:defRPr>
            </a:defPPr>
            <a:lvl1pPr>
              <a:defRPr sz="1875" b="1">
                <a:solidFill>
                  <a:srgbClr val="172F40"/>
                </a:solidFill>
                <a:latin typeface="Arial"/>
                <a:ea typeface="Arial"/>
                <a:cs typeface="Arial"/>
              </a:defRPr>
            </a:lvl1pPr>
            <a:lvl2pPr>
              <a:defRPr sz="1875" b="1">
                <a:solidFill>
                  <a:srgbClr val="172F40"/>
                </a:solidFill>
                <a:latin typeface="Arial"/>
                <a:ea typeface="Arial"/>
                <a:cs typeface="Arial"/>
              </a:defRPr>
            </a:lvl2pPr>
            <a:lvl3pPr>
              <a:defRPr sz="1875" b="1">
                <a:solidFill>
                  <a:srgbClr val="172F40"/>
                </a:solidFill>
                <a:latin typeface="Arial"/>
                <a:ea typeface="Arial"/>
                <a:cs typeface="Arial"/>
              </a:defRPr>
            </a:lvl3pPr>
            <a:lvl4pPr>
              <a:defRPr sz="1875" b="1">
                <a:solidFill>
                  <a:srgbClr val="172F40"/>
                </a:solidFill>
                <a:latin typeface="Arial"/>
                <a:ea typeface="Arial"/>
                <a:cs typeface="Arial"/>
              </a:defRPr>
            </a:lvl4pPr>
            <a:lvl5pPr>
              <a:defRPr sz="1875" b="1">
                <a:solidFill>
                  <a:srgbClr val="172F40"/>
                </a:solidFill>
                <a:latin typeface="Arial"/>
                <a:ea typeface="Arial"/>
                <a:cs typeface="Arial"/>
              </a:defRPr>
            </a:lvl5pPr>
            <a:lvl6pPr>
              <a:defRPr sz="1875" b="1">
                <a:solidFill>
                  <a:srgbClr val="172F40"/>
                </a:solidFill>
                <a:latin typeface="Arial"/>
                <a:ea typeface="Arial"/>
                <a:cs typeface="Arial"/>
              </a:defRPr>
            </a:lvl6pPr>
            <a:lvl7pPr>
              <a:defRPr sz="1875" b="1">
                <a:solidFill>
                  <a:srgbClr val="172F40"/>
                </a:solidFill>
                <a:latin typeface="Arial"/>
                <a:ea typeface="Arial"/>
                <a:cs typeface="Arial"/>
              </a:defRPr>
            </a:lvl7pPr>
            <a:lvl8pPr>
              <a:defRPr sz="1875" b="1">
                <a:solidFill>
                  <a:srgbClr val="172F40"/>
                </a:solidFill>
                <a:latin typeface="Arial"/>
                <a:ea typeface="Arial"/>
                <a:cs typeface="Arial"/>
              </a:defRPr>
            </a:lvl8pPr>
            <a:lvl9pPr>
              <a:defRPr sz="1875" b="1">
                <a:solidFill>
                  <a:srgbClr val="172F40"/>
                </a:solidFill>
                <a:latin typeface="Arial"/>
                <a:ea typeface="Arial"/>
                <a:cs typeface="Arial"/>
              </a:defRPr>
            </a:lvl9pPr>
          </a:lstStyle>
          <a:p xmlns:a="http://schemas.openxmlformats.org/drawingml/2006/main">
            <a:pPr>
              <a:defRPr sz="1875" b="1">
                <a:solidFill>
                  <a:srgbClr val="172F40"/>
                </a:solidFill>
                <a:latin typeface="Arial"/>
                <a:ea typeface="Arial"/>
                <a:cs typeface="Arial"/>
              </a:defRPr>
            </a:pPr>
            <a:r>
              <a:rPr sz="1875" b="1">
                <a:solidFill>
                  <a:srgbClr val="172F40"/>
                </a:solidFill>
                <a:latin typeface="Arial"/>
                <a:ea typeface="Arial"/>
                <a:cs typeface="Arial"/>
              </a:rPr>
              <a:t>Seeded and untrained</a:t>
            </a:r>
          </a:p>
          <a:p xmlns:a="http://schemas.openxmlformats.org/drawingml/2006/main">
            <a:pPr>
              <a:defRPr sz="1875" b="1">
                <a:solidFill>
                  <a:srgbClr val="172F40"/>
                </a:solidFill>
                <a:latin typeface="Arial"/>
                <a:ea typeface="Arial"/>
                <a:cs typeface="Arial"/>
              </a:defRPr>
            </a:pPr>
            <a:r>
              <a:rPr sz="1875" b="1">
                <a:solidFill>
                  <a:srgbClr val="172F40"/>
                </a:solidFill>
                <a:latin typeface="Arial"/>
                <a:ea typeface="Arial"/>
                <a:cs typeface="Arial"/>
              </a:rPr>
              <a:t>390 → 128 → 64</a:t>
            </a:r>
          </a:p>
          <a:p xmlns:a="http://schemas.openxmlformats.org/drawingml/2006/main">
            <a:pPr>
              <a:defRPr sz="1875" b="1">
                <a:solidFill>
                  <a:srgbClr val="172F40"/>
                </a:solidFill>
                <a:latin typeface="Arial"/>
                <a:ea typeface="Arial"/>
                <a:cs typeface="Arial"/>
              </a:defRPr>
            </a:pPr>
            <a:r>
              <a:rPr sz="1875" b="1">
                <a:solidFill>
                  <a:srgbClr val="172F40"/>
                </a:solidFill>
                <a:latin typeface="Arial"/>
                <a:ea typeface="Arial"/>
                <a:cs typeface="Arial"/>
              </a:rPr>
              <a:t>80 message edges</a:t>
            </a:r>
          </a:p>
          <a:p xmlns:a="http://schemas.openxmlformats.org/drawingml/2006/main">
            <a:pPr>
              <a:defRPr sz="1875" b="1">
                <a:solidFill>
                  <a:srgbClr val="172F40"/>
                </a:solidFill>
                <a:latin typeface="Arial"/>
                <a:ea typeface="Arial"/>
                <a:cs typeface="Arial"/>
              </a:defRPr>
            </a:pPr>
            <a:r>
              <a:rPr sz="1875" b="1">
                <a:solidFill>
                  <a:srgbClr val="172F40"/>
                </a:solidFill>
                <a:latin typeface="Arial"/>
                <a:ea typeface="Arial"/>
                <a:cs typeface="Arial"/>
              </a:rPr>
              <a:t>21 passing GNN tests</a:t>
            </a:r>
          </a:p>
        </p:txBody>
      </p:sp>
      <p:sp>
        <p:nvSpPr>
          <p:cNvPr id="5" name="">
            <a:extLst xmlns:a="http://schemas.openxmlformats.org/drawingml/2006/main">
              <a:ext uri="{FF2B5EF4-FFF2-40B4-BE49-F238E27FC236}">
                <a16:creationId xmlns:a16="http://schemas.microsoft.com/office/drawing/2014/main" id="{D87F3E91-46FF-45E4-AEDB-65FA8F33AB5B}"/>
              </a:ext>
            </a:extLst>
          </p:cNvPr>
          <p:cNvSpPr>
            <a:spLocks xmlns:a="http://schemas.openxmlformats.org/drawingml/2006/main" noGrp="1"/>
          </p:cNvSpPr>
          <p:nvPr/>
        </p:nvSpPr>
        <p:spPr>
          <a:xfrm xmlns:a="http://schemas.openxmlformats.org/drawingml/2006/main">
            <a:off x="9048750" y="3381375"/>
            <a:ext cx="2619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172F40"/>
                </a:solidFill>
                <a:latin typeface="Arial"/>
                <a:ea typeface="Arial"/>
                <a:cs typeface="Arial"/>
              </a:defRPr>
            </a:defPPr>
            <a:lvl1pPr>
              <a:defRPr sz="1650" b="0">
                <a:solidFill>
                  <a:srgbClr val="172F40"/>
                </a:solidFill>
                <a:latin typeface="Arial"/>
                <a:ea typeface="Arial"/>
                <a:cs typeface="Arial"/>
              </a:defRPr>
            </a:lvl1pPr>
            <a:lvl2pPr>
              <a:defRPr sz="1650" b="0">
                <a:solidFill>
                  <a:srgbClr val="172F40"/>
                </a:solidFill>
                <a:latin typeface="Arial"/>
                <a:ea typeface="Arial"/>
                <a:cs typeface="Arial"/>
              </a:defRPr>
            </a:lvl2pPr>
            <a:lvl3pPr>
              <a:defRPr sz="1650" b="0">
                <a:solidFill>
                  <a:srgbClr val="172F40"/>
                </a:solidFill>
                <a:latin typeface="Arial"/>
                <a:ea typeface="Arial"/>
                <a:cs typeface="Arial"/>
              </a:defRPr>
            </a:lvl3pPr>
            <a:lvl4pPr>
              <a:defRPr sz="1650" b="0">
                <a:solidFill>
                  <a:srgbClr val="172F40"/>
                </a:solidFill>
                <a:latin typeface="Arial"/>
                <a:ea typeface="Arial"/>
                <a:cs typeface="Arial"/>
              </a:defRPr>
            </a:lvl4pPr>
            <a:lvl5pPr>
              <a:defRPr sz="1650" b="0">
                <a:solidFill>
                  <a:srgbClr val="172F40"/>
                </a:solidFill>
                <a:latin typeface="Arial"/>
                <a:ea typeface="Arial"/>
                <a:cs typeface="Arial"/>
              </a:defRPr>
            </a:lvl5pPr>
            <a:lvl6pPr>
              <a:defRPr sz="1650" b="0">
                <a:solidFill>
                  <a:srgbClr val="172F40"/>
                </a:solidFill>
                <a:latin typeface="Arial"/>
                <a:ea typeface="Arial"/>
                <a:cs typeface="Arial"/>
              </a:defRPr>
            </a:lvl6pPr>
            <a:lvl7pPr>
              <a:defRPr sz="1650" b="0">
                <a:solidFill>
                  <a:srgbClr val="172F40"/>
                </a:solidFill>
                <a:latin typeface="Arial"/>
                <a:ea typeface="Arial"/>
                <a:cs typeface="Arial"/>
              </a:defRPr>
            </a:lvl7pPr>
            <a:lvl8pPr>
              <a:defRPr sz="1650" b="0">
                <a:solidFill>
                  <a:srgbClr val="172F40"/>
                </a:solidFill>
                <a:latin typeface="Arial"/>
                <a:ea typeface="Arial"/>
                <a:cs typeface="Arial"/>
              </a:defRPr>
            </a:lvl8pPr>
            <a:lvl9pPr>
              <a:defRPr sz="1650" b="0">
                <a:solidFill>
                  <a:srgbClr val="172F40"/>
                </a:solidFill>
                <a:latin typeface="Arial"/>
                <a:ea typeface="Arial"/>
                <a:cs typeface="Arial"/>
              </a:defRPr>
            </a:lvl9pPr>
          </a:lstStyle>
          <a:p xmlns:a="http://schemas.openxmlformats.org/drawingml/2006/main">
            <a:pPr>
              <a:defRPr sz="1650" b="0">
                <a:solidFill>
                  <a:srgbClr val="172F40"/>
                </a:solidFill>
                <a:latin typeface="Arial"/>
                <a:ea typeface="Arial"/>
                <a:cs typeface="Arial"/>
              </a:defRPr>
            </a:pPr>
            <a:r>
              <a:rPr sz="1650" b="0">
                <a:solidFill>
                  <a:srgbClr val="172F40"/>
                </a:solidFill>
                <a:latin typeface="Arial"/>
                <a:ea typeface="Arial"/>
                <a:cs typeface="Arial"/>
              </a:rPr>
              <a:t>Hit@1 / MRR</a:t>
            </a:r>
          </a:p>
          <a:p xmlns:a="http://schemas.openxmlformats.org/drawingml/2006/main">
            <a:pPr>
              <a:defRPr sz="1650" b="0">
                <a:solidFill>
                  <a:srgbClr val="172F40"/>
                </a:solidFill>
                <a:latin typeface="Arial"/>
                <a:ea typeface="Arial"/>
                <a:cs typeface="Arial"/>
              </a:defRPr>
            </a:pPr>
            <a:r>
              <a:rPr sz="1650" b="0">
                <a:solidFill>
                  <a:srgbClr val="172F40"/>
                </a:solidFill>
                <a:latin typeface="Arial"/>
                <a:ea typeface="Arial"/>
                <a:cs typeface="Arial"/>
              </a:rPr>
              <a:t>MiniLM: 0.20 / 0.53333</a:t>
            </a:r>
          </a:p>
          <a:p xmlns:a="http://schemas.openxmlformats.org/drawingml/2006/main">
            <a:pPr>
              <a:defRPr sz="1650" b="0">
                <a:solidFill>
                  <a:srgbClr val="172F40"/>
                </a:solidFill>
                <a:latin typeface="Arial"/>
                <a:ea typeface="Arial"/>
                <a:cs typeface="Arial"/>
              </a:defRPr>
            </a:pPr>
            <a:r>
              <a:rPr sz="1650" b="0">
                <a:solidFill>
                  <a:srgbClr val="172F40"/>
                </a:solidFill>
                <a:latin typeface="Arial"/>
                <a:ea typeface="Arial"/>
                <a:cs typeface="Arial"/>
              </a:rPr>
              <a:t>Layer 1: 0.30 / 0.53000</a:t>
            </a:r>
          </a:p>
          <a:p xmlns:a="http://schemas.openxmlformats.org/drawingml/2006/main">
            <a:pPr>
              <a:defRPr sz="1650" b="0">
                <a:solidFill>
                  <a:srgbClr val="172F40"/>
                </a:solidFill>
                <a:latin typeface="Arial"/>
                <a:ea typeface="Arial"/>
                <a:cs typeface="Arial"/>
              </a:defRPr>
            </a:pPr>
            <a:r>
              <a:rPr sz="1650" b="0">
                <a:solidFill>
                  <a:srgbClr val="172F40"/>
                </a:solidFill>
                <a:latin typeface="Arial"/>
                <a:ea typeface="Arial"/>
                <a:cs typeface="Arial"/>
              </a:rPr>
              <a:t>Layer 2: 0.10 / 0.47500</a:t>
            </a:r>
          </a:p>
        </p:txBody>
      </p:sp>
      <p:sp>
        <p:nvSpPr>
          <p:cNvPr id="6" name="">
            <a:extLst xmlns:a="http://schemas.openxmlformats.org/drawingml/2006/main">
              <a:ext uri="{FF2B5EF4-FFF2-40B4-BE49-F238E27FC236}">
                <a16:creationId xmlns:a16="http://schemas.microsoft.com/office/drawing/2014/main" id="{593DABA2-8B31-47D3-80FD-04BA90C0C043}"/>
              </a:ext>
            </a:extLst>
          </p:cNvPr>
          <p:cNvSpPr>
            <a:spLocks xmlns:a="http://schemas.openxmlformats.org/drawingml/2006/main" noGrp="1"/>
          </p:cNvSpPr>
          <p:nvPr/>
        </p:nvSpPr>
        <p:spPr>
          <a:xfrm xmlns:a="http://schemas.openxmlformats.org/drawingml/2006/main">
            <a:off x="9048750" y="5334000"/>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C641F"/>
                </a:solidFill>
                <a:latin typeface="Arial"/>
                <a:ea typeface="Arial"/>
                <a:cs typeface="Arial"/>
              </a:defRPr>
            </a:defPPr>
            <a:lvl1pPr>
              <a:defRPr sz="1650" b="0">
                <a:solidFill>
                  <a:srgbClr val="8C641F"/>
                </a:solidFill>
                <a:latin typeface="Arial"/>
                <a:ea typeface="Arial"/>
                <a:cs typeface="Arial"/>
              </a:defRPr>
            </a:lvl1pPr>
            <a:lvl2pPr>
              <a:defRPr sz="1650" b="0">
                <a:solidFill>
                  <a:srgbClr val="8C641F"/>
                </a:solidFill>
                <a:latin typeface="Arial"/>
                <a:ea typeface="Arial"/>
                <a:cs typeface="Arial"/>
              </a:defRPr>
            </a:lvl2pPr>
            <a:lvl3pPr>
              <a:defRPr sz="1650" b="0">
                <a:solidFill>
                  <a:srgbClr val="8C641F"/>
                </a:solidFill>
                <a:latin typeface="Arial"/>
                <a:ea typeface="Arial"/>
                <a:cs typeface="Arial"/>
              </a:defRPr>
            </a:lvl3pPr>
            <a:lvl4pPr>
              <a:defRPr sz="1650" b="0">
                <a:solidFill>
                  <a:srgbClr val="8C641F"/>
                </a:solidFill>
                <a:latin typeface="Arial"/>
                <a:ea typeface="Arial"/>
                <a:cs typeface="Arial"/>
              </a:defRPr>
            </a:lvl4pPr>
            <a:lvl5pPr>
              <a:defRPr sz="1650" b="0">
                <a:solidFill>
                  <a:srgbClr val="8C641F"/>
                </a:solidFill>
                <a:latin typeface="Arial"/>
                <a:ea typeface="Arial"/>
                <a:cs typeface="Arial"/>
              </a:defRPr>
            </a:lvl5pPr>
            <a:lvl6pPr>
              <a:defRPr sz="1650" b="0">
                <a:solidFill>
                  <a:srgbClr val="8C641F"/>
                </a:solidFill>
                <a:latin typeface="Arial"/>
                <a:ea typeface="Arial"/>
                <a:cs typeface="Arial"/>
              </a:defRPr>
            </a:lvl6pPr>
            <a:lvl7pPr>
              <a:defRPr sz="1650" b="0">
                <a:solidFill>
                  <a:srgbClr val="8C641F"/>
                </a:solidFill>
                <a:latin typeface="Arial"/>
                <a:ea typeface="Arial"/>
                <a:cs typeface="Arial"/>
              </a:defRPr>
            </a:lvl7pPr>
            <a:lvl8pPr>
              <a:defRPr sz="1650" b="0">
                <a:solidFill>
                  <a:srgbClr val="8C641F"/>
                </a:solidFill>
                <a:latin typeface="Arial"/>
                <a:ea typeface="Arial"/>
                <a:cs typeface="Arial"/>
              </a:defRPr>
            </a:lvl8pPr>
            <a:lvl9pPr>
              <a:defRPr sz="1650" b="0">
                <a:solidFill>
                  <a:srgbClr val="8C641F"/>
                </a:solidFill>
                <a:latin typeface="Arial"/>
                <a:ea typeface="Arial"/>
                <a:cs typeface="Arial"/>
              </a:defRPr>
            </a:lvl9pPr>
          </a:lstStyle>
          <a:p xmlns:a="http://schemas.openxmlformats.org/drawingml/2006/main">
            <a:pPr>
              <a:defRPr sz="1650" b="0">
                <a:solidFill>
                  <a:srgbClr val="8C641F"/>
                </a:solidFill>
                <a:latin typeface="Arial"/>
                <a:ea typeface="Arial"/>
                <a:cs typeface="Arial"/>
              </a:defRPr>
            </a:pPr>
            <a:r>
              <a:rPr sz="1650" b="0">
                <a:solidFill>
                  <a:srgbClr val="8C641F"/>
                </a:solidFill>
                <a:latin typeface="Arial"/>
                <a:ea typeface="Arial"/>
                <a:cs typeface="Arial"/>
              </a:rPr>
              <a:t>Target edges visible</a:t>
            </a:r>
          </a:p>
          <a:p xmlns:a="http://schemas.openxmlformats.org/drawingml/2006/main">
            <a:pPr>
              <a:defRPr sz="1650" b="0">
                <a:solidFill>
                  <a:srgbClr val="8C641F"/>
                </a:solidFill>
                <a:latin typeface="Arial"/>
                <a:ea typeface="Arial"/>
                <a:cs typeface="Arial"/>
              </a:defRPr>
            </a:pPr>
            <a:r>
              <a:rPr sz="1650" b="0">
                <a:solidFill>
                  <a:srgbClr val="8C641F"/>
                </a:solidFill>
                <a:latin typeface="Arial"/>
                <a:ea typeface="Arial"/>
                <a:cs typeface="Arial"/>
              </a:rPr>
              <a:t>In-graph sanity check only</a:t>
            </a:r>
          </a:p>
        </p:txBody>
      </p:sp>
    </p:spTree>
    <p:extLst>
      <p:ext uri="{BB962C8B-B14F-4D97-AF65-F5344CB8AC3E}">
        <p14:creationId xmlns:p14="http://schemas.microsoft.com/office/powerpoint/2010/main" val="8639055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8E0950EB-2543-4656-BA9E-BD323CA984A7}"/>
              </a:ext>
            </a:extLst>
          </p:cNvPr>
          <p:cNvCxnSpPr>
            <a:stCxn xmlns:a="http://schemas.openxmlformats.org/drawingml/2006/main" id="11" idx="3"/>
            <a:endCxn xmlns:a="http://schemas.openxmlformats.org/drawingml/2006/main" id="12" idx="1"/>
          </p:cNvCxnSpPr>
          <p:nvPr/>
        </p:nvCxnSpPr>
        <p:spPr>
          <a:xfrm xmlns:a="http://schemas.openxmlformats.org/drawingml/2006/main">
            <a:off x="7477125" y="4572000"/>
            <a:ext cx="1190625" cy="0"/>
          </a:xfrm>
          <a:prstGeom xmlns:a="http://schemas.openxmlformats.org/drawingml/2006/main" prst="straightConnector1">
            <a:avLst/>
          </a:prstGeom>
          <a:ln xmlns:a="http://schemas.openxmlformats.org/drawingml/2006/main" w="19050">
            <a:solidFill>
              <a:srgbClr val="246684"/>
            </a:solidFill>
            <a:tailEnd type="arrow" w="med" len="med"/>
          </a:ln>
        </p:spPr>
      </p:cxnSp>
      <p:cxnSp>
        <p:nvCxnSpPr>
          <p:cNvPr id="13" name="">
            <a:extLst xmlns:a="http://schemas.openxmlformats.org/drawingml/2006/main">
              <a:ext uri="{FF2B5EF4-FFF2-40B4-BE49-F238E27FC236}">
                <a16:creationId xmlns:a16="http://schemas.microsoft.com/office/drawing/2014/main" id="{1D790BD1-4CFA-4BD8-B7A8-5B1A6CD5B0EE}"/>
              </a:ext>
            </a:extLst>
          </p:cNvPr>
          <p:cNvCxnSpPr>
            <a:stCxn xmlns:a="http://schemas.openxmlformats.org/drawingml/2006/main" id="10" idx="3"/>
            <a:endCxn xmlns:a="http://schemas.openxmlformats.org/drawingml/2006/main" id="11" idx="1"/>
          </p:cNvCxnSpPr>
          <p:nvPr/>
        </p:nvCxnSpPr>
        <p:spPr>
          <a:xfrm xmlns:a="http://schemas.openxmlformats.org/drawingml/2006/main">
            <a:off x="3476625" y="4572000"/>
            <a:ext cx="1190625" cy="0"/>
          </a:xfrm>
          <a:prstGeom xmlns:a="http://schemas.openxmlformats.org/drawingml/2006/main" prst="straightConnector1">
            <a:avLst/>
          </a:prstGeom>
          <a:ln xmlns:a="http://schemas.openxmlformats.org/drawingml/2006/main" w="19050">
            <a:solidFill>
              <a:srgbClr val="246684"/>
            </a:solidFill>
            <a:tailEnd type="arrow" w="med" len="med"/>
          </a:ln>
        </p:spPr>
      </p:cxnSp>
      <p:sp>
        <p:nvSpPr>
          <p:cNvPr id="17" name="">
            <a:extLst xmlns:a="http://schemas.openxmlformats.org/drawingml/2006/main">
              <a:ext uri="{FF2B5EF4-FFF2-40B4-BE49-F238E27FC236}">
                <a16:creationId xmlns:a16="http://schemas.microsoft.com/office/drawing/2014/main" id="{26A3569E-BC6E-4D8E-881A-070757BC2218}"/>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Later full-cohort training protocol</a:t>
            </a:r>
          </a:p>
        </p:txBody>
      </p:sp>
      <p:sp>
        <p:nvSpPr>
          <p:cNvPr id="2" name="">
            <a:extLst xmlns:a="http://schemas.openxmlformats.org/drawingml/2006/main">
              <a:ext uri="{FF2B5EF4-FFF2-40B4-BE49-F238E27FC236}">
                <a16:creationId xmlns:a16="http://schemas.microsoft.com/office/drawing/2014/main" id="{089ACB0B-F467-4077-8554-7A341C130DD9}"/>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6   Frozen HTT-GNN-ASSOC-PROTOCOL-v2 and authorized execution record</a:t>
            </a:r>
          </a:p>
        </p:txBody>
      </p:sp>
      <p:sp>
        <p:nvSpPr>
          <p:cNvPr id="3" name="">
            <a:extLst xmlns:a="http://schemas.openxmlformats.org/drawingml/2006/main">
              <a:ext uri="{FF2B5EF4-FFF2-40B4-BE49-F238E27FC236}">
                <a16:creationId xmlns:a16="http://schemas.microsoft.com/office/drawing/2014/main" id="{7AAD6CD6-8396-462F-86BA-D2149F7B6E33}"/>
              </a:ext>
            </a:extLst>
          </p:cNvPr>
          <p:cNvSpPr>
            <a:spLocks xmlns:a="http://schemas.openxmlformats.org/drawingml/2006/main" noGrp="1"/>
          </p:cNvSpPr>
          <p:nvPr/>
        </p:nvSpPr>
        <p:spPr>
          <a:xfrm xmlns:a="http://schemas.openxmlformats.org/drawingml/2006/main">
            <a:off x="666750" y="13811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125" b="1">
                <a:solidFill>
                  <a:srgbClr val="246684"/>
                </a:solidFill>
                <a:latin typeface="Arial"/>
                <a:ea typeface="Arial"/>
                <a:cs typeface="Arial"/>
              </a:defRPr>
            </a:defPPr>
            <a:lvl1pPr>
              <a:defRPr sz="4125" b="1">
                <a:solidFill>
                  <a:srgbClr val="246684"/>
                </a:solidFill>
                <a:latin typeface="Arial"/>
                <a:ea typeface="Arial"/>
                <a:cs typeface="Arial"/>
              </a:defRPr>
            </a:lvl1pPr>
            <a:lvl2pPr>
              <a:defRPr sz="4125" b="1">
                <a:solidFill>
                  <a:srgbClr val="246684"/>
                </a:solidFill>
                <a:latin typeface="Arial"/>
                <a:ea typeface="Arial"/>
                <a:cs typeface="Arial"/>
              </a:defRPr>
            </a:lvl2pPr>
            <a:lvl3pPr>
              <a:defRPr sz="4125" b="1">
                <a:solidFill>
                  <a:srgbClr val="246684"/>
                </a:solidFill>
                <a:latin typeface="Arial"/>
                <a:ea typeface="Arial"/>
                <a:cs typeface="Arial"/>
              </a:defRPr>
            </a:lvl3pPr>
            <a:lvl4pPr>
              <a:defRPr sz="4125" b="1">
                <a:solidFill>
                  <a:srgbClr val="246684"/>
                </a:solidFill>
                <a:latin typeface="Arial"/>
                <a:ea typeface="Arial"/>
                <a:cs typeface="Arial"/>
              </a:defRPr>
            </a:lvl4pPr>
            <a:lvl5pPr>
              <a:defRPr sz="4125" b="1">
                <a:solidFill>
                  <a:srgbClr val="246684"/>
                </a:solidFill>
                <a:latin typeface="Arial"/>
                <a:ea typeface="Arial"/>
                <a:cs typeface="Arial"/>
              </a:defRPr>
            </a:lvl5pPr>
            <a:lvl6pPr>
              <a:defRPr sz="4125" b="1">
                <a:solidFill>
                  <a:srgbClr val="246684"/>
                </a:solidFill>
                <a:latin typeface="Arial"/>
                <a:ea typeface="Arial"/>
                <a:cs typeface="Arial"/>
              </a:defRPr>
            </a:lvl6pPr>
            <a:lvl7pPr>
              <a:defRPr sz="4125" b="1">
                <a:solidFill>
                  <a:srgbClr val="246684"/>
                </a:solidFill>
                <a:latin typeface="Arial"/>
                <a:ea typeface="Arial"/>
                <a:cs typeface="Arial"/>
              </a:defRPr>
            </a:lvl7pPr>
            <a:lvl8pPr>
              <a:defRPr sz="4125" b="1">
                <a:solidFill>
                  <a:srgbClr val="246684"/>
                </a:solidFill>
                <a:latin typeface="Arial"/>
                <a:ea typeface="Arial"/>
                <a:cs typeface="Arial"/>
              </a:defRPr>
            </a:lvl8pPr>
            <a:lvl9pPr>
              <a:defRPr sz="4125" b="1">
                <a:solidFill>
                  <a:srgbClr val="246684"/>
                </a:solidFill>
                <a:latin typeface="Arial"/>
                <a:ea typeface="Arial"/>
                <a:cs typeface="Arial"/>
              </a:defRPr>
            </a:lvl9pPr>
          </a:lstStyle>
          <a:p xmlns:a="http://schemas.openxmlformats.org/drawingml/2006/main">
            <a:pPr>
              <a:defRPr sz="4125" b="1">
                <a:solidFill>
                  <a:srgbClr val="246684"/>
                </a:solidFill>
                <a:latin typeface="Arial"/>
                <a:ea typeface="Arial"/>
                <a:cs typeface="Arial"/>
              </a:defRPr>
            </a:pPr>
            <a:r>
              <a:rPr sz="4125" b="1">
                <a:solidFill>
                  <a:srgbClr val="246684"/>
                </a:solidFill>
                <a:latin typeface="Arial"/>
                <a:ea typeface="Arial"/>
                <a:cs typeface="Arial"/>
              </a:rPr>
              <a:t>1,976</a:t>
            </a:r>
          </a:p>
        </p:txBody>
      </p:sp>
      <p:sp>
        <p:nvSpPr>
          <p:cNvPr id="4" name="">
            <a:extLst xmlns:a="http://schemas.openxmlformats.org/drawingml/2006/main">
              <a:ext uri="{FF2B5EF4-FFF2-40B4-BE49-F238E27FC236}">
                <a16:creationId xmlns:a16="http://schemas.microsoft.com/office/drawing/2014/main" id="{D1DE2D04-4F2F-47E1-8F82-567D7558F842}"/>
              </a:ext>
            </a:extLst>
          </p:cNvPr>
          <p:cNvSpPr>
            <a:spLocks xmlns:a="http://schemas.openxmlformats.org/drawingml/2006/main" noGrp="1"/>
          </p:cNvSpPr>
          <p:nvPr/>
        </p:nvSpPr>
        <p:spPr>
          <a:xfrm xmlns:a="http://schemas.openxmlformats.org/drawingml/2006/main">
            <a:off x="666750" y="2095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training trials</a:t>
            </a:r>
          </a:p>
        </p:txBody>
      </p:sp>
      <p:sp>
        <p:nvSpPr>
          <p:cNvPr id="5" name="">
            <a:extLst xmlns:a="http://schemas.openxmlformats.org/drawingml/2006/main">
              <a:ext uri="{FF2B5EF4-FFF2-40B4-BE49-F238E27FC236}">
                <a16:creationId xmlns:a16="http://schemas.microsoft.com/office/drawing/2014/main" id="{9455CBDD-F4E6-49FB-925E-6DB2FBE7C67A}"/>
              </a:ext>
            </a:extLst>
          </p:cNvPr>
          <p:cNvSpPr>
            <a:spLocks xmlns:a="http://schemas.openxmlformats.org/drawingml/2006/main" noGrp="1"/>
          </p:cNvSpPr>
          <p:nvPr/>
        </p:nvSpPr>
        <p:spPr>
          <a:xfrm xmlns:a="http://schemas.openxmlformats.org/drawingml/2006/main">
            <a:off x="4619625" y="13811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125" b="1">
                <a:solidFill>
                  <a:srgbClr val="246684"/>
                </a:solidFill>
                <a:latin typeface="Arial"/>
                <a:ea typeface="Arial"/>
                <a:cs typeface="Arial"/>
              </a:defRPr>
            </a:defPPr>
            <a:lvl1pPr>
              <a:defRPr sz="4125" b="1">
                <a:solidFill>
                  <a:srgbClr val="246684"/>
                </a:solidFill>
                <a:latin typeface="Arial"/>
                <a:ea typeface="Arial"/>
                <a:cs typeface="Arial"/>
              </a:defRPr>
            </a:lvl1pPr>
            <a:lvl2pPr>
              <a:defRPr sz="4125" b="1">
                <a:solidFill>
                  <a:srgbClr val="246684"/>
                </a:solidFill>
                <a:latin typeface="Arial"/>
                <a:ea typeface="Arial"/>
                <a:cs typeface="Arial"/>
              </a:defRPr>
            </a:lvl2pPr>
            <a:lvl3pPr>
              <a:defRPr sz="4125" b="1">
                <a:solidFill>
                  <a:srgbClr val="246684"/>
                </a:solidFill>
                <a:latin typeface="Arial"/>
                <a:ea typeface="Arial"/>
                <a:cs typeface="Arial"/>
              </a:defRPr>
            </a:lvl3pPr>
            <a:lvl4pPr>
              <a:defRPr sz="4125" b="1">
                <a:solidFill>
                  <a:srgbClr val="246684"/>
                </a:solidFill>
                <a:latin typeface="Arial"/>
                <a:ea typeface="Arial"/>
                <a:cs typeface="Arial"/>
              </a:defRPr>
            </a:lvl4pPr>
            <a:lvl5pPr>
              <a:defRPr sz="4125" b="1">
                <a:solidFill>
                  <a:srgbClr val="246684"/>
                </a:solidFill>
                <a:latin typeface="Arial"/>
                <a:ea typeface="Arial"/>
                <a:cs typeface="Arial"/>
              </a:defRPr>
            </a:lvl5pPr>
            <a:lvl6pPr>
              <a:defRPr sz="4125" b="1">
                <a:solidFill>
                  <a:srgbClr val="246684"/>
                </a:solidFill>
                <a:latin typeface="Arial"/>
                <a:ea typeface="Arial"/>
                <a:cs typeface="Arial"/>
              </a:defRPr>
            </a:lvl6pPr>
            <a:lvl7pPr>
              <a:defRPr sz="4125" b="1">
                <a:solidFill>
                  <a:srgbClr val="246684"/>
                </a:solidFill>
                <a:latin typeface="Arial"/>
                <a:ea typeface="Arial"/>
                <a:cs typeface="Arial"/>
              </a:defRPr>
            </a:lvl7pPr>
            <a:lvl8pPr>
              <a:defRPr sz="4125" b="1">
                <a:solidFill>
                  <a:srgbClr val="246684"/>
                </a:solidFill>
                <a:latin typeface="Arial"/>
                <a:ea typeface="Arial"/>
                <a:cs typeface="Arial"/>
              </a:defRPr>
            </a:lvl8pPr>
            <a:lvl9pPr>
              <a:defRPr sz="4125" b="1">
                <a:solidFill>
                  <a:srgbClr val="246684"/>
                </a:solidFill>
                <a:latin typeface="Arial"/>
                <a:ea typeface="Arial"/>
                <a:cs typeface="Arial"/>
              </a:defRPr>
            </a:lvl9pPr>
          </a:lstStyle>
          <a:p xmlns:a="http://schemas.openxmlformats.org/drawingml/2006/main">
            <a:pPr>
              <a:defRPr sz="4125" b="1">
                <a:solidFill>
                  <a:srgbClr val="246684"/>
                </a:solidFill>
                <a:latin typeface="Arial"/>
                <a:ea typeface="Arial"/>
                <a:cs typeface="Arial"/>
              </a:defRPr>
            </a:pPr>
            <a:r>
              <a:rPr sz="4125" b="1">
                <a:solidFill>
                  <a:srgbClr val="246684"/>
                </a:solidFill>
                <a:latin typeface="Arial"/>
                <a:ea typeface="Arial"/>
                <a:cs typeface="Arial"/>
              </a:rPr>
              <a:t>424</a:t>
            </a:r>
          </a:p>
        </p:txBody>
      </p:sp>
      <p:sp>
        <p:nvSpPr>
          <p:cNvPr id="6" name="">
            <a:extLst xmlns:a="http://schemas.openxmlformats.org/drawingml/2006/main">
              <a:ext uri="{FF2B5EF4-FFF2-40B4-BE49-F238E27FC236}">
                <a16:creationId xmlns:a16="http://schemas.microsoft.com/office/drawing/2014/main" id="{CC49CFE2-7B05-4D24-867D-4E819E244677}"/>
              </a:ext>
            </a:extLst>
          </p:cNvPr>
          <p:cNvSpPr>
            <a:spLocks xmlns:a="http://schemas.openxmlformats.org/drawingml/2006/main" noGrp="1"/>
          </p:cNvSpPr>
          <p:nvPr/>
        </p:nvSpPr>
        <p:spPr>
          <a:xfrm xmlns:a="http://schemas.openxmlformats.org/drawingml/2006/main">
            <a:off x="4619625" y="2095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validation trials</a:t>
            </a:r>
          </a:p>
        </p:txBody>
      </p:sp>
      <p:sp>
        <p:nvSpPr>
          <p:cNvPr id="7" name="">
            <a:extLst xmlns:a="http://schemas.openxmlformats.org/drawingml/2006/main">
              <a:ext uri="{FF2B5EF4-FFF2-40B4-BE49-F238E27FC236}">
                <a16:creationId xmlns:a16="http://schemas.microsoft.com/office/drawing/2014/main" id="{0E70B7ED-659D-40AA-AC0B-FB92622BCBD5}"/>
              </a:ext>
            </a:extLst>
          </p:cNvPr>
          <p:cNvSpPr>
            <a:spLocks xmlns:a="http://schemas.openxmlformats.org/drawingml/2006/main" noGrp="1"/>
          </p:cNvSpPr>
          <p:nvPr/>
        </p:nvSpPr>
        <p:spPr>
          <a:xfrm xmlns:a="http://schemas.openxmlformats.org/drawingml/2006/main">
            <a:off x="8572500" y="13811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125" b="1">
                <a:solidFill>
                  <a:srgbClr val="246684"/>
                </a:solidFill>
                <a:latin typeface="Arial"/>
                <a:ea typeface="Arial"/>
                <a:cs typeface="Arial"/>
              </a:defRPr>
            </a:defPPr>
            <a:lvl1pPr>
              <a:defRPr sz="4125" b="1">
                <a:solidFill>
                  <a:srgbClr val="246684"/>
                </a:solidFill>
                <a:latin typeface="Arial"/>
                <a:ea typeface="Arial"/>
                <a:cs typeface="Arial"/>
              </a:defRPr>
            </a:lvl1pPr>
            <a:lvl2pPr>
              <a:defRPr sz="4125" b="1">
                <a:solidFill>
                  <a:srgbClr val="246684"/>
                </a:solidFill>
                <a:latin typeface="Arial"/>
                <a:ea typeface="Arial"/>
                <a:cs typeface="Arial"/>
              </a:defRPr>
            </a:lvl2pPr>
            <a:lvl3pPr>
              <a:defRPr sz="4125" b="1">
                <a:solidFill>
                  <a:srgbClr val="246684"/>
                </a:solidFill>
                <a:latin typeface="Arial"/>
                <a:ea typeface="Arial"/>
                <a:cs typeface="Arial"/>
              </a:defRPr>
            </a:lvl3pPr>
            <a:lvl4pPr>
              <a:defRPr sz="4125" b="1">
                <a:solidFill>
                  <a:srgbClr val="246684"/>
                </a:solidFill>
                <a:latin typeface="Arial"/>
                <a:ea typeface="Arial"/>
                <a:cs typeface="Arial"/>
              </a:defRPr>
            </a:lvl4pPr>
            <a:lvl5pPr>
              <a:defRPr sz="4125" b="1">
                <a:solidFill>
                  <a:srgbClr val="246684"/>
                </a:solidFill>
                <a:latin typeface="Arial"/>
                <a:ea typeface="Arial"/>
                <a:cs typeface="Arial"/>
              </a:defRPr>
            </a:lvl5pPr>
            <a:lvl6pPr>
              <a:defRPr sz="4125" b="1">
                <a:solidFill>
                  <a:srgbClr val="246684"/>
                </a:solidFill>
                <a:latin typeface="Arial"/>
                <a:ea typeface="Arial"/>
                <a:cs typeface="Arial"/>
              </a:defRPr>
            </a:lvl6pPr>
            <a:lvl7pPr>
              <a:defRPr sz="4125" b="1">
                <a:solidFill>
                  <a:srgbClr val="246684"/>
                </a:solidFill>
                <a:latin typeface="Arial"/>
                <a:ea typeface="Arial"/>
                <a:cs typeface="Arial"/>
              </a:defRPr>
            </a:lvl7pPr>
            <a:lvl8pPr>
              <a:defRPr sz="4125" b="1">
                <a:solidFill>
                  <a:srgbClr val="246684"/>
                </a:solidFill>
                <a:latin typeface="Arial"/>
                <a:ea typeface="Arial"/>
                <a:cs typeface="Arial"/>
              </a:defRPr>
            </a:lvl8pPr>
            <a:lvl9pPr>
              <a:defRPr sz="4125" b="1">
                <a:solidFill>
                  <a:srgbClr val="246684"/>
                </a:solidFill>
                <a:latin typeface="Arial"/>
                <a:ea typeface="Arial"/>
                <a:cs typeface="Arial"/>
              </a:defRPr>
            </a:lvl9pPr>
          </a:lstStyle>
          <a:p xmlns:a="http://schemas.openxmlformats.org/drawingml/2006/main">
            <a:pPr>
              <a:defRPr sz="4125" b="1">
                <a:solidFill>
                  <a:srgbClr val="246684"/>
                </a:solidFill>
                <a:latin typeface="Arial"/>
                <a:ea typeface="Arial"/>
                <a:cs typeface="Arial"/>
              </a:defRPr>
            </a:pPr>
            <a:r>
              <a:rPr sz="4125" b="1">
                <a:solidFill>
                  <a:srgbClr val="246684"/>
                </a:solidFill>
                <a:latin typeface="Arial"/>
                <a:ea typeface="Arial"/>
                <a:cs typeface="Arial"/>
              </a:rPr>
              <a:t>424</a:t>
            </a:r>
          </a:p>
        </p:txBody>
      </p:sp>
      <p:sp>
        <p:nvSpPr>
          <p:cNvPr id="8" name="">
            <a:extLst xmlns:a="http://schemas.openxmlformats.org/drawingml/2006/main">
              <a:ext uri="{FF2B5EF4-FFF2-40B4-BE49-F238E27FC236}">
                <a16:creationId xmlns:a16="http://schemas.microsoft.com/office/drawing/2014/main" id="{54816280-20A1-4076-8FFB-970833736A06}"/>
              </a:ext>
            </a:extLst>
          </p:cNvPr>
          <p:cNvSpPr>
            <a:spLocks xmlns:a="http://schemas.openxmlformats.org/drawingml/2006/main" noGrp="1"/>
          </p:cNvSpPr>
          <p:nvPr/>
        </p:nvSpPr>
        <p:spPr>
          <a:xfrm xmlns:a="http://schemas.openxmlformats.org/drawingml/2006/main">
            <a:off x="8572500" y="20955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test trials</a:t>
            </a:r>
          </a:p>
        </p:txBody>
      </p:sp>
      <p:sp>
        <p:nvSpPr>
          <p:cNvPr id="9" name="">
            <a:extLst xmlns:a="http://schemas.openxmlformats.org/drawingml/2006/main">
              <a:ext uri="{FF2B5EF4-FFF2-40B4-BE49-F238E27FC236}">
                <a16:creationId xmlns:a16="http://schemas.microsoft.com/office/drawing/2014/main" id="{37A1269A-62DD-41EE-9BF3-9F420CF06B37}"/>
              </a:ext>
            </a:extLst>
          </p:cNvPr>
          <p:cNvSpPr>
            <a:spLocks xmlns:a="http://schemas.openxmlformats.org/drawingml/2006/main" noGrp="1"/>
          </p:cNvSpPr>
          <p:nvPr/>
        </p:nvSpPr>
        <p:spPr>
          <a:xfrm xmlns:a="http://schemas.openxmlformats.org/drawingml/2006/main">
            <a:off x="666750" y="2809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72F40"/>
                </a:solidFill>
                <a:latin typeface="Arial"/>
                <a:ea typeface="Arial"/>
                <a:cs typeface="Arial"/>
              </a:defRPr>
            </a:defPPr>
            <a:lvl1pPr>
              <a:defRPr sz="2100" b="0">
                <a:solidFill>
                  <a:srgbClr val="172F40"/>
                </a:solidFill>
                <a:latin typeface="Arial"/>
                <a:ea typeface="Arial"/>
                <a:cs typeface="Arial"/>
              </a:defRPr>
            </a:lvl1pPr>
            <a:lvl2pPr>
              <a:defRPr sz="2100" b="0">
                <a:solidFill>
                  <a:srgbClr val="172F40"/>
                </a:solidFill>
                <a:latin typeface="Arial"/>
                <a:ea typeface="Arial"/>
                <a:cs typeface="Arial"/>
              </a:defRPr>
            </a:lvl2pPr>
            <a:lvl3pPr>
              <a:defRPr sz="2100" b="0">
                <a:solidFill>
                  <a:srgbClr val="172F40"/>
                </a:solidFill>
                <a:latin typeface="Arial"/>
                <a:ea typeface="Arial"/>
                <a:cs typeface="Arial"/>
              </a:defRPr>
            </a:lvl3pPr>
            <a:lvl4pPr>
              <a:defRPr sz="2100" b="0">
                <a:solidFill>
                  <a:srgbClr val="172F40"/>
                </a:solidFill>
                <a:latin typeface="Arial"/>
                <a:ea typeface="Arial"/>
                <a:cs typeface="Arial"/>
              </a:defRPr>
            </a:lvl4pPr>
            <a:lvl5pPr>
              <a:defRPr sz="2100" b="0">
                <a:solidFill>
                  <a:srgbClr val="172F40"/>
                </a:solidFill>
                <a:latin typeface="Arial"/>
                <a:ea typeface="Arial"/>
                <a:cs typeface="Arial"/>
              </a:defRPr>
            </a:lvl5pPr>
            <a:lvl6pPr>
              <a:defRPr sz="2100" b="0">
                <a:solidFill>
                  <a:srgbClr val="172F40"/>
                </a:solidFill>
                <a:latin typeface="Arial"/>
                <a:ea typeface="Arial"/>
                <a:cs typeface="Arial"/>
              </a:defRPr>
            </a:lvl6pPr>
            <a:lvl7pPr>
              <a:defRPr sz="2100" b="0">
                <a:solidFill>
                  <a:srgbClr val="172F40"/>
                </a:solidFill>
                <a:latin typeface="Arial"/>
                <a:ea typeface="Arial"/>
                <a:cs typeface="Arial"/>
              </a:defRPr>
            </a:lvl7pPr>
            <a:lvl8pPr>
              <a:defRPr sz="2100" b="0">
                <a:solidFill>
                  <a:srgbClr val="172F40"/>
                </a:solidFill>
                <a:latin typeface="Arial"/>
                <a:ea typeface="Arial"/>
                <a:cs typeface="Arial"/>
              </a:defRPr>
            </a:lvl8pPr>
            <a:lvl9pPr>
              <a:defRPr sz="2100" b="0">
                <a:solidFill>
                  <a:srgbClr val="172F40"/>
                </a:solidFill>
                <a:latin typeface="Arial"/>
                <a:ea typeface="Arial"/>
                <a:cs typeface="Arial"/>
              </a:defRPr>
            </a:lvl9pPr>
          </a:lstStyle>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All 2,824 candidates remain in fixed order</a:t>
            </a:r>
          </a:p>
          <a:p xmlns:a="http://schemas.openxmlformats.org/drawingml/2006/main">
            <a:pPr>
              <a:defRPr sz="2100" b="0">
                <a:solidFill>
                  <a:srgbClr val="172F40"/>
                </a:solidFill>
                <a:latin typeface="Arial"/>
                <a:ea typeface="Arial"/>
                <a:cs typeface="Arial"/>
              </a:defRPr>
            </a:pPr>
            <a:r>
              <a:rPr sz="2100" b="0">
                <a:solidFill>
                  <a:srgbClr val="172F40"/>
                </a:solidFill>
                <a:latin typeface="Arial"/>
                <a:ea typeface="Arial"/>
                <a:cs typeface="Arial"/>
              </a:rPr>
              <a:t>19,740 source associations and 61,218 permitted computational edges</a:t>
            </a:r>
          </a:p>
        </p:txBody>
      </p:sp>
      <p:sp>
        <p:nvSpPr>
          <p:cNvPr id="10" name="">
            <a:extLst xmlns:a="http://schemas.openxmlformats.org/drawingml/2006/main">
              <a:ext uri="{FF2B5EF4-FFF2-40B4-BE49-F238E27FC236}">
                <a16:creationId xmlns:a16="http://schemas.microsoft.com/office/drawing/2014/main" id="{BC64B5BC-753C-491C-87A8-B39EA7D572D5}"/>
              </a:ext>
            </a:extLst>
          </p:cNvPr>
          <p:cNvSpPr>
            <a:spLocks xmlns:a="http://schemas.openxmlformats.org/drawingml/2006/main" noGrp="1"/>
          </p:cNvSpPr>
          <p:nvPr/>
        </p:nvSpPr>
        <p:spPr>
          <a:xfrm xmlns:a="http://schemas.openxmlformats.org/drawingml/2006/main">
            <a:off x="666750" y="4095750"/>
            <a:ext cx="2809875" cy="95250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Context features</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MiniLM plus six type slots</a:t>
            </a:r>
          </a:p>
        </p:txBody>
      </p:sp>
      <p:sp>
        <p:nvSpPr>
          <p:cNvPr id="11" name="">
            <a:extLst xmlns:a="http://schemas.openxmlformats.org/drawingml/2006/main">
              <a:ext uri="{FF2B5EF4-FFF2-40B4-BE49-F238E27FC236}">
                <a16:creationId xmlns:a16="http://schemas.microsoft.com/office/drawing/2014/main" id="{E014A7A7-8EBD-4311-A12F-2302DA322472}"/>
              </a:ext>
            </a:extLst>
          </p:cNvPr>
          <p:cNvSpPr>
            <a:spLocks xmlns:a="http://schemas.openxmlformats.org/drawingml/2006/main" noGrp="1"/>
          </p:cNvSpPr>
          <p:nvPr/>
        </p:nvSpPr>
        <p:spPr>
          <a:xfrm xmlns:a="http://schemas.openxmlformats.org/drawingml/2006/main">
            <a:off x="4667250" y="4095750"/>
            <a:ext cx="2809875" cy="95250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GraphSAGE</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390 → 128 → 64</a:t>
            </a:r>
          </a:p>
        </p:txBody>
      </p:sp>
      <p:sp>
        <p:nvSpPr>
          <p:cNvPr id="12" name="">
            <a:extLst xmlns:a="http://schemas.openxmlformats.org/drawingml/2006/main">
              <a:ext uri="{FF2B5EF4-FFF2-40B4-BE49-F238E27FC236}">
                <a16:creationId xmlns:a16="http://schemas.microsoft.com/office/drawing/2014/main" id="{D8F802EC-3FBA-4D0C-B3C1-BBC186E6A0D5}"/>
              </a:ext>
            </a:extLst>
          </p:cNvPr>
          <p:cNvSpPr>
            <a:spLocks xmlns:a="http://schemas.openxmlformats.org/drawingml/2006/main" noGrp="1"/>
          </p:cNvSpPr>
          <p:nvPr/>
        </p:nvSpPr>
        <p:spPr>
          <a:xfrm xmlns:a="http://schemas.openxmlformats.org/drawingml/2006/main">
            <a:off x="8667750" y="4095750"/>
            <a:ext cx="2809875" cy="95250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Trial vectors</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64 dimensional ranking space</a:t>
            </a:r>
          </a:p>
        </p:txBody>
      </p:sp>
      <p:sp>
        <p:nvSpPr>
          <p:cNvPr id="15" name="">
            <a:extLst xmlns:a="http://schemas.openxmlformats.org/drawingml/2006/main">
              <a:ext uri="{FF2B5EF4-FFF2-40B4-BE49-F238E27FC236}">
                <a16:creationId xmlns:a16="http://schemas.microsoft.com/office/drawing/2014/main" id="{225A8B6B-05C3-4159-B240-9D929C742014}"/>
              </a:ext>
            </a:extLst>
          </p:cNvPr>
          <p:cNvSpPr>
            <a:spLocks xmlns:a="http://schemas.openxmlformats.org/drawingml/2006/main" noGrp="1"/>
          </p:cNvSpPr>
          <p:nvPr/>
        </p:nvSpPr>
        <p:spPr>
          <a:xfrm xmlns:a="http://schemas.openxmlformats.org/drawingml/2006/main">
            <a:off x="666750" y="5238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72F40"/>
                </a:solidFill>
                <a:latin typeface="Arial"/>
                <a:ea typeface="Arial"/>
                <a:cs typeface="Arial"/>
              </a:defRPr>
            </a:defPPr>
            <a:lvl1pPr>
              <a:defRPr sz="1725" b="0">
                <a:solidFill>
                  <a:srgbClr val="172F40"/>
                </a:solidFill>
                <a:latin typeface="Arial"/>
                <a:ea typeface="Arial"/>
                <a:cs typeface="Arial"/>
              </a:defRPr>
            </a:lvl1pPr>
            <a:lvl2pPr>
              <a:defRPr sz="1725" b="0">
                <a:solidFill>
                  <a:srgbClr val="172F40"/>
                </a:solidFill>
                <a:latin typeface="Arial"/>
                <a:ea typeface="Arial"/>
                <a:cs typeface="Arial"/>
              </a:defRPr>
            </a:lvl2pPr>
            <a:lvl3pPr>
              <a:defRPr sz="1725" b="0">
                <a:solidFill>
                  <a:srgbClr val="172F40"/>
                </a:solidFill>
                <a:latin typeface="Arial"/>
                <a:ea typeface="Arial"/>
                <a:cs typeface="Arial"/>
              </a:defRPr>
            </a:lvl3pPr>
            <a:lvl4pPr>
              <a:defRPr sz="1725" b="0">
                <a:solidFill>
                  <a:srgbClr val="172F40"/>
                </a:solidFill>
                <a:latin typeface="Arial"/>
                <a:ea typeface="Arial"/>
                <a:cs typeface="Arial"/>
              </a:defRPr>
            </a:lvl4pPr>
            <a:lvl5pPr>
              <a:defRPr sz="1725" b="0">
                <a:solidFill>
                  <a:srgbClr val="172F40"/>
                </a:solidFill>
                <a:latin typeface="Arial"/>
                <a:ea typeface="Arial"/>
                <a:cs typeface="Arial"/>
              </a:defRPr>
            </a:lvl5pPr>
            <a:lvl6pPr>
              <a:defRPr sz="1725" b="0">
                <a:solidFill>
                  <a:srgbClr val="172F40"/>
                </a:solidFill>
                <a:latin typeface="Arial"/>
                <a:ea typeface="Arial"/>
                <a:cs typeface="Arial"/>
              </a:defRPr>
            </a:lvl6pPr>
            <a:lvl7pPr>
              <a:defRPr sz="1725" b="0">
                <a:solidFill>
                  <a:srgbClr val="172F40"/>
                </a:solidFill>
                <a:latin typeface="Arial"/>
                <a:ea typeface="Arial"/>
                <a:cs typeface="Arial"/>
              </a:defRPr>
            </a:lvl7pPr>
            <a:lvl8pPr>
              <a:defRPr sz="1725" b="0">
                <a:solidFill>
                  <a:srgbClr val="172F40"/>
                </a:solidFill>
                <a:latin typeface="Arial"/>
                <a:ea typeface="Arial"/>
                <a:cs typeface="Arial"/>
              </a:defRPr>
            </a:lvl8pPr>
            <a:lvl9pPr>
              <a:defRPr sz="1725" b="0">
                <a:solidFill>
                  <a:srgbClr val="172F40"/>
                </a:solidFill>
                <a:latin typeface="Arial"/>
                <a:ea typeface="Arial"/>
                <a:cs typeface="Arial"/>
              </a:defRPr>
            </a:lvl9pPr>
          </a:lstStyle>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Query embeddings use a separate trainable 384 → 64 projection into this ranking space.</a:t>
            </a:r>
          </a:p>
        </p:txBody>
      </p:sp>
      <p:sp>
        <p:nvSpPr>
          <p:cNvPr id="16" name="">
            <a:extLst xmlns:a="http://schemas.openxmlformats.org/drawingml/2006/main">
              <a:ext uri="{FF2B5EF4-FFF2-40B4-BE49-F238E27FC236}">
                <a16:creationId xmlns:a16="http://schemas.microsoft.com/office/drawing/2014/main" id="{C0615960-0445-457A-B6B9-BE630A223903}"/>
              </a:ext>
            </a:extLst>
          </p:cNvPr>
          <p:cNvSpPr>
            <a:spLocks xmlns:a="http://schemas.openxmlformats.org/drawingml/2006/main" noGrp="1"/>
          </p:cNvSpPr>
          <p:nvPr/>
        </p:nvSpPr>
        <p:spPr>
          <a:xfrm xmlns:a="http://schemas.openxmlformats.org/drawingml/2006/main">
            <a:off x="666750" y="5762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172F40"/>
                </a:solidFill>
                <a:latin typeface="Arial"/>
                <a:ea typeface="Arial"/>
                <a:cs typeface="Arial"/>
              </a:defRPr>
            </a:defPPr>
            <a:lvl1pPr>
              <a:defRPr sz="1575" b="0">
                <a:solidFill>
                  <a:srgbClr val="172F40"/>
                </a:solidFill>
                <a:latin typeface="Arial"/>
                <a:ea typeface="Arial"/>
                <a:cs typeface="Arial"/>
              </a:defRPr>
            </a:lvl1pPr>
            <a:lvl2pPr>
              <a:defRPr sz="1575" b="0">
                <a:solidFill>
                  <a:srgbClr val="172F40"/>
                </a:solidFill>
                <a:latin typeface="Arial"/>
                <a:ea typeface="Arial"/>
                <a:cs typeface="Arial"/>
              </a:defRPr>
            </a:lvl2pPr>
            <a:lvl3pPr>
              <a:defRPr sz="1575" b="0">
                <a:solidFill>
                  <a:srgbClr val="172F40"/>
                </a:solidFill>
                <a:latin typeface="Arial"/>
                <a:ea typeface="Arial"/>
                <a:cs typeface="Arial"/>
              </a:defRPr>
            </a:lvl3pPr>
            <a:lvl4pPr>
              <a:defRPr sz="1575" b="0">
                <a:solidFill>
                  <a:srgbClr val="172F40"/>
                </a:solidFill>
                <a:latin typeface="Arial"/>
                <a:ea typeface="Arial"/>
                <a:cs typeface="Arial"/>
              </a:defRPr>
            </a:lvl4pPr>
            <a:lvl5pPr>
              <a:defRPr sz="1575" b="0">
                <a:solidFill>
                  <a:srgbClr val="172F40"/>
                </a:solidFill>
                <a:latin typeface="Arial"/>
                <a:ea typeface="Arial"/>
                <a:cs typeface="Arial"/>
              </a:defRPr>
            </a:lvl5pPr>
            <a:lvl6pPr>
              <a:defRPr sz="1575" b="0">
                <a:solidFill>
                  <a:srgbClr val="172F40"/>
                </a:solidFill>
                <a:latin typeface="Arial"/>
                <a:ea typeface="Arial"/>
                <a:cs typeface="Arial"/>
              </a:defRPr>
            </a:lvl6pPr>
            <a:lvl7pPr>
              <a:defRPr sz="1575" b="0">
                <a:solidFill>
                  <a:srgbClr val="172F40"/>
                </a:solidFill>
                <a:latin typeface="Arial"/>
                <a:ea typeface="Arial"/>
                <a:cs typeface="Arial"/>
              </a:defRPr>
            </a:lvl7pPr>
            <a:lvl8pPr>
              <a:defRPr sz="1575" b="0">
                <a:solidFill>
                  <a:srgbClr val="172F40"/>
                </a:solidFill>
                <a:latin typeface="Arial"/>
                <a:ea typeface="Arial"/>
                <a:cs typeface="Arial"/>
              </a:defRPr>
            </a:lvl8pPr>
            <a:lvl9pPr>
              <a:defRPr sz="1575" b="0">
                <a:solidFill>
                  <a:srgbClr val="172F40"/>
                </a:solidFill>
                <a:latin typeface="Arial"/>
                <a:ea typeface="Arial"/>
                <a:cs typeface="Arial"/>
              </a:defRPr>
            </a:lvl9pPr>
          </a:lstStyle>
          <a:p xmlns:a="http://schemas.openxmlformats.org/drawingml/2006/main">
            <a:pPr>
              <a:defRPr sz="1575" b="0">
                <a:solidFill>
                  <a:srgbClr val="172F40"/>
                </a:solidFill>
                <a:latin typeface="Arial"/>
                <a:ea typeface="Arial"/>
                <a:cs typeface="Arial"/>
              </a:defRPr>
            </a:pPr>
            <a:r>
              <a:rPr sz="1575" b="0">
                <a:solidFill>
                  <a:srgbClr val="172F40"/>
                </a:solidFill>
                <a:latin typeface="Arial"/>
                <a:ea typeface="Arial"/>
                <a:cs typeface="Arial"/>
              </a:rPr>
              <a:t>Target edges and reverses removed. Family quarantine and query embargoes retained.</a:t>
            </a:r>
          </a:p>
          <a:p xmlns:a="http://schemas.openxmlformats.org/drawingml/2006/main">
            <a:pPr>
              <a:defRPr sz="1575" b="0">
                <a:solidFill>
                  <a:srgbClr val="172F40"/>
                </a:solidFill>
                <a:latin typeface="Arial"/>
                <a:ea typeface="Arial"/>
                <a:cs typeface="Arial"/>
              </a:defRPr>
            </a:pPr>
            <a:r>
              <a:rPr sz="1575" b="0">
                <a:solidFill>
                  <a:srgbClr val="172F40"/>
                </a:solidFill>
                <a:latin typeface="Arial"/>
                <a:ea typeface="Arial"/>
                <a:cs typeface="Arial"/>
              </a:rPr>
              <a:t>Held-out trial context remains visible. Unseen-trial induction is not evaluated.</a:t>
            </a:r>
          </a:p>
        </p:txBody>
      </p:sp>
    </p:spTree>
    <p:extLst>
      <p:ext uri="{BB962C8B-B14F-4D97-AF65-F5344CB8AC3E}">
        <p14:creationId xmlns:p14="http://schemas.microsoft.com/office/powerpoint/2010/main" val="19007503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D8C529-90A0-49AE-BFDD-BFE215174CC6}"/>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Frozen association-ranking results</a:t>
            </a:r>
          </a:p>
        </p:txBody>
      </p:sp>
      <p:sp>
        <p:nvSpPr>
          <p:cNvPr id="2" name="">
            <a:extLst xmlns:a="http://schemas.openxmlformats.org/drawingml/2006/main">
              <a:ext uri="{FF2B5EF4-FFF2-40B4-BE49-F238E27FC236}">
                <a16:creationId xmlns:a16="http://schemas.microsoft.com/office/drawing/2014/main" id="{9CE5C8E5-45F6-4869-BEBD-C83AE63303F8}"/>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7   HTT-GNN-ASSOC-RUN-v1 saved test results, descriptive comparison</a:t>
            </a:r>
          </a:p>
        </p:txBody>
      </p:sp>
      <p:graphicFrame>
        <p:nvGraphicFramePr>
          <p:cNvPr id="3" name="Chart">
            <a:extLst xmlns:a="http://schemas.openxmlformats.org/drawingml/2006/main">
              <a:ext uri="{FF2B5EF4-FFF2-40B4-BE49-F238E27FC236}">
                <a16:creationId xmlns:a16="http://schemas.microsoft.com/office/drawing/2014/main" id="{310AFDD2-E177-44DE-99E7-17F1EC1F0C2E}"/>
              </a:ext>
            </a:extLst>
          </p:cNvPr>
          <p:cNvGraphicFramePr/>
          <p:nvPr/>
        </p:nvGraphicFramePr>
        <p:xfrm>
          <a:off xmlns:a="http://schemas.openxmlformats.org/drawingml/2006/main" x="381000" y="1333500"/>
          <a:ext xmlns:a="http://schemas.openxmlformats.org/drawingml/2006/main" cx="8001000" cy="4333875"/>
        </p:xfrm>
        <a:graphic xmlns:a="http://schemas.openxmlformats.org/drawingml/2006/main">
          <a:graphicData uri="http://schemas.openxmlformats.org/drawingml/2006/chart">
            <c:chart xmlns:r="http://schemas.openxmlformats.org/officeDocument/2006/relationships" xmlns:c="http://schemas.openxmlformats.org/drawingml/2006/chart" r:id="Rc5d798b5cde34c0b"/>
          </a:graphicData>
        </a:graphic>
      </p:graphicFrame>
      <p:sp>
        <p:nvSpPr>
          <p:cNvPr id="4" name="">
            <a:extLst xmlns:a="http://schemas.openxmlformats.org/drawingml/2006/main">
              <a:ext uri="{FF2B5EF4-FFF2-40B4-BE49-F238E27FC236}">
                <a16:creationId xmlns:a16="http://schemas.microsoft.com/office/drawing/2014/main" id="{D5332C2B-869F-4559-A02A-9250269C0356}"/>
              </a:ext>
            </a:extLst>
          </p:cNvPr>
          <p:cNvSpPr>
            <a:spLocks xmlns:a="http://schemas.openxmlformats.org/drawingml/2006/main" noGrp="1"/>
          </p:cNvSpPr>
          <p:nvPr/>
        </p:nvSpPr>
        <p:spPr>
          <a:xfrm xmlns:a="http://schemas.openxmlformats.org/drawingml/2006/main">
            <a:off x="8810625" y="13811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1">
                <a:solidFill>
                  <a:srgbClr val="172F40"/>
                </a:solidFill>
                <a:latin typeface="Arial"/>
                <a:ea typeface="Arial"/>
                <a:cs typeface="Arial"/>
              </a:defRPr>
            </a:defPPr>
            <a:lvl1pPr>
              <a:defRPr sz="2100" b="1">
                <a:solidFill>
                  <a:srgbClr val="172F40"/>
                </a:solidFill>
                <a:latin typeface="Arial"/>
                <a:ea typeface="Arial"/>
                <a:cs typeface="Arial"/>
              </a:defRPr>
            </a:lvl1pPr>
            <a:lvl2pPr>
              <a:defRPr sz="2100" b="1">
                <a:solidFill>
                  <a:srgbClr val="172F40"/>
                </a:solidFill>
                <a:latin typeface="Arial"/>
                <a:ea typeface="Arial"/>
                <a:cs typeface="Arial"/>
              </a:defRPr>
            </a:lvl2pPr>
            <a:lvl3pPr>
              <a:defRPr sz="2100" b="1">
                <a:solidFill>
                  <a:srgbClr val="172F40"/>
                </a:solidFill>
                <a:latin typeface="Arial"/>
                <a:ea typeface="Arial"/>
                <a:cs typeface="Arial"/>
              </a:defRPr>
            </a:lvl3pPr>
            <a:lvl4pPr>
              <a:defRPr sz="2100" b="1">
                <a:solidFill>
                  <a:srgbClr val="172F40"/>
                </a:solidFill>
                <a:latin typeface="Arial"/>
                <a:ea typeface="Arial"/>
                <a:cs typeface="Arial"/>
              </a:defRPr>
            </a:lvl4pPr>
            <a:lvl5pPr>
              <a:defRPr sz="2100" b="1">
                <a:solidFill>
                  <a:srgbClr val="172F40"/>
                </a:solidFill>
                <a:latin typeface="Arial"/>
                <a:ea typeface="Arial"/>
                <a:cs typeface="Arial"/>
              </a:defRPr>
            </a:lvl5pPr>
            <a:lvl6pPr>
              <a:defRPr sz="2100" b="1">
                <a:solidFill>
                  <a:srgbClr val="172F40"/>
                </a:solidFill>
                <a:latin typeface="Arial"/>
                <a:ea typeface="Arial"/>
                <a:cs typeface="Arial"/>
              </a:defRPr>
            </a:lvl6pPr>
            <a:lvl7pPr>
              <a:defRPr sz="2100" b="1">
                <a:solidFill>
                  <a:srgbClr val="172F40"/>
                </a:solidFill>
                <a:latin typeface="Arial"/>
                <a:ea typeface="Arial"/>
                <a:cs typeface="Arial"/>
              </a:defRPr>
            </a:lvl7pPr>
            <a:lvl8pPr>
              <a:defRPr sz="2100" b="1">
                <a:solidFill>
                  <a:srgbClr val="172F40"/>
                </a:solidFill>
                <a:latin typeface="Arial"/>
                <a:ea typeface="Arial"/>
                <a:cs typeface="Arial"/>
              </a:defRPr>
            </a:lvl8pPr>
            <a:lvl9pPr>
              <a:defRPr sz="2100" b="1">
                <a:solidFill>
                  <a:srgbClr val="172F40"/>
                </a:solidFill>
                <a:latin typeface="Arial"/>
                <a:ea typeface="Arial"/>
                <a:cs typeface="Arial"/>
              </a:defRPr>
            </a:lvl9pPr>
          </a:lstStyle>
          <a:p xmlns:a="http://schemas.openxmlformats.org/drawingml/2006/main">
            <a:pPr>
              <a:defRPr sz="2100" b="1">
                <a:solidFill>
                  <a:srgbClr val="172F40"/>
                </a:solidFill>
                <a:latin typeface="Arial"/>
                <a:ea typeface="Arial"/>
                <a:cs typeface="Arial"/>
              </a:defRPr>
            </a:pPr>
            <a:r>
              <a:rPr sz="2100" b="1">
                <a:solidFill>
                  <a:srgbClr val="172F40"/>
                </a:solidFill>
                <a:latin typeface="Arial"/>
                <a:ea typeface="Arial"/>
                <a:cs typeface="Arial"/>
              </a:rPr>
              <a:t>Test Recall@10</a:t>
            </a:r>
          </a:p>
        </p:txBody>
      </p:sp>
      <p:sp>
        <p:nvSpPr>
          <p:cNvPr id="5" name="">
            <a:extLst xmlns:a="http://schemas.openxmlformats.org/drawingml/2006/main">
              <a:ext uri="{FF2B5EF4-FFF2-40B4-BE49-F238E27FC236}">
                <a16:creationId xmlns:a16="http://schemas.microsoft.com/office/drawing/2014/main" id="{923C72B7-FDB9-45A6-AF27-38AA21603583}"/>
              </a:ext>
            </a:extLst>
          </p:cNvPr>
          <p:cNvSpPr>
            <a:spLocks xmlns:a="http://schemas.openxmlformats.org/drawingml/2006/main" noGrp="1"/>
          </p:cNvSpPr>
          <p:nvPr/>
        </p:nvSpPr>
        <p:spPr>
          <a:xfrm xmlns:a="http://schemas.openxmlformats.org/drawingml/2006/main">
            <a:off x="8810625" y="2095500"/>
            <a:ext cx="295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TF-IDF  0.11492</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MiniLM  0.12078</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Pooling  0.12100</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Untrained  0.00361</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Trained  0.02208</a:t>
            </a:r>
          </a:p>
        </p:txBody>
      </p:sp>
      <p:sp>
        <p:nvSpPr>
          <p:cNvPr id="6" name="">
            <a:extLst xmlns:a="http://schemas.openxmlformats.org/drawingml/2006/main">
              <a:ext uri="{FF2B5EF4-FFF2-40B4-BE49-F238E27FC236}">
                <a16:creationId xmlns:a16="http://schemas.microsoft.com/office/drawing/2014/main" id="{DF5F4D8E-924F-4D1E-AA6E-0E2553F60431}"/>
              </a:ext>
            </a:extLst>
          </p:cNvPr>
          <p:cNvSpPr>
            <a:spLocks xmlns:a="http://schemas.openxmlformats.org/drawingml/2006/main" noGrp="1"/>
          </p:cNvSpPr>
          <p:nvPr/>
        </p:nvSpPr>
        <p:spPr>
          <a:xfrm xmlns:a="http://schemas.openxmlformats.org/drawingml/2006/main">
            <a:off x="533400" y="58578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8C641F"/>
                </a:solidFill>
                <a:latin typeface="Arial"/>
                <a:ea typeface="Arial"/>
                <a:cs typeface="Arial"/>
              </a:defRPr>
            </a:defPPr>
            <a:lvl1pPr>
              <a:defRPr sz="2250" b="1">
                <a:solidFill>
                  <a:srgbClr val="8C641F"/>
                </a:solidFill>
                <a:latin typeface="Arial"/>
                <a:ea typeface="Arial"/>
                <a:cs typeface="Arial"/>
              </a:defRPr>
            </a:lvl1pPr>
            <a:lvl2pPr>
              <a:defRPr sz="2250" b="1">
                <a:solidFill>
                  <a:srgbClr val="8C641F"/>
                </a:solidFill>
                <a:latin typeface="Arial"/>
                <a:ea typeface="Arial"/>
                <a:cs typeface="Arial"/>
              </a:defRPr>
            </a:lvl2pPr>
            <a:lvl3pPr>
              <a:defRPr sz="2250" b="1">
                <a:solidFill>
                  <a:srgbClr val="8C641F"/>
                </a:solidFill>
                <a:latin typeface="Arial"/>
                <a:ea typeface="Arial"/>
                <a:cs typeface="Arial"/>
              </a:defRPr>
            </a:lvl3pPr>
            <a:lvl4pPr>
              <a:defRPr sz="2250" b="1">
                <a:solidFill>
                  <a:srgbClr val="8C641F"/>
                </a:solidFill>
                <a:latin typeface="Arial"/>
                <a:ea typeface="Arial"/>
                <a:cs typeface="Arial"/>
              </a:defRPr>
            </a:lvl4pPr>
            <a:lvl5pPr>
              <a:defRPr sz="2250" b="1">
                <a:solidFill>
                  <a:srgbClr val="8C641F"/>
                </a:solidFill>
                <a:latin typeface="Arial"/>
                <a:ea typeface="Arial"/>
                <a:cs typeface="Arial"/>
              </a:defRPr>
            </a:lvl5pPr>
            <a:lvl6pPr>
              <a:defRPr sz="2250" b="1">
                <a:solidFill>
                  <a:srgbClr val="8C641F"/>
                </a:solidFill>
                <a:latin typeface="Arial"/>
                <a:ea typeface="Arial"/>
                <a:cs typeface="Arial"/>
              </a:defRPr>
            </a:lvl6pPr>
            <a:lvl7pPr>
              <a:defRPr sz="2250" b="1">
                <a:solidFill>
                  <a:srgbClr val="8C641F"/>
                </a:solidFill>
                <a:latin typeface="Arial"/>
                <a:ea typeface="Arial"/>
                <a:cs typeface="Arial"/>
              </a:defRPr>
            </a:lvl7pPr>
            <a:lvl8pPr>
              <a:defRPr sz="2250" b="1">
                <a:solidFill>
                  <a:srgbClr val="8C641F"/>
                </a:solidFill>
                <a:latin typeface="Arial"/>
                <a:ea typeface="Arial"/>
                <a:cs typeface="Arial"/>
              </a:defRPr>
            </a:lvl8pPr>
            <a:lvl9pPr>
              <a:defRPr sz="2250" b="1">
                <a:solidFill>
                  <a:srgbClr val="8C641F"/>
                </a:solidFill>
                <a:latin typeface="Arial"/>
                <a:ea typeface="Arial"/>
                <a:cs typeface="Arial"/>
              </a:defRPr>
            </a:lvl9pPr>
          </a:lstStyle>
          <a:p xmlns:a="http://schemas.openxmlformats.org/drawingml/2006/main">
            <a:pPr>
              <a:defRPr sz="2250" b="1">
                <a:solidFill>
                  <a:srgbClr val="8C641F"/>
                </a:solidFill>
                <a:latin typeface="Arial"/>
                <a:ea typeface="Arial"/>
                <a:cs typeface="Arial"/>
              </a:defRPr>
            </a:pPr>
            <a:r>
              <a:rPr sz="2250" b="1">
                <a:solidFill>
                  <a:srgbClr val="8C641F"/>
                </a:solidFill>
                <a:latin typeface="Arial"/>
                <a:ea typeface="Arial"/>
                <a:cs typeface="Arial"/>
              </a:rPr>
              <a:t>GraphSAGE remains experimental</a:t>
            </a:r>
          </a:p>
        </p:txBody>
      </p:sp>
    </p:spTree>
    <p:extLst>
      <p:ext uri="{BB962C8B-B14F-4D97-AF65-F5344CB8AC3E}">
        <p14:creationId xmlns:p14="http://schemas.microsoft.com/office/powerpoint/2010/main" val="6974594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E8A89C-7C99-4213-BA63-D1F6CD4B32E8}"/>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GraphSAGE diagnosis</a:t>
            </a:r>
          </a:p>
        </p:txBody>
      </p:sp>
      <p:sp>
        <p:nvSpPr>
          <p:cNvPr id="2" name="">
            <a:extLst xmlns:a="http://schemas.openxmlformats.org/drawingml/2006/main">
              <a:ext uri="{FF2B5EF4-FFF2-40B4-BE49-F238E27FC236}">
                <a16:creationId xmlns:a16="http://schemas.microsoft.com/office/drawing/2014/main" id="{928BBFCC-8D57-4AC2-93D9-D67C1AECBFB7}"/>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8   Training history and STEP_66G_1_DIAGNOSTIC_REPORT.md</a:t>
            </a:r>
          </a:p>
        </p:txBody>
      </p:sp>
      <p:pic>
        <p:nvPicPr>
          <p:cNvPr id="3" name="">
            <a:extLst xmlns:a="http://schemas.openxmlformats.org/drawingml/2006/main">
              <a:ext uri="{FF2B5EF4-FFF2-40B4-BE49-F238E27FC236}">
                <a16:creationId xmlns:a16="http://schemas.microsoft.com/office/drawing/2014/main" id="{8D614C99-F02D-49C1-8726-AB43424AEFF3}"/>
              </a:ext>
            </a:extLst>
          </p:cNvPr>
          <p:cNvPicPr>
            <a:picLocks xmlns:a="http://schemas.openxmlformats.org/drawingml/2006/main" noChangeAspect="1"/>
          </p:cNvPicPr>
          <p:nvPr/>
        </p:nvPicPr>
        <p:blipFill>
          <a:blip xmlns:r="http://schemas.openxmlformats.org/officeDocument/2006/relationships" xmlns:a="http://schemas.openxmlformats.org/drawingml/2006/main" r:embed="Rf5d6e47603b44df6"/>
          <a:stretch xmlns:a="http://schemas.openxmlformats.org/drawingml/2006/main"/>
        </p:blipFill>
        <p:spPr>
          <a:xfrm xmlns:a="http://schemas.openxmlformats.org/drawingml/2006/main">
            <a:off x="743927" y="1381125"/>
            <a:ext cx="6513145"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A98366-E172-4034-8FB5-62FC8741101C}"/>
              </a:ext>
            </a:extLst>
          </p:cNvPr>
          <p:cNvSpPr>
            <a:spLocks xmlns:a="http://schemas.openxmlformats.org/drawingml/2006/main" noGrp="1"/>
          </p:cNvSpPr>
          <p:nvPr/>
        </p:nvSpPr>
        <p:spPr>
          <a:xfrm xmlns:a="http://schemas.openxmlformats.org/drawingml/2006/main">
            <a:off x="8143875" y="14763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172F40"/>
                </a:solidFill>
                <a:latin typeface="Arial"/>
                <a:ea typeface="Arial"/>
                <a:cs typeface="Arial"/>
              </a:defRPr>
            </a:defPPr>
            <a:lvl1pPr>
              <a:defRPr sz="1950" b="1">
                <a:solidFill>
                  <a:srgbClr val="172F40"/>
                </a:solidFill>
                <a:latin typeface="Arial"/>
                <a:ea typeface="Arial"/>
                <a:cs typeface="Arial"/>
              </a:defRPr>
            </a:lvl1pPr>
            <a:lvl2pPr>
              <a:defRPr sz="1950" b="1">
                <a:solidFill>
                  <a:srgbClr val="172F40"/>
                </a:solidFill>
                <a:latin typeface="Arial"/>
                <a:ea typeface="Arial"/>
                <a:cs typeface="Arial"/>
              </a:defRPr>
            </a:lvl2pPr>
            <a:lvl3pPr>
              <a:defRPr sz="1950" b="1">
                <a:solidFill>
                  <a:srgbClr val="172F40"/>
                </a:solidFill>
                <a:latin typeface="Arial"/>
                <a:ea typeface="Arial"/>
                <a:cs typeface="Arial"/>
              </a:defRPr>
            </a:lvl3pPr>
            <a:lvl4pPr>
              <a:defRPr sz="1950" b="1">
                <a:solidFill>
                  <a:srgbClr val="172F40"/>
                </a:solidFill>
                <a:latin typeface="Arial"/>
                <a:ea typeface="Arial"/>
                <a:cs typeface="Arial"/>
              </a:defRPr>
            </a:lvl4pPr>
            <a:lvl5pPr>
              <a:defRPr sz="1950" b="1">
                <a:solidFill>
                  <a:srgbClr val="172F40"/>
                </a:solidFill>
                <a:latin typeface="Arial"/>
                <a:ea typeface="Arial"/>
                <a:cs typeface="Arial"/>
              </a:defRPr>
            </a:lvl5pPr>
            <a:lvl6pPr>
              <a:defRPr sz="1950" b="1">
                <a:solidFill>
                  <a:srgbClr val="172F40"/>
                </a:solidFill>
                <a:latin typeface="Arial"/>
                <a:ea typeface="Arial"/>
                <a:cs typeface="Arial"/>
              </a:defRPr>
            </a:lvl6pPr>
            <a:lvl7pPr>
              <a:defRPr sz="1950" b="1">
                <a:solidFill>
                  <a:srgbClr val="172F40"/>
                </a:solidFill>
                <a:latin typeface="Arial"/>
                <a:ea typeface="Arial"/>
                <a:cs typeface="Arial"/>
              </a:defRPr>
            </a:lvl7pPr>
            <a:lvl8pPr>
              <a:defRPr sz="1950" b="1">
                <a:solidFill>
                  <a:srgbClr val="172F40"/>
                </a:solidFill>
                <a:latin typeface="Arial"/>
                <a:ea typeface="Arial"/>
                <a:cs typeface="Arial"/>
              </a:defRPr>
            </a:lvl8pPr>
            <a:lvl9pPr>
              <a:defRPr sz="1950" b="1">
                <a:solidFill>
                  <a:srgbClr val="172F40"/>
                </a:solidFill>
                <a:latin typeface="Arial"/>
                <a:ea typeface="Arial"/>
                <a:cs typeface="Arial"/>
              </a:defRPr>
            </a:lvl9pPr>
          </a:lstStyle>
          <a:p xmlns:a="http://schemas.openxmlformats.org/drawingml/2006/main">
            <a:pPr>
              <a:defRPr sz="1950" b="1">
                <a:solidFill>
                  <a:srgbClr val="172F40"/>
                </a:solidFill>
                <a:latin typeface="Arial"/>
                <a:ea typeface="Arial"/>
                <a:cs typeface="Arial"/>
              </a:defRPr>
            </a:pPr>
            <a:r>
              <a:rPr sz="1950" b="1">
                <a:solidFill>
                  <a:srgbClr val="172F40"/>
                </a:solidFill>
                <a:latin typeface="Arial"/>
                <a:ea typeface="Arial"/>
                <a:cs typeface="Arial"/>
              </a:rPr>
              <a:t>Selected training MRR  0.20386</a:t>
            </a:r>
          </a:p>
          <a:p xmlns:a="http://schemas.openxmlformats.org/drawingml/2006/main">
            <a:pPr>
              <a:defRPr sz="1950" b="1">
                <a:solidFill>
                  <a:srgbClr val="172F40"/>
                </a:solidFill>
                <a:latin typeface="Arial"/>
                <a:ea typeface="Arial"/>
                <a:cs typeface="Arial"/>
              </a:defRPr>
            </a:pPr>
            <a:r>
              <a:rPr sz="1950" b="1">
                <a:solidFill>
                  <a:srgbClr val="172F40"/>
                </a:solidFill>
                <a:latin typeface="Arial"/>
                <a:ea typeface="Arial"/>
                <a:cs typeface="Arial"/>
              </a:rPr>
              <a:t>Validation MRR  0.02180</a:t>
            </a:r>
          </a:p>
        </p:txBody>
      </p:sp>
      <p:sp>
        <p:nvSpPr>
          <p:cNvPr id="5" name="">
            <a:extLst xmlns:a="http://schemas.openxmlformats.org/drawingml/2006/main">
              <a:ext uri="{FF2B5EF4-FFF2-40B4-BE49-F238E27FC236}">
                <a16:creationId xmlns:a16="http://schemas.microsoft.com/office/drawing/2014/main" id="{66D8E2E2-D92F-4142-ADAE-AE692C80A7E6}"/>
              </a:ext>
            </a:extLst>
          </p:cNvPr>
          <p:cNvSpPr>
            <a:spLocks xmlns:a="http://schemas.openxmlformats.org/drawingml/2006/main" noGrp="1"/>
          </p:cNvSpPr>
          <p:nvPr/>
        </p:nvSpPr>
        <p:spPr>
          <a:xfrm xmlns:a="http://schemas.openxmlformats.org/drawingml/2006/main">
            <a:off x="8143875" y="2857500"/>
            <a:ext cx="3524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F40"/>
                </a:solidFill>
                <a:latin typeface="Arial"/>
                <a:ea typeface="Arial"/>
                <a:cs typeface="Arial"/>
              </a:defRPr>
            </a:defPPr>
            <a:lvl1pPr>
              <a:defRPr sz="1875" b="0">
                <a:solidFill>
                  <a:srgbClr val="172F40"/>
                </a:solidFill>
                <a:latin typeface="Arial"/>
                <a:ea typeface="Arial"/>
                <a:cs typeface="Arial"/>
              </a:defRPr>
            </a:lvl1pPr>
            <a:lvl2pPr>
              <a:defRPr sz="1875" b="0">
                <a:solidFill>
                  <a:srgbClr val="172F40"/>
                </a:solidFill>
                <a:latin typeface="Arial"/>
                <a:ea typeface="Arial"/>
                <a:cs typeface="Arial"/>
              </a:defRPr>
            </a:lvl2pPr>
            <a:lvl3pPr>
              <a:defRPr sz="1875" b="0">
                <a:solidFill>
                  <a:srgbClr val="172F40"/>
                </a:solidFill>
                <a:latin typeface="Arial"/>
                <a:ea typeface="Arial"/>
                <a:cs typeface="Arial"/>
              </a:defRPr>
            </a:lvl3pPr>
            <a:lvl4pPr>
              <a:defRPr sz="1875" b="0">
                <a:solidFill>
                  <a:srgbClr val="172F40"/>
                </a:solidFill>
                <a:latin typeface="Arial"/>
                <a:ea typeface="Arial"/>
                <a:cs typeface="Arial"/>
              </a:defRPr>
            </a:lvl4pPr>
            <a:lvl5pPr>
              <a:defRPr sz="1875" b="0">
                <a:solidFill>
                  <a:srgbClr val="172F40"/>
                </a:solidFill>
                <a:latin typeface="Arial"/>
                <a:ea typeface="Arial"/>
                <a:cs typeface="Arial"/>
              </a:defRPr>
            </a:lvl5pPr>
            <a:lvl6pPr>
              <a:defRPr sz="1875" b="0">
                <a:solidFill>
                  <a:srgbClr val="172F40"/>
                </a:solidFill>
                <a:latin typeface="Arial"/>
                <a:ea typeface="Arial"/>
                <a:cs typeface="Arial"/>
              </a:defRPr>
            </a:lvl6pPr>
            <a:lvl7pPr>
              <a:defRPr sz="1875" b="0">
                <a:solidFill>
                  <a:srgbClr val="172F40"/>
                </a:solidFill>
                <a:latin typeface="Arial"/>
                <a:ea typeface="Arial"/>
                <a:cs typeface="Arial"/>
              </a:defRPr>
            </a:lvl7pPr>
            <a:lvl8pPr>
              <a:defRPr sz="1875" b="0">
                <a:solidFill>
                  <a:srgbClr val="172F40"/>
                </a:solidFill>
                <a:latin typeface="Arial"/>
                <a:ea typeface="Arial"/>
                <a:cs typeface="Arial"/>
              </a:defRPr>
            </a:lvl8pPr>
            <a:lvl9pPr>
              <a:defRPr sz="1875" b="0">
                <a:solidFill>
                  <a:srgbClr val="172F40"/>
                </a:solidFill>
                <a:latin typeface="Arial"/>
                <a:ea typeface="Arial"/>
                <a:cs typeface="Arial"/>
              </a:defRPr>
            </a:lvl9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 confirmed graph, ordering or loss implementation defect</a:t>
            </a:r>
          </a:p>
          <a:p xmlns:a="http://schemas.openxmlformats.org/drawingml/2006/main">
            <a:r>
              <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No complete embedding collapse</a:t>
            </a:r>
          </a:p>
          <a:p xmlns:a="http://schemas.openxmlformats.org/drawingml/2006/main">
            <a:r>
              <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Weak generalization is the leading explanation</a:t>
            </a:r>
          </a:p>
        </p:txBody>
      </p:sp>
      <p:sp>
        <p:nvSpPr>
          <p:cNvPr id="6" name="">
            <a:extLst xmlns:a="http://schemas.openxmlformats.org/drawingml/2006/main">
              <a:ext uri="{FF2B5EF4-FFF2-40B4-BE49-F238E27FC236}">
                <a16:creationId xmlns:a16="http://schemas.microsoft.com/office/drawing/2014/main" id="{B0B920AA-74E8-4AF5-9E82-1CE78682DAA9}"/>
              </a:ext>
            </a:extLst>
          </p:cNvPr>
          <p:cNvSpPr>
            <a:spLocks xmlns:a="http://schemas.openxmlformats.org/drawingml/2006/main" noGrp="1"/>
          </p:cNvSpPr>
          <p:nvPr/>
        </p:nvSpPr>
        <p:spPr>
          <a:xfrm xmlns:a="http://schemas.openxmlformats.org/drawingml/2006/main">
            <a:off x="533400" y="590550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72F40"/>
                </a:solidFill>
                <a:latin typeface="Arial"/>
                <a:ea typeface="Arial"/>
                <a:cs typeface="Arial"/>
              </a:defRPr>
            </a:defPPr>
            <a:lvl1pPr>
              <a:defRPr sz="1800" b="0">
                <a:solidFill>
                  <a:srgbClr val="172F40"/>
                </a:solidFill>
                <a:latin typeface="Arial"/>
                <a:ea typeface="Arial"/>
                <a:cs typeface="Arial"/>
              </a:defRPr>
            </a:lvl1pPr>
            <a:lvl2pPr>
              <a:defRPr sz="1800" b="0">
                <a:solidFill>
                  <a:srgbClr val="172F40"/>
                </a:solidFill>
                <a:latin typeface="Arial"/>
                <a:ea typeface="Arial"/>
                <a:cs typeface="Arial"/>
              </a:defRPr>
            </a:lvl2pPr>
            <a:lvl3pPr>
              <a:defRPr sz="1800" b="0">
                <a:solidFill>
                  <a:srgbClr val="172F40"/>
                </a:solidFill>
                <a:latin typeface="Arial"/>
                <a:ea typeface="Arial"/>
                <a:cs typeface="Arial"/>
              </a:defRPr>
            </a:lvl3pPr>
            <a:lvl4pPr>
              <a:defRPr sz="1800" b="0">
                <a:solidFill>
                  <a:srgbClr val="172F40"/>
                </a:solidFill>
                <a:latin typeface="Arial"/>
                <a:ea typeface="Arial"/>
                <a:cs typeface="Arial"/>
              </a:defRPr>
            </a:lvl4pPr>
            <a:lvl5pPr>
              <a:defRPr sz="1800" b="0">
                <a:solidFill>
                  <a:srgbClr val="172F40"/>
                </a:solidFill>
                <a:latin typeface="Arial"/>
                <a:ea typeface="Arial"/>
                <a:cs typeface="Arial"/>
              </a:defRPr>
            </a:lvl5pPr>
            <a:lvl6pPr>
              <a:defRPr sz="1800" b="0">
                <a:solidFill>
                  <a:srgbClr val="172F40"/>
                </a:solidFill>
                <a:latin typeface="Arial"/>
                <a:ea typeface="Arial"/>
                <a:cs typeface="Arial"/>
              </a:defRPr>
            </a:lvl6pPr>
            <a:lvl7pPr>
              <a:defRPr sz="1800" b="0">
                <a:solidFill>
                  <a:srgbClr val="172F40"/>
                </a:solidFill>
                <a:latin typeface="Arial"/>
                <a:ea typeface="Arial"/>
                <a:cs typeface="Arial"/>
              </a:defRPr>
            </a:lvl7pPr>
            <a:lvl8pPr>
              <a:defRPr sz="1800" b="0">
                <a:solidFill>
                  <a:srgbClr val="172F40"/>
                </a:solidFill>
                <a:latin typeface="Arial"/>
                <a:ea typeface="Arial"/>
                <a:cs typeface="Arial"/>
              </a:defRPr>
            </a:lvl8pPr>
            <a:lvl9pPr>
              <a:defRPr sz="1800" b="0">
                <a:solidFill>
                  <a:srgbClr val="172F40"/>
                </a:solidFill>
                <a:latin typeface="Arial"/>
                <a:ea typeface="Arial"/>
                <a:cs typeface="Arial"/>
              </a:defRPr>
            </a:lvl9pPr>
          </a:lstStyle>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Removing messages under fixed trained weights reduced validation MRR to 0.01319</a:t>
            </a:r>
          </a:p>
        </p:txBody>
      </p:sp>
    </p:spTree>
    <p:extLst>
      <p:ext uri="{BB962C8B-B14F-4D97-AF65-F5344CB8AC3E}">
        <p14:creationId xmlns:p14="http://schemas.microsoft.com/office/powerpoint/2010/main" val="12519063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E888D8F9-4F5B-4233-9855-D613435638D8}"/>
              </a:ext>
            </a:extLst>
          </p:cNvPr>
          <p:cNvCxnSpPr>
            <a:stCxn xmlns:a="http://schemas.openxmlformats.org/drawingml/2006/main" id="7" idx="3"/>
            <a:endCxn xmlns:a="http://schemas.openxmlformats.org/drawingml/2006/main" id="8" idx="1"/>
          </p:cNvCxnSpPr>
          <p:nvPr/>
        </p:nvCxnSpPr>
        <p:spPr>
          <a:xfrm xmlns:a="http://schemas.openxmlformats.org/drawingml/2006/main">
            <a:off x="9315450" y="2562225"/>
            <a:ext cx="323850" cy="0"/>
          </a:xfrm>
          <a:prstGeom xmlns:a="http://schemas.openxmlformats.org/drawingml/2006/main" prst="straightConnector1">
            <a:avLst/>
          </a:prstGeom>
          <a:ln xmlns:a="http://schemas.openxmlformats.org/drawingml/2006/main" w="19050">
            <a:solidFill>
              <a:srgbClr val="246684"/>
            </a:solidFill>
            <a:tailEnd type="arrow" w="med" len="med"/>
          </a:ln>
        </p:spPr>
      </p:cxnSp>
      <p:cxnSp>
        <p:nvCxnSpPr>
          <p:cNvPr id="11" name="">
            <a:extLst xmlns:a="http://schemas.openxmlformats.org/drawingml/2006/main">
              <a:ext uri="{FF2B5EF4-FFF2-40B4-BE49-F238E27FC236}">
                <a16:creationId xmlns:a16="http://schemas.microsoft.com/office/drawing/2014/main" id="{6B5A88E3-2B16-4FD6-B9DC-DA1022B0F88C}"/>
              </a:ext>
            </a:extLst>
          </p:cNvPr>
          <p:cNvCxnSpPr>
            <a:stCxn xmlns:a="http://schemas.openxmlformats.org/drawingml/2006/main" id="6" idx="3"/>
            <a:endCxn xmlns:a="http://schemas.openxmlformats.org/drawingml/2006/main" id="7" idx="1"/>
          </p:cNvCxnSpPr>
          <p:nvPr/>
        </p:nvCxnSpPr>
        <p:spPr>
          <a:xfrm xmlns:a="http://schemas.openxmlformats.org/drawingml/2006/main">
            <a:off x="7038975" y="2562225"/>
            <a:ext cx="323850" cy="0"/>
          </a:xfrm>
          <a:prstGeom xmlns:a="http://schemas.openxmlformats.org/drawingml/2006/main" prst="straightConnector1">
            <a:avLst/>
          </a:prstGeom>
          <a:ln xmlns:a="http://schemas.openxmlformats.org/drawingml/2006/main" w="19050">
            <a:solidFill>
              <a:srgbClr val="246684"/>
            </a:solidFill>
            <a:tailEnd type="arrow" w="med" len="med"/>
          </a:ln>
        </p:spPr>
      </p:cxnSp>
      <p:cxnSp>
        <p:nvCxnSpPr>
          <p:cNvPr id="10" name="">
            <a:extLst xmlns:a="http://schemas.openxmlformats.org/drawingml/2006/main">
              <a:ext uri="{FF2B5EF4-FFF2-40B4-BE49-F238E27FC236}">
                <a16:creationId xmlns:a16="http://schemas.microsoft.com/office/drawing/2014/main" id="{D7EFA4AC-4B24-42D0-8E51-7B3C58C1F594}"/>
              </a:ext>
            </a:extLst>
          </p:cNvPr>
          <p:cNvCxnSpPr>
            <a:stCxn xmlns:a="http://schemas.openxmlformats.org/drawingml/2006/main" id="5" idx="3"/>
            <a:endCxn xmlns:a="http://schemas.openxmlformats.org/drawingml/2006/main" id="6" idx="1"/>
          </p:cNvCxnSpPr>
          <p:nvPr/>
        </p:nvCxnSpPr>
        <p:spPr>
          <a:xfrm xmlns:a="http://schemas.openxmlformats.org/drawingml/2006/main">
            <a:off x="4762500" y="2562225"/>
            <a:ext cx="323850" cy="0"/>
          </a:xfrm>
          <a:prstGeom xmlns:a="http://schemas.openxmlformats.org/drawingml/2006/main" prst="straightConnector1">
            <a:avLst/>
          </a:prstGeom>
          <a:ln xmlns:a="http://schemas.openxmlformats.org/drawingml/2006/main" w="19050">
            <a:solidFill>
              <a:srgbClr val="246684"/>
            </a:solidFill>
            <a:tailEnd type="arrow" w="med" len="med"/>
          </a:ln>
        </p:spPr>
      </p:cxnSp>
      <p:cxnSp>
        <p:nvCxnSpPr>
          <p:cNvPr id="9" name="">
            <a:extLst xmlns:a="http://schemas.openxmlformats.org/drawingml/2006/main">
              <a:ext uri="{FF2B5EF4-FFF2-40B4-BE49-F238E27FC236}">
                <a16:creationId xmlns:a16="http://schemas.microsoft.com/office/drawing/2014/main" id="{78CB4910-11CA-4063-90F5-F5EAF4FEE2C6}"/>
              </a:ext>
            </a:extLst>
          </p:cNvPr>
          <p:cNvCxnSpPr>
            <a:stCxn xmlns:a="http://schemas.openxmlformats.org/drawingml/2006/main" id="4" idx="3"/>
            <a:endCxn xmlns:a="http://schemas.openxmlformats.org/drawingml/2006/main" id="5" idx="1"/>
          </p:cNvCxnSpPr>
          <p:nvPr/>
        </p:nvCxnSpPr>
        <p:spPr>
          <a:xfrm xmlns:a="http://schemas.openxmlformats.org/drawingml/2006/main">
            <a:off x="2295525" y="2562225"/>
            <a:ext cx="514350" cy="0"/>
          </a:xfrm>
          <a:prstGeom xmlns:a="http://schemas.openxmlformats.org/drawingml/2006/main" prst="straightConnector1">
            <a:avLst/>
          </a:prstGeom>
          <a:ln xmlns:a="http://schemas.openxmlformats.org/drawingml/2006/main" w="19050">
            <a:solidFill>
              <a:srgbClr val="246684"/>
            </a:solidFill>
            <a:tailEnd type="arrow" w="med" len="med"/>
          </a:ln>
        </p:spPr>
      </p:cxnSp>
      <p:sp>
        <p:nvSpPr>
          <p:cNvPr id="16" name="">
            <a:extLst xmlns:a="http://schemas.openxmlformats.org/drawingml/2006/main">
              <a:ext uri="{FF2B5EF4-FFF2-40B4-BE49-F238E27FC236}">
                <a16:creationId xmlns:a16="http://schemas.microsoft.com/office/drawing/2014/main" id="{F3CE4DDA-70FA-42A2-8923-1823F682B979}"/>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Final MiniLM plus GraphRAG application</a:t>
            </a:r>
          </a:p>
        </p:txBody>
      </p:sp>
      <p:sp>
        <p:nvSpPr>
          <p:cNvPr id="2" name="">
            <a:extLst xmlns:a="http://schemas.openxmlformats.org/drawingml/2006/main">
              <a:ext uri="{FF2B5EF4-FFF2-40B4-BE49-F238E27FC236}">
                <a16:creationId xmlns:a16="http://schemas.microsoft.com/office/drawing/2014/main" id="{6EA6ADA9-1A36-4752-8DD3-07D95449D78C}"/>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9   Implemented demo_v2 path and separate experimental GNN lane</a:t>
            </a:r>
          </a:p>
        </p:txBody>
      </p:sp>
      <p:sp>
        <p:nvSpPr>
          <p:cNvPr id="3" name="">
            <a:extLst xmlns:a="http://schemas.openxmlformats.org/drawingml/2006/main">
              <a:ext uri="{FF2B5EF4-FFF2-40B4-BE49-F238E27FC236}">
                <a16:creationId xmlns:a16="http://schemas.microsoft.com/office/drawing/2014/main" id="{1EADB3E6-FE1D-48FB-B59A-744B2D630E4F}"/>
              </a:ext>
            </a:extLst>
          </p:cNvPr>
          <p:cNvSpPr>
            <a:spLocks xmlns:a="http://schemas.openxmlformats.org/drawingml/2006/main" noGrp="1"/>
          </p:cNvSpPr>
          <p:nvPr/>
        </p:nvSpPr>
        <p:spPr>
          <a:xfrm xmlns:a="http://schemas.openxmlformats.org/drawingml/2006/main">
            <a:off x="533400" y="1285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246684"/>
                </a:solidFill>
                <a:latin typeface="Arial"/>
                <a:ea typeface="Arial"/>
                <a:cs typeface="Arial"/>
              </a:defRPr>
            </a:defPPr>
            <a:lvl1pPr>
              <a:defRPr sz="1650" b="1">
                <a:solidFill>
                  <a:srgbClr val="246684"/>
                </a:solidFill>
                <a:latin typeface="Arial"/>
                <a:ea typeface="Arial"/>
                <a:cs typeface="Arial"/>
              </a:defRPr>
            </a:lvl1pPr>
            <a:lvl2pPr>
              <a:defRPr sz="1650" b="1">
                <a:solidFill>
                  <a:srgbClr val="246684"/>
                </a:solidFill>
                <a:latin typeface="Arial"/>
                <a:ea typeface="Arial"/>
                <a:cs typeface="Arial"/>
              </a:defRPr>
            </a:lvl2pPr>
            <a:lvl3pPr>
              <a:defRPr sz="1650" b="1">
                <a:solidFill>
                  <a:srgbClr val="246684"/>
                </a:solidFill>
                <a:latin typeface="Arial"/>
                <a:ea typeface="Arial"/>
                <a:cs typeface="Arial"/>
              </a:defRPr>
            </a:lvl3pPr>
            <a:lvl4pPr>
              <a:defRPr sz="1650" b="1">
                <a:solidFill>
                  <a:srgbClr val="246684"/>
                </a:solidFill>
                <a:latin typeface="Arial"/>
                <a:ea typeface="Arial"/>
                <a:cs typeface="Arial"/>
              </a:defRPr>
            </a:lvl4pPr>
            <a:lvl5pPr>
              <a:defRPr sz="1650" b="1">
                <a:solidFill>
                  <a:srgbClr val="246684"/>
                </a:solidFill>
                <a:latin typeface="Arial"/>
                <a:ea typeface="Arial"/>
                <a:cs typeface="Arial"/>
              </a:defRPr>
            </a:lvl5pPr>
            <a:lvl6pPr>
              <a:defRPr sz="1650" b="1">
                <a:solidFill>
                  <a:srgbClr val="246684"/>
                </a:solidFill>
                <a:latin typeface="Arial"/>
                <a:ea typeface="Arial"/>
                <a:cs typeface="Arial"/>
              </a:defRPr>
            </a:lvl6pPr>
            <a:lvl7pPr>
              <a:defRPr sz="1650" b="1">
                <a:solidFill>
                  <a:srgbClr val="246684"/>
                </a:solidFill>
                <a:latin typeface="Arial"/>
                <a:ea typeface="Arial"/>
                <a:cs typeface="Arial"/>
              </a:defRPr>
            </a:lvl7pPr>
            <a:lvl8pPr>
              <a:defRPr sz="1650" b="1">
                <a:solidFill>
                  <a:srgbClr val="246684"/>
                </a:solidFill>
                <a:latin typeface="Arial"/>
                <a:ea typeface="Arial"/>
                <a:cs typeface="Arial"/>
              </a:defRPr>
            </a:lvl8pPr>
            <a:lvl9pPr>
              <a:defRPr sz="1650" b="1">
                <a:solidFill>
                  <a:srgbClr val="246684"/>
                </a:solidFill>
                <a:latin typeface="Arial"/>
                <a:ea typeface="Arial"/>
                <a:cs typeface="Arial"/>
              </a:defRPr>
            </a:lvl9pPr>
          </a:lstStyle>
          <a:p xmlns:a="http://schemas.openxmlformats.org/drawingml/2006/main">
            <a:pPr>
              <a:defRPr sz="1650" b="1">
                <a:solidFill>
                  <a:srgbClr val="246684"/>
                </a:solidFill>
                <a:latin typeface="Arial"/>
                <a:ea typeface="Arial"/>
                <a:cs typeface="Arial"/>
              </a:defRPr>
            </a:pPr>
            <a:r>
              <a:rPr sz="1650" b="1">
                <a:solidFill>
                  <a:srgbClr val="246684"/>
                </a:solidFill>
                <a:latin typeface="Arial"/>
                <a:ea typeface="Arial"/>
                <a:cs typeface="Arial"/>
              </a:rPr>
              <a:t>IMPLEMENTED</a:t>
            </a:r>
          </a:p>
        </p:txBody>
      </p:sp>
      <p:sp>
        <p:nvSpPr>
          <p:cNvPr id="4" name="">
            <a:extLst xmlns:a="http://schemas.openxmlformats.org/drawingml/2006/main">
              <a:ext uri="{FF2B5EF4-FFF2-40B4-BE49-F238E27FC236}">
                <a16:creationId xmlns:a16="http://schemas.microsoft.com/office/drawing/2014/main" id="{55BC075B-CBF7-4044-A9E1-C869F8968273}"/>
              </a:ext>
            </a:extLst>
          </p:cNvPr>
          <p:cNvSpPr>
            <a:spLocks xmlns:a="http://schemas.openxmlformats.org/drawingml/2006/main" noGrp="1"/>
          </p:cNvSpPr>
          <p:nvPr/>
        </p:nvSpPr>
        <p:spPr>
          <a:xfrm xmlns:a="http://schemas.openxmlformats.org/drawingml/2006/main">
            <a:off x="533400" y="2000250"/>
            <a:ext cx="1762125" cy="112395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User question</a:t>
            </a:r>
          </a:p>
        </p:txBody>
      </p:sp>
      <p:sp>
        <p:nvSpPr>
          <p:cNvPr id="5" name="">
            <a:extLst xmlns:a="http://schemas.openxmlformats.org/drawingml/2006/main">
              <a:ext uri="{FF2B5EF4-FFF2-40B4-BE49-F238E27FC236}">
                <a16:creationId xmlns:a16="http://schemas.microsoft.com/office/drawing/2014/main" id="{D186F0A2-0D42-42C8-9A2D-751C30019585}"/>
              </a:ext>
            </a:extLst>
          </p:cNvPr>
          <p:cNvSpPr>
            <a:spLocks xmlns:a="http://schemas.openxmlformats.org/drawingml/2006/main" noGrp="1"/>
          </p:cNvSpPr>
          <p:nvPr/>
        </p:nvSpPr>
        <p:spPr>
          <a:xfrm xmlns:a="http://schemas.openxmlformats.org/drawingml/2006/main">
            <a:off x="2809875" y="2000250"/>
            <a:ext cx="1952625" cy="112395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Exact NCT</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or MiniLM candidates</a:t>
            </a:r>
          </a:p>
        </p:txBody>
      </p:sp>
      <p:sp>
        <p:nvSpPr>
          <p:cNvPr id="6" name="">
            <a:extLst xmlns:a="http://schemas.openxmlformats.org/drawingml/2006/main">
              <a:ext uri="{FF2B5EF4-FFF2-40B4-BE49-F238E27FC236}">
                <a16:creationId xmlns:a16="http://schemas.microsoft.com/office/drawing/2014/main" id="{F58457A8-3DDA-4E4C-9A90-B08EBB36C6F6}"/>
              </a:ext>
            </a:extLst>
          </p:cNvPr>
          <p:cNvSpPr>
            <a:spLocks xmlns:a="http://schemas.openxmlformats.org/drawingml/2006/main" noGrp="1"/>
          </p:cNvSpPr>
          <p:nvPr/>
        </p:nvSpPr>
        <p:spPr>
          <a:xfrm xmlns:a="http://schemas.openxmlformats.org/drawingml/2006/main">
            <a:off x="5086350" y="2000250"/>
            <a:ext cx="1952625" cy="112395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Read-only</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Neo4j evidence</a:t>
            </a:r>
          </a:p>
        </p:txBody>
      </p:sp>
      <p:sp>
        <p:nvSpPr>
          <p:cNvPr id="7" name="">
            <a:extLst xmlns:a="http://schemas.openxmlformats.org/drawingml/2006/main">
              <a:ext uri="{FF2B5EF4-FFF2-40B4-BE49-F238E27FC236}">
                <a16:creationId xmlns:a16="http://schemas.microsoft.com/office/drawing/2014/main" id="{851BAE67-C654-4558-BCC1-C1387728919E}"/>
              </a:ext>
            </a:extLst>
          </p:cNvPr>
          <p:cNvSpPr>
            <a:spLocks xmlns:a="http://schemas.openxmlformats.org/drawingml/2006/main" noGrp="1"/>
          </p:cNvSpPr>
          <p:nvPr/>
        </p:nvSpPr>
        <p:spPr>
          <a:xfrm xmlns:a="http://schemas.openxmlformats.org/drawingml/2006/main">
            <a:off x="7362825" y="2000250"/>
            <a:ext cx="1952625" cy="112395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Citation and</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completeness checks</a:t>
            </a:r>
          </a:p>
        </p:txBody>
      </p:sp>
      <p:sp>
        <p:nvSpPr>
          <p:cNvPr id="8" name="">
            <a:extLst xmlns:a="http://schemas.openxmlformats.org/drawingml/2006/main">
              <a:ext uri="{FF2B5EF4-FFF2-40B4-BE49-F238E27FC236}">
                <a16:creationId xmlns:a16="http://schemas.microsoft.com/office/drawing/2014/main" id="{27824DE9-4F66-4BEB-BF40-2F4E89E7E6FD}"/>
              </a:ext>
            </a:extLst>
          </p:cNvPr>
          <p:cNvSpPr>
            <a:spLocks xmlns:a="http://schemas.openxmlformats.org/drawingml/2006/main" noGrp="1"/>
          </p:cNvSpPr>
          <p:nvPr/>
        </p:nvSpPr>
        <p:spPr>
          <a:xfrm xmlns:a="http://schemas.openxmlformats.org/drawingml/2006/main">
            <a:off x="9639300" y="2000250"/>
            <a:ext cx="1952625" cy="1123950"/>
          </a:xfrm>
          <a:prstGeom xmlns:a="http://schemas.openxmlformats.org/drawingml/2006/main" prst="rect">
            <a:avLst/>
          </a:prstGeom>
          <a:solidFill xmlns:a="http://schemas.openxmlformats.org/drawingml/2006/main">
            <a:srgbClr val="EFF5F7"/>
          </a:solidFill>
          <a:ln xmlns:a="http://schemas.openxmlformats.org/drawingml/2006/main" w="14288">
            <a:solidFill>
              <a:srgbClr val="246684"/>
            </a:solidFill>
          </a:ln>
        </p:spPr>
        <p:txBody>
          <a:bodyPr xmlns:a="http://schemas.openxmlformats.org/drawingml/2006/main" anchor="ctr"/>
          <a:lstStyle xmlns:a="http://schemas.openxmlformats.org/drawingml/2006/main">
            <a:defPPr algn="ctr">
              <a:defRPr sz="1725" b="1">
                <a:solidFill>
                  <a:srgbClr val="172F40"/>
                </a:solidFill>
                <a:latin typeface="Arial"/>
                <a:ea typeface="Arial"/>
                <a:cs typeface="Arial"/>
              </a:defRPr>
            </a:defPPr>
            <a:lvl1pPr algn="ctr">
              <a:defRPr sz="1725" b="1">
                <a:solidFill>
                  <a:srgbClr val="172F40"/>
                </a:solidFill>
                <a:latin typeface="Arial"/>
                <a:ea typeface="Arial"/>
                <a:cs typeface="Arial"/>
              </a:defRPr>
            </a:lvl1pPr>
            <a:lvl2pPr algn="ctr">
              <a:defRPr sz="1725" b="1">
                <a:solidFill>
                  <a:srgbClr val="172F40"/>
                </a:solidFill>
                <a:latin typeface="Arial"/>
                <a:ea typeface="Arial"/>
                <a:cs typeface="Arial"/>
              </a:defRPr>
            </a:lvl2pPr>
            <a:lvl3pPr algn="ctr">
              <a:defRPr sz="1725" b="1">
                <a:solidFill>
                  <a:srgbClr val="172F40"/>
                </a:solidFill>
                <a:latin typeface="Arial"/>
                <a:ea typeface="Arial"/>
                <a:cs typeface="Arial"/>
              </a:defRPr>
            </a:lvl3pPr>
            <a:lvl4pPr algn="ctr">
              <a:defRPr sz="1725" b="1">
                <a:solidFill>
                  <a:srgbClr val="172F40"/>
                </a:solidFill>
                <a:latin typeface="Arial"/>
                <a:ea typeface="Arial"/>
                <a:cs typeface="Arial"/>
              </a:defRPr>
            </a:lvl4pPr>
            <a:lvl5pPr algn="ctr">
              <a:defRPr sz="1725" b="1">
                <a:solidFill>
                  <a:srgbClr val="172F40"/>
                </a:solidFill>
                <a:latin typeface="Arial"/>
                <a:ea typeface="Arial"/>
                <a:cs typeface="Arial"/>
              </a:defRPr>
            </a:lvl5pPr>
            <a:lvl6pPr algn="ctr">
              <a:defRPr sz="1725" b="1">
                <a:solidFill>
                  <a:srgbClr val="172F40"/>
                </a:solidFill>
                <a:latin typeface="Arial"/>
                <a:ea typeface="Arial"/>
                <a:cs typeface="Arial"/>
              </a:defRPr>
            </a:lvl6pPr>
            <a:lvl7pPr algn="ctr">
              <a:defRPr sz="1725" b="1">
                <a:solidFill>
                  <a:srgbClr val="172F40"/>
                </a:solidFill>
                <a:latin typeface="Arial"/>
                <a:ea typeface="Arial"/>
                <a:cs typeface="Arial"/>
              </a:defRPr>
            </a:lvl7pPr>
            <a:lvl8pPr algn="ctr">
              <a:defRPr sz="1725" b="1">
                <a:solidFill>
                  <a:srgbClr val="172F40"/>
                </a:solidFill>
                <a:latin typeface="Arial"/>
                <a:ea typeface="Arial"/>
                <a:cs typeface="Arial"/>
              </a:defRPr>
            </a:lvl8pPr>
            <a:lvl9pPr algn="ctr">
              <a:defRPr sz="1725" b="1">
                <a:solidFill>
                  <a:srgbClr val="172F40"/>
                </a:solidFill>
                <a:latin typeface="Arial"/>
                <a:ea typeface="Arial"/>
                <a:cs typeface="Arial"/>
              </a:defRPr>
            </a:lvl9pPr>
          </a:lstStyle>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Cited answer</a:t>
            </a:r>
          </a:p>
          <a:p xmlns:a="http://schemas.openxmlformats.org/drawingml/2006/main">
            <a:pPr algn="ctr">
              <a:defRPr sz="1725" b="1">
                <a:solidFill>
                  <a:srgbClr val="172F40"/>
                </a:solidFill>
                <a:latin typeface="Arial"/>
                <a:ea typeface="Arial"/>
                <a:cs typeface="Arial"/>
              </a:defRPr>
            </a:pPr>
            <a:r>
              <a:rPr sz="1725" b="1">
                <a:solidFill>
                  <a:srgbClr val="172F40"/>
                </a:solidFill>
                <a:latin typeface="Arial"/>
                <a:ea typeface="Arial"/>
                <a:cs typeface="Arial"/>
              </a:rPr>
              <a:t>or abstention</a:t>
            </a:r>
          </a:p>
        </p:txBody>
      </p:sp>
      <p:sp>
        <p:nvSpPr>
          <p:cNvPr id="13" name="">
            <a:extLst xmlns:a="http://schemas.openxmlformats.org/drawingml/2006/main">
              <a:ext uri="{FF2B5EF4-FFF2-40B4-BE49-F238E27FC236}">
                <a16:creationId xmlns:a16="http://schemas.microsoft.com/office/drawing/2014/main" id="{61541DD9-1ABD-45A7-85B3-3AA67BFAFAE3}"/>
              </a:ext>
            </a:extLst>
          </p:cNvPr>
          <p:cNvSpPr>
            <a:spLocks xmlns:a="http://schemas.openxmlformats.org/drawingml/2006/main" noGrp="1"/>
          </p:cNvSpPr>
          <p:nvPr/>
        </p:nvSpPr>
        <p:spPr>
          <a:xfrm xmlns:a="http://schemas.openxmlformats.org/drawingml/2006/main">
            <a:off x="533400" y="3619500"/>
            <a:ext cx="11125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Deterministic facts and complete planned-outcome listings use zero model attempts</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Optional Ollama uses a bounded, citation-validated catalog selection</a:t>
            </a:r>
          </a:p>
        </p:txBody>
      </p:sp>
      <p:sp>
        <p:nvSpPr>
          <p:cNvPr id="14" name="">
            <a:extLst xmlns:a="http://schemas.openxmlformats.org/drawingml/2006/main">
              <a:ext uri="{FF2B5EF4-FFF2-40B4-BE49-F238E27FC236}">
                <a16:creationId xmlns:a16="http://schemas.microsoft.com/office/drawing/2014/main" id="{40B2E24D-3B35-4F1F-A6FA-97108351B751}"/>
              </a:ext>
            </a:extLst>
          </p:cNvPr>
          <p:cNvSpPr>
            <a:spLocks xmlns:a="http://schemas.openxmlformats.org/drawingml/2006/main" noGrp="1"/>
          </p:cNvSpPr>
          <p:nvPr/>
        </p:nvSpPr>
        <p:spPr>
          <a:xfrm xmlns:a="http://schemas.openxmlformats.org/drawingml/2006/main">
            <a:off x="533400" y="48577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1">
                <a:solidFill>
                  <a:srgbClr val="8C641F"/>
                </a:solidFill>
                <a:latin typeface="Arial"/>
                <a:ea typeface="Arial"/>
                <a:cs typeface="Arial"/>
              </a:defRPr>
            </a:defPPr>
            <a:lvl1pPr>
              <a:defRPr sz="1650" b="1">
                <a:solidFill>
                  <a:srgbClr val="8C641F"/>
                </a:solidFill>
                <a:latin typeface="Arial"/>
                <a:ea typeface="Arial"/>
                <a:cs typeface="Arial"/>
              </a:defRPr>
            </a:lvl1pPr>
            <a:lvl2pPr>
              <a:defRPr sz="1650" b="1">
                <a:solidFill>
                  <a:srgbClr val="8C641F"/>
                </a:solidFill>
                <a:latin typeface="Arial"/>
                <a:ea typeface="Arial"/>
                <a:cs typeface="Arial"/>
              </a:defRPr>
            </a:lvl2pPr>
            <a:lvl3pPr>
              <a:defRPr sz="1650" b="1">
                <a:solidFill>
                  <a:srgbClr val="8C641F"/>
                </a:solidFill>
                <a:latin typeface="Arial"/>
                <a:ea typeface="Arial"/>
                <a:cs typeface="Arial"/>
              </a:defRPr>
            </a:lvl3pPr>
            <a:lvl4pPr>
              <a:defRPr sz="1650" b="1">
                <a:solidFill>
                  <a:srgbClr val="8C641F"/>
                </a:solidFill>
                <a:latin typeface="Arial"/>
                <a:ea typeface="Arial"/>
                <a:cs typeface="Arial"/>
              </a:defRPr>
            </a:lvl4pPr>
            <a:lvl5pPr>
              <a:defRPr sz="1650" b="1">
                <a:solidFill>
                  <a:srgbClr val="8C641F"/>
                </a:solidFill>
                <a:latin typeface="Arial"/>
                <a:ea typeface="Arial"/>
                <a:cs typeface="Arial"/>
              </a:defRPr>
            </a:lvl5pPr>
            <a:lvl6pPr>
              <a:defRPr sz="1650" b="1">
                <a:solidFill>
                  <a:srgbClr val="8C641F"/>
                </a:solidFill>
                <a:latin typeface="Arial"/>
                <a:ea typeface="Arial"/>
                <a:cs typeface="Arial"/>
              </a:defRPr>
            </a:lvl6pPr>
            <a:lvl7pPr>
              <a:defRPr sz="1650" b="1">
                <a:solidFill>
                  <a:srgbClr val="8C641F"/>
                </a:solidFill>
                <a:latin typeface="Arial"/>
                <a:ea typeface="Arial"/>
                <a:cs typeface="Arial"/>
              </a:defRPr>
            </a:lvl7pPr>
            <a:lvl8pPr>
              <a:defRPr sz="1650" b="1">
                <a:solidFill>
                  <a:srgbClr val="8C641F"/>
                </a:solidFill>
                <a:latin typeface="Arial"/>
                <a:ea typeface="Arial"/>
                <a:cs typeface="Arial"/>
              </a:defRPr>
            </a:lvl8pPr>
            <a:lvl9pPr>
              <a:defRPr sz="1650" b="1">
                <a:solidFill>
                  <a:srgbClr val="8C641F"/>
                </a:solidFill>
                <a:latin typeface="Arial"/>
                <a:ea typeface="Arial"/>
                <a:cs typeface="Arial"/>
              </a:defRPr>
            </a:lvl9pPr>
          </a:lstStyle>
          <a:p xmlns:a="http://schemas.openxmlformats.org/drawingml/2006/main">
            <a:pPr>
              <a:defRPr sz="1650" b="1">
                <a:solidFill>
                  <a:srgbClr val="8C641F"/>
                </a:solidFill>
                <a:latin typeface="Arial"/>
                <a:ea typeface="Arial"/>
                <a:cs typeface="Arial"/>
              </a:defRPr>
            </a:pPr>
            <a:r>
              <a:rPr sz="1650" b="1">
                <a:solidFill>
                  <a:srgbClr val="8C641F"/>
                </a:solidFill>
                <a:latin typeface="Arial"/>
                <a:ea typeface="Arial"/>
                <a:cs typeface="Arial"/>
              </a:rPr>
              <a:t>EXPERIMENTAL</a:t>
            </a:r>
          </a:p>
        </p:txBody>
      </p:sp>
      <p:sp>
        <p:nvSpPr>
          <p:cNvPr id="15" name="">
            <a:extLst xmlns:a="http://schemas.openxmlformats.org/drawingml/2006/main">
              <a:ext uri="{FF2B5EF4-FFF2-40B4-BE49-F238E27FC236}">
                <a16:creationId xmlns:a16="http://schemas.microsoft.com/office/drawing/2014/main" id="{EEFA5D48-1C64-4435-B2F0-36BCC131097E}"/>
              </a:ext>
            </a:extLst>
          </p:cNvPr>
          <p:cNvSpPr>
            <a:spLocks xmlns:a="http://schemas.openxmlformats.org/drawingml/2006/main" noGrp="1"/>
          </p:cNvSpPr>
          <p:nvPr/>
        </p:nvSpPr>
        <p:spPr>
          <a:xfrm xmlns:a="http://schemas.openxmlformats.org/drawingml/2006/main">
            <a:off x="533400" y="5334000"/>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F40"/>
                </a:solidFill>
                <a:latin typeface="Arial"/>
                <a:ea typeface="Arial"/>
                <a:cs typeface="Arial"/>
              </a:defRPr>
            </a:defPPr>
            <a:lvl1pPr>
              <a:defRPr sz="1875" b="0">
                <a:solidFill>
                  <a:srgbClr val="172F40"/>
                </a:solidFill>
                <a:latin typeface="Arial"/>
                <a:ea typeface="Arial"/>
                <a:cs typeface="Arial"/>
              </a:defRPr>
            </a:lvl1pPr>
            <a:lvl2pPr>
              <a:defRPr sz="1875" b="0">
                <a:solidFill>
                  <a:srgbClr val="172F40"/>
                </a:solidFill>
                <a:latin typeface="Arial"/>
                <a:ea typeface="Arial"/>
                <a:cs typeface="Arial"/>
              </a:defRPr>
            </a:lvl2pPr>
            <a:lvl3pPr>
              <a:defRPr sz="1875" b="0">
                <a:solidFill>
                  <a:srgbClr val="172F40"/>
                </a:solidFill>
                <a:latin typeface="Arial"/>
                <a:ea typeface="Arial"/>
                <a:cs typeface="Arial"/>
              </a:defRPr>
            </a:lvl3pPr>
            <a:lvl4pPr>
              <a:defRPr sz="1875" b="0">
                <a:solidFill>
                  <a:srgbClr val="172F40"/>
                </a:solidFill>
                <a:latin typeface="Arial"/>
                <a:ea typeface="Arial"/>
                <a:cs typeface="Arial"/>
              </a:defRPr>
            </a:lvl4pPr>
            <a:lvl5pPr>
              <a:defRPr sz="1875" b="0">
                <a:solidFill>
                  <a:srgbClr val="172F40"/>
                </a:solidFill>
                <a:latin typeface="Arial"/>
                <a:ea typeface="Arial"/>
                <a:cs typeface="Arial"/>
              </a:defRPr>
            </a:lvl5pPr>
            <a:lvl6pPr>
              <a:defRPr sz="1875" b="0">
                <a:solidFill>
                  <a:srgbClr val="172F40"/>
                </a:solidFill>
                <a:latin typeface="Arial"/>
                <a:ea typeface="Arial"/>
                <a:cs typeface="Arial"/>
              </a:defRPr>
            </a:lvl6pPr>
            <a:lvl7pPr>
              <a:defRPr sz="1875" b="0">
                <a:solidFill>
                  <a:srgbClr val="172F40"/>
                </a:solidFill>
                <a:latin typeface="Arial"/>
                <a:ea typeface="Arial"/>
                <a:cs typeface="Arial"/>
              </a:defRPr>
            </a:lvl7pPr>
            <a:lvl8pPr>
              <a:defRPr sz="1875" b="0">
                <a:solidFill>
                  <a:srgbClr val="172F40"/>
                </a:solidFill>
                <a:latin typeface="Arial"/>
                <a:ea typeface="Arial"/>
                <a:cs typeface="Arial"/>
              </a:defRPr>
            </a:lvl8pPr>
            <a:lvl9pPr>
              <a:defRPr sz="1875" b="0">
                <a:solidFill>
                  <a:srgbClr val="172F40"/>
                </a:solidFill>
                <a:latin typeface="Arial"/>
                <a:ea typeface="Arial"/>
                <a:cs typeface="Arial"/>
              </a:defRPr>
            </a:lvl9pPr>
          </a:lstStyle>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GraphSAGE ranking could propose NCT candidates before the same authoritative evidence gate.</a:t>
            </a:r>
          </a:p>
          <a:p xmlns:a="http://schemas.openxmlformats.org/drawingml/2006/main">
            <a:pPr>
              <a:defRPr sz="1875" b="0">
                <a:solidFill>
                  <a:srgbClr val="172F40"/>
                </a:solidFill>
                <a:latin typeface="Arial"/>
                <a:ea typeface="Arial"/>
                <a:cs typeface="Arial"/>
              </a:defRPr>
            </a:pPr>
            <a:r>
              <a:rPr sz="1875" b="0">
                <a:solidFill>
                  <a:srgbClr val="172F40"/>
                </a:solidFill>
                <a:latin typeface="Arial"/>
                <a:ea typeface="Arial"/>
                <a:cs typeface="Arial"/>
              </a:rPr>
              <a:t>The trained GraphSAGE checkpoint is not used by the final application.</a:t>
            </a:r>
          </a:p>
        </p:txBody>
      </p:sp>
    </p:spTree>
    <p:extLst>
      <p:ext uri="{BB962C8B-B14F-4D97-AF65-F5344CB8AC3E}">
        <p14:creationId xmlns:p14="http://schemas.microsoft.com/office/powerpoint/2010/main" val="9188604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27B662-64F3-4551-B812-40023F15C477}"/>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Verified demonstration cases</a:t>
            </a:r>
          </a:p>
        </p:txBody>
      </p:sp>
      <p:sp>
        <p:nvSpPr>
          <p:cNvPr id="2" name="">
            <a:extLst xmlns:a="http://schemas.openxmlformats.org/drawingml/2006/main">
              <a:ext uri="{FF2B5EF4-FFF2-40B4-BE49-F238E27FC236}">
                <a16:creationId xmlns:a16="http://schemas.microsoft.com/office/drawing/2014/main" id="{F77A76D7-C738-4D10-ABD0-D787DCB50987}"/>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10   Saved live smoke traces and authentic October 25 browser captures</a:t>
            </a:r>
          </a:p>
        </p:txBody>
      </p:sp>
      <p:pic>
        <p:nvPicPr>
          <p:cNvPr id="3" name="">
            <a:extLst xmlns:a="http://schemas.openxmlformats.org/drawingml/2006/main">
              <a:ext uri="{FF2B5EF4-FFF2-40B4-BE49-F238E27FC236}">
                <a16:creationId xmlns:a16="http://schemas.microsoft.com/office/drawing/2014/main" id="{85AD57F0-930B-4518-9098-9D7B1841E0CE}"/>
              </a:ext>
            </a:extLst>
          </p:cNvPr>
          <p:cNvPicPr>
            <a:picLocks xmlns:a="http://schemas.openxmlformats.org/drawingml/2006/main" noChangeAspect="1"/>
          </p:cNvPicPr>
          <p:nvPr/>
        </p:nvPicPr>
        <p:blipFill>
          <a:blip xmlns:r="http://schemas.openxmlformats.org/officeDocument/2006/relationships" xmlns:a="http://schemas.openxmlformats.org/drawingml/2006/main" r:embed="R422bbb649c744b54"/>
          <a:stretch xmlns:a="http://schemas.openxmlformats.org/drawingml/2006/main"/>
        </p:blipFill>
        <p:spPr>
          <a:xfrm xmlns:a="http://schemas.openxmlformats.org/drawingml/2006/main">
            <a:off x="533400" y="1143142"/>
            <a:ext cx="4429125" cy="490509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411177-4F4D-4ECB-8410-6D49C5AB215F}"/>
              </a:ext>
            </a:extLst>
          </p:cNvPr>
          <p:cNvSpPr>
            <a:spLocks xmlns:a="http://schemas.openxmlformats.org/drawingml/2006/main" noGrp="1"/>
          </p:cNvSpPr>
          <p:nvPr/>
        </p:nvSpPr>
        <p:spPr>
          <a:xfrm xmlns:a="http://schemas.openxmlformats.org/drawingml/2006/main">
            <a:off x="5524500" y="1285875"/>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172F40"/>
                </a:solidFill>
                <a:latin typeface="Arial"/>
                <a:ea typeface="Arial"/>
                <a:cs typeface="Arial"/>
              </a:defRPr>
            </a:defPPr>
            <a:lvl1pPr>
              <a:defRPr sz="2250" b="1">
                <a:solidFill>
                  <a:srgbClr val="172F40"/>
                </a:solidFill>
                <a:latin typeface="Arial"/>
                <a:ea typeface="Arial"/>
                <a:cs typeface="Arial"/>
              </a:defRPr>
            </a:lvl1pPr>
            <a:lvl2pPr>
              <a:defRPr sz="2250" b="1">
                <a:solidFill>
                  <a:srgbClr val="172F40"/>
                </a:solidFill>
                <a:latin typeface="Arial"/>
                <a:ea typeface="Arial"/>
                <a:cs typeface="Arial"/>
              </a:defRPr>
            </a:lvl2pPr>
            <a:lvl3pPr>
              <a:defRPr sz="2250" b="1">
                <a:solidFill>
                  <a:srgbClr val="172F40"/>
                </a:solidFill>
                <a:latin typeface="Arial"/>
                <a:ea typeface="Arial"/>
                <a:cs typeface="Arial"/>
              </a:defRPr>
            </a:lvl3pPr>
            <a:lvl4pPr>
              <a:defRPr sz="2250" b="1">
                <a:solidFill>
                  <a:srgbClr val="172F40"/>
                </a:solidFill>
                <a:latin typeface="Arial"/>
                <a:ea typeface="Arial"/>
                <a:cs typeface="Arial"/>
              </a:defRPr>
            </a:lvl4pPr>
            <a:lvl5pPr>
              <a:defRPr sz="2250" b="1">
                <a:solidFill>
                  <a:srgbClr val="172F40"/>
                </a:solidFill>
                <a:latin typeface="Arial"/>
                <a:ea typeface="Arial"/>
                <a:cs typeface="Arial"/>
              </a:defRPr>
            </a:lvl5pPr>
            <a:lvl6pPr>
              <a:defRPr sz="2250" b="1">
                <a:solidFill>
                  <a:srgbClr val="172F40"/>
                </a:solidFill>
                <a:latin typeface="Arial"/>
                <a:ea typeface="Arial"/>
                <a:cs typeface="Arial"/>
              </a:defRPr>
            </a:lvl6pPr>
            <a:lvl7pPr>
              <a:defRPr sz="2250" b="1">
                <a:solidFill>
                  <a:srgbClr val="172F40"/>
                </a:solidFill>
                <a:latin typeface="Arial"/>
                <a:ea typeface="Arial"/>
                <a:cs typeface="Arial"/>
              </a:defRPr>
            </a:lvl7pPr>
            <a:lvl8pPr>
              <a:defRPr sz="2250" b="1">
                <a:solidFill>
                  <a:srgbClr val="172F40"/>
                </a:solidFill>
                <a:latin typeface="Arial"/>
                <a:ea typeface="Arial"/>
                <a:cs typeface="Arial"/>
              </a:defRPr>
            </a:lvl8pPr>
            <a:lvl9pPr>
              <a:defRPr sz="2250" b="1">
                <a:solidFill>
                  <a:srgbClr val="172F40"/>
                </a:solidFill>
                <a:latin typeface="Arial"/>
                <a:ea typeface="Arial"/>
                <a:cs typeface="Arial"/>
              </a:defRPr>
            </a:lvl9pPr>
          </a:lstStyle>
          <a:p xmlns:a="http://schemas.openxmlformats.org/drawingml/2006/main">
            <a:pPr>
              <a:defRPr sz="2250" b="1">
                <a:solidFill>
                  <a:srgbClr val="172F40"/>
                </a:solidFill>
                <a:latin typeface="Arial"/>
                <a:ea typeface="Arial"/>
                <a:cs typeface="Arial"/>
              </a:defRPr>
            </a:pPr>
            <a:r>
              <a:rPr sz="2250" b="1">
                <a:solidFill>
                  <a:srgbClr val="172F40"/>
                </a:solidFill>
                <a:latin typeface="Arial"/>
                <a:ea typeface="Arial"/>
                <a:cs typeface="Arial"/>
              </a:rPr>
              <a:t>NCT00206232</a:t>
            </a:r>
          </a:p>
        </p:txBody>
      </p:sp>
      <p:sp>
        <p:nvSpPr>
          <p:cNvPr id="5" name="">
            <a:extLst xmlns:a="http://schemas.openxmlformats.org/drawingml/2006/main">
              <a:ext uri="{FF2B5EF4-FFF2-40B4-BE49-F238E27FC236}">
                <a16:creationId xmlns:a16="http://schemas.microsoft.com/office/drawing/2014/main" id="{C4C3F28A-8BA7-43E5-96F2-A25A508771F2}"/>
              </a:ext>
            </a:extLst>
          </p:cNvPr>
          <p:cNvSpPr>
            <a:spLocks xmlns:a="http://schemas.openxmlformats.org/drawingml/2006/main" noGrp="1"/>
          </p:cNvSpPr>
          <p:nvPr/>
        </p:nvSpPr>
        <p:spPr>
          <a:xfrm xmlns:a="http://schemas.openxmlformats.org/drawingml/2006/main">
            <a:off x="5524500" y="1952625"/>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Lead sponsor</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Baylor College of Medicine   0.63 s</a:t>
            </a:r>
          </a:p>
        </p:txBody>
      </p:sp>
      <p:sp>
        <p:nvSpPr>
          <p:cNvPr id="6" name="">
            <a:extLst xmlns:a="http://schemas.openxmlformats.org/drawingml/2006/main">
              <a:ext uri="{FF2B5EF4-FFF2-40B4-BE49-F238E27FC236}">
                <a16:creationId xmlns:a16="http://schemas.microsoft.com/office/drawing/2014/main" id="{6CD0A0FE-4C37-4D5D-B801-F38C84219BB2}"/>
              </a:ext>
            </a:extLst>
          </p:cNvPr>
          <p:cNvSpPr>
            <a:spLocks xmlns:a="http://schemas.openxmlformats.org/drawingml/2006/main" noGrp="1"/>
          </p:cNvSpPr>
          <p:nvPr/>
        </p:nvSpPr>
        <p:spPr>
          <a:xfrm xmlns:a="http://schemas.openxmlformats.org/drawingml/2006/main">
            <a:off x="5524500" y="3095625"/>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Registered intervention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Spironolactone   0.76 s</a:t>
            </a:r>
          </a:p>
        </p:txBody>
      </p:sp>
      <p:sp>
        <p:nvSpPr>
          <p:cNvPr id="7" name="">
            <a:extLst xmlns:a="http://schemas.openxmlformats.org/drawingml/2006/main">
              <a:ext uri="{FF2B5EF4-FFF2-40B4-BE49-F238E27FC236}">
                <a16:creationId xmlns:a16="http://schemas.microsoft.com/office/drawing/2014/main" id="{15B097DB-C3FD-40ED-9568-9FD8EA43AA44}"/>
              </a:ext>
            </a:extLst>
          </p:cNvPr>
          <p:cNvSpPr>
            <a:spLocks xmlns:a="http://schemas.openxmlformats.org/drawingml/2006/main" noGrp="1"/>
          </p:cNvSpPr>
          <p:nvPr/>
        </p:nvSpPr>
        <p:spPr>
          <a:xfrm xmlns:a="http://schemas.openxmlformats.org/drawingml/2006/main">
            <a:off x="5524500" y="4238625"/>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F40"/>
                </a:solidFill>
                <a:latin typeface="Arial"/>
                <a:ea typeface="Arial"/>
                <a:cs typeface="Arial"/>
              </a:defRPr>
            </a:defPPr>
            <a:lvl1pPr>
              <a:defRPr sz="2025" b="0">
                <a:solidFill>
                  <a:srgbClr val="172F40"/>
                </a:solidFill>
                <a:latin typeface="Arial"/>
                <a:ea typeface="Arial"/>
                <a:cs typeface="Arial"/>
              </a:defRPr>
            </a:lvl1pPr>
            <a:lvl2pPr>
              <a:defRPr sz="2025" b="0">
                <a:solidFill>
                  <a:srgbClr val="172F40"/>
                </a:solidFill>
                <a:latin typeface="Arial"/>
                <a:ea typeface="Arial"/>
                <a:cs typeface="Arial"/>
              </a:defRPr>
            </a:lvl2pPr>
            <a:lvl3pPr>
              <a:defRPr sz="2025" b="0">
                <a:solidFill>
                  <a:srgbClr val="172F40"/>
                </a:solidFill>
                <a:latin typeface="Arial"/>
                <a:ea typeface="Arial"/>
                <a:cs typeface="Arial"/>
              </a:defRPr>
            </a:lvl3pPr>
            <a:lvl4pPr>
              <a:defRPr sz="2025" b="0">
                <a:solidFill>
                  <a:srgbClr val="172F40"/>
                </a:solidFill>
                <a:latin typeface="Arial"/>
                <a:ea typeface="Arial"/>
                <a:cs typeface="Arial"/>
              </a:defRPr>
            </a:lvl4pPr>
            <a:lvl5pPr>
              <a:defRPr sz="2025" b="0">
                <a:solidFill>
                  <a:srgbClr val="172F40"/>
                </a:solidFill>
                <a:latin typeface="Arial"/>
                <a:ea typeface="Arial"/>
                <a:cs typeface="Arial"/>
              </a:defRPr>
            </a:lvl5pPr>
            <a:lvl6pPr>
              <a:defRPr sz="2025" b="0">
                <a:solidFill>
                  <a:srgbClr val="172F40"/>
                </a:solidFill>
                <a:latin typeface="Arial"/>
                <a:ea typeface="Arial"/>
                <a:cs typeface="Arial"/>
              </a:defRPr>
            </a:lvl6pPr>
            <a:lvl7pPr>
              <a:defRPr sz="2025" b="0">
                <a:solidFill>
                  <a:srgbClr val="172F40"/>
                </a:solidFill>
                <a:latin typeface="Arial"/>
                <a:ea typeface="Arial"/>
                <a:cs typeface="Arial"/>
              </a:defRPr>
            </a:lvl7pPr>
            <a:lvl8pPr>
              <a:defRPr sz="2025" b="0">
                <a:solidFill>
                  <a:srgbClr val="172F40"/>
                </a:solidFill>
                <a:latin typeface="Arial"/>
                <a:ea typeface="Arial"/>
                <a:cs typeface="Arial"/>
              </a:defRPr>
            </a:lvl8pPr>
            <a:lvl9pPr>
              <a:defRPr sz="2025" b="0">
                <a:solidFill>
                  <a:srgbClr val="172F40"/>
                </a:solidFill>
                <a:latin typeface="Arial"/>
                <a:ea typeface="Arial"/>
                <a:cs typeface="Arial"/>
              </a:defRPr>
            </a:lvl9pPr>
          </a:lstStyle>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Complete planned-outcome listing</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Seven verified records   2.28 s</a:t>
            </a:r>
          </a:p>
        </p:txBody>
      </p:sp>
      <p:sp>
        <p:nvSpPr>
          <p:cNvPr id="8" name="">
            <a:extLst xmlns:a="http://schemas.openxmlformats.org/drawingml/2006/main">
              <a:ext uri="{FF2B5EF4-FFF2-40B4-BE49-F238E27FC236}">
                <a16:creationId xmlns:a16="http://schemas.microsoft.com/office/drawing/2014/main" id="{519EFA41-58CC-4DEF-84DE-C6580C21558B}"/>
              </a:ext>
            </a:extLst>
          </p:cNvPr>
          <p:cNvSpPr>
            <a:spLocks xmlns:a="http://schemas.openxmlformats.org/drawingml/2006/main" noGrp="1"/>
          </p:cNvSpPr>
          <p:nvPr/>
        </p:nvSpPr>
        <p:spPr>
          <a:xfrm xmlns:a="http://schemas.openxmlformats.org/drawingml/2006/main">
            <a:off x="5524500" y="533400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54636C"/>
                </a:solidFill>
                <a:latin typeface="Arial"/>
                <a:ea typeface="Arial"/>
                <a:cs typeface="Arial"/>
              </a:defRPr>
            </a:defPPr>
            <a:lvl1pPr>
              <a:defRPr sz="1575" b="0">
                <a:solidFill>
                  <a:srgbClr val="54636C"/>
                </a:solidFill>
                <a:latin typeface="Arial"/>
                <a:ea typeface="Arial"/>
                <a:cs typeface="Arial"/>
              </a:defRPr>
            </a:lvl1pPr>
            <a:lvl2pPr>
              <a:defRPr sz="1575" b="0">
                <a:solidFill>
                  <a:srgbClr val="54636C"/>
                </a:solidFill>
                <a:latin typeface="Arial"/>
                <a:ea typeface="Arial"/>
                <a:cs typeface="Arial"/>
              </a:defRPr>
            </a:lvl2pPr>
            <a:lvl3pPr>
              <a:defRPr sz="1575" b="0">
                <a:solidFill>
                  <a:srgbClr val="54636C"/>
                </a:solidFill>
                <a:latin typeface="Arial"/>
                <a:ea typeface="Arial"/>
                <a:cs typeface="Arial"/>
              </a:defRPr>
            </a:lvl3pPr>
            <a:lvl4pPr>
              <a:defRPr sz="1575" b="0">
                <a:solidFill>
                  <a:srgbClr val="54636C"/>
                </a:solidFill>
                <a:latin typeface="Arial"/>
                <a:ea typeface="Arial"/>
                <a:cs typeface="Arial"/>
              </a:defRPr>
            </a:lvl4pPr>
            <a:lvl5pPr>
              <a:defRPr sz="1575" b="0">
                <a:solidFill>
                  <a:srgbClr val="54636C"/>
                </a:solidFill>
                <a:latin typeface="Arial"/>
                <a:ea typeface="Arial"/>
                <a:cs typeface="Arial"/>
              </a:defRPr>
            </a:lvl5pPr>
            <a:lvl6pPr>
              <a:defRPr sz="1575" b="0">
                <a:solidFill>
                  <a:srgbClr val="54636C"/>
                </a:solidFill>
                <a:latin typeface="Arial"/>
                <a:ea typeface="Arial"/>
                <a:cs typeface="Arial"/>
              </a:defRPr>
            </a:lvl6pPr>
            <a:lvl7pPr>
              <a:defRPr sz="1575" b="0">
                <a:solidFill>
                  <a:srgbClr val="54636C"/>
                </a:solidFill>
                <a:latin typeface="Arial"/>
                <a:ea typeface="Arial"/>
                <a:cs typeface="Arial"/>
              </a:defRPr>
            </a:lvl7pPr>
            <a:lvl8pPr>
              <a:defRPr sz="1575" b="0">
                <a:solidFill>
                  <a:srgbClr val="54636C"/>
                </a:solidFill>
                <a:latin typeface="Arial"/>
                <a:ea typeface="Arial"/>
                <a:cs typeface="Arial"/>
              </a:defRPr>
            </a:lvl8pPr>
            <a:lvl9pPr>
              <a:defRPr sz="1575" b="0">
                <a:solidFill>
                  <a:srgbClr val="54636C"/>
                </a:solidFill>
                <a:latin typeface="Arial"/>
                <a:ea typeface="Arial"/>
                <a:cs typeface="Arial"/>
              </a:defRPr>
            </a:lvl9pPr>
          </a:lstStyle>
          <a:p xmlns:a="http://schemas.openxmlformats.org/drawingml/2006/main">
            <a:pPr>
              <a:defRPr sz="1575" b="0">
                <a:solidFill>
                  <a:srgbClr val="54636C"/>
                </a:solidFill>
                <a:latin typeface="Arial"/>
                <a:ea typeface="Arial"/>
                <a:cs typeface="Arial"/>
              </a:defRPr>
            </a:pPr>
            <a:r>
              <a:rPr sz="1575" b="0">
                <a:solidFill>
                  <a:srgbClr val="54636C"/>
                </a:solidFill>
                <a:latin typeface="Arial"/>
                <a:ea typeface="Arial"/>
                <a:cs typeface="Arial"/>
              </a:rPr>
              <a:t>Title capture: 6.36 s. All four paths used zero model attempts.</a:t>
            </a:r>
          </a:p>
          <a:p xmlns:a="http://schemas.openxmlformats.org/drawingml/2006/main">
            <a:pPr>
              <a:defRPr sz="1575" b="0">
                <a:solidFill>
                  <a:srgbClr val="54636C"/>
                </a:solidFill>
                <a:latin typeface="Arial"/>
                <a:ea typeface="Arial"/>
                <a:cs typeface="Arial"/>
              </a:defRPr>
            </a:pPr>
            <a:r>
              <a:rPr sz="1575" b="0">
                <a:solidFill>
                  <a:srgbClr val="54636C"/>
                </a:solidFill>
                <a:latin typeface="Arial"/>
                <a:ea typeface="Arial"/>
                <a:cs typeface="Arial"/>
              </a:rPr>
              <a:t>220 offline tests passed.</a:t>
            </a:r>
          </a:p>
          <a:p xmlns:a="http://schemas.openxmlformats.org/drawingml/2006/main">
            <a:pPr>
              <a:defRPr sz="1575" b="0">
                <a:solidFill>
                  <a:srgbClr val="54636C"/>
                </a:solidFill>
                <a:latin typeface="Arial"/>
                <a:ea typeface="Arial"/>
                <a:cs typeface="Arial"/>
              </a:defRPr>
            </a:pPr>
            <a:r>
              <a:rPr sz="1575" b="0">
                <a:solidFill>
                  <a:srgbClr val="54636C"/>
                </a:solidFill>
                <a:latin typeface="Arial"/>
                <a:ea typeface="Arial"/>
                <a:cs typeface="Arial"/>
              </a:rPr>
              <a:t>Planned measures are not observed clinical results.</a:t>
            </a:r>
          </a:p>
        </p:txBody>
      </p:sp>
    </p:spTree>
    <p:extLst>
      <p:ext uri="{BB962C8B-B14F-4D97-AF65-F5344CB8AC3E}">
        <p14:creationId xmlns:p14="http://schemas.microsoft.com/office/powerpoint/2010/main" val="11295077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2F6523-D6D9-4255-97F4-B0AA0D7C3D95}"/>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Human and AI roles</a:t>
            </a:r>
          </a:p>
        </p:txBody>
      </p:sp>
      <p:sp>
        <p:nvSpPr>
          <p:cNvPr id="2" name="">
            <a:extLst xmlns:a="http://schemas.openxmlformats.org/drawingml/2006/main">
              <a:ext uri="{FF2B5EF4-FFF2-40B4-BE49-F238E27FC236}">
                <a16:creationId xmlns:a16="http://schemas.microsoft.com/office/drawing/2014/main" id="{C65BFFA7-7E00-4E75-9DC6-7303641BF585}"/>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11   Original decisions, approval records and verified implementation iterations</a:t>
            </a:r>
          </a:p>
        </p:txBody>
      </p:sp>
      <p:sp>
        <p:nvSpPr>
          <p:cNvPr id="3" name="">
            <a:extLst xmlns:a="http://schemas.openxmlformats.org/drawingml/2006/main">
              <a:ext uri="{FF2B5EF4-FFF2-40B4-BE49-F238E27FC236}">
                <a16:creationId xmlns:a16="http://schemas.microsoft.com/office/drawing/2014/main" id="{645B65A9-B43C-44F3-9197-5D1A8E953412}"/>
              </a:ext>
            </a:extLst>
          </p:cNvPr>
          <p:cNvSpPr>
            <a:spLocks xmlns:a="http://schemas.openxmlformats.org/drawingml/2006/main" noGrp="1"/>
          </p:cNvSpPr>
          <p:nvPr/>
        </p:nvSpPr>
        <p:spPr>
          <a:xfrm xmlns:a="http://schemas.openxmlformats.org/drawingml/2006/main">
            <a:off x="533400" y="13811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46684"/>
                </a:solidFill>
                <a:latin typeface="Arial"/>
                <a:ea typeface="Arial"/>
                <a:cs typeface="Arial"/>
              </a:defRPr>
            </a:defPPr>
            <a:lvl1pPr>
              <a:defRPr sz="2250" b="1">
                <a:solidFill>
                  <a:srgbClr val="246684"/>
                </a:solidFill>
                <a:latin typeface="Arial"/>
                <a:ea typeface="Arial"/>
                <a:cs typeface="Arial"/>
              </a:defRPr>
            </a:lvl1pPr>
            <a:lvl2pPr>
              <a:defRPr sz="2250" b="1">
                <a:solidFill>
                  <a:srgbClr val="246684"/>
                </a:solidFill>
                <a:latin typeface="Arial"/>
                <a:ea typeface="Arial"/>
                <a:cs typeface="Arial"/>
              </a:defRPr>
            </a:lvl2pPr>
            <a:lvl3pPr>
              <a:defRPr sz="2250" b="1">
                <a:solidFill>
                  <a:srgbClr val="246684"/>
                </a:solidFill>
                <a:latin typeface="Arial"/>
                <a:ea typeface="Arial"/>
                <a:cs typeface="Arial"/>
              </a:defRPr>
            </a:lvl3pPr>
            <a:lvl4pPr>
              <a:defRPr sz="2250" b="1">
                <a:solidFill>
                  <a:srgbClr val="246684"/>
                </a:solidFill>
                <a:latin typeface="Arial"/>
                <a:ea typeface="Arial"/>
                <a:cs typeface="Arial"/>
              </a:defRPr>
            </a:lvl4pPr>
            <a:lvl5pPr>
              <a:defRPr sz="2250" b="1">
                <a:solidFill>
                  <a:srgbClr val="246684"/>
                </a:solidFill>
                <a:latin typeface="Arial"/>
                <a:ea typeface="Arial"/>
                <a:cs typeface="Arial"/>
              </a:defRPr>
            </a:lvl5pPr>
            <a:lvl6pPr>
              <a:defRPr sz="2250" b="1">
                <a:solidFill>
                  <a:srgbClr val="246684"/>
                </a:solidFill>
                <a:latin typeface="Arial"/>
                <a:ea typeface="Arial"/>
                <a:cs typeface="Arial"/>
              </a:defRPr>
            </a:lvl6pPr>
            <a:lvl7pPr>
              <a:defRPr sz="2250" b="1">
                <a:solidFill>
                  <a:srgbClr val="246684"/>
                </a:solidFill>
                <a:latin typeface="Arial"/>
                <a:ea typeface="Arial"/>
                <a:cs typeface="Arial"/>
              </a:defRPr>
            </a:lvl7pPr>
            <a:lvl8pPr>
              <a:defRPr sz="2250" b="1">
                <a:solidFill>
                  <a:srgbClr val="246684"/>
                </a:solidFill>
                <a:latin typeface="Arial"/>
                <a:ea typeface="Arial"/>
                <a:cs typeface="Arial"/>
              </a:defRPr>
            </a:lvl8pPr>
            <a:lvl9pPr>
              <a:defRPr sz="2250" b="1">
                <a:solidFill>
                  <a:srgbClr val="246684"/>
                </a:solidFill>
                <a:latin typeface="Arial"/>
                <a:ea typeface="Arial"/>
                <a:cs typeface="Arial"/>
              </a:defRPr>
            </a:lvl9pPr>
          </a:lstStyle>
          <a:p xmlns:a="http://schemas.openxmlformats.org/drawingml/2006/main">
            <a:pPr>
              <a:defRPr sz="2250" b="1">
                <a:solidFill>
                  <a:srgbClr val="246684"/>
                </a:solidFill>
                <a:latin typeface="Arial"/>
                <a:ea typeface="Arial"/>
                <a:cs typeface="Arial"/>
              </a:defRPr>
            </a:pPr>
            <a:r>
              <a:rPr sz="2250" b="1">
                <a:solidFill>
                  <a:srgbClr val="246684"/>
                </a:solidFill>
                <a:latin typeface="Arial"/>
                <a:ea typeface="Arial"/>
                <a:cs typeface="Arial"/>
              </a:rPr>
              <a:t>Human decisions</a:t>
            </a:r>
          </a:p>
        </p:txBody>
      </p:sp>
      <p:sp>
        <p:nvSpPr>
          <p:cNvPr id="4" name="">
            <a:extLst xmlns:a="http://schemas.openxmlformats.org/drawingml/2006/main">
              <a:ext uri="{FF2B5EF4-FFF2-40B4-BE49-F238E27FC236}">
                <a16:creationId xmlns:a16="http://schemas.microsoft.com/office/drawing/2014/main" id="{719254BE-68C0-40B2-9AC3-6D8A8589576D}"/>
              </a:ext>
            </a:extLst>
          </p:cNvPr>
          <p:cNvSpPr>
            <a:spLocks xmlns:a="http://schemas.openxmlformats.org/drawingml/2006/main" noGrp="1"/>
          </p:cNvSpPr>
          <p:nvPr/>
        </p:nvSpPr>
        <p:spPr>
          <a:xfrm xmlns:a="http://schemas.openxmlformats.org/drawingml/2006/main">
            <a:off x="533400" y="2095500"/>
            <a:ext cx="3286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Users and scientific scope</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Schema approval</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Provenance retention</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Frozen partitions and safety gates</a:t>
            </a:r>
          </a:p>
        </p:txBody>
      </p:sp>
      <p:sp>
        <p:nvSpPr>
          <p:cNvPr id="5" name="">
            <a:extLst xmlns:a="http://schemas.openxmlformats.org/drawingml/2006/main">
              <a:ext uri="{FF2B5EF4-FFF2-40B4-BE49-F238E27FC236}">
                <a16:creationId xmlns:a16="http://schemas.microsoft.com/office/drawing/2014/main" id="{5AAA6A17-659E-4B54-95D7-291B7B3BFEAB}"/>
              </a:ext>
            </a:extLst>
          </p:cNvPr>
          <p:cNvSpPr>
            <a:spLocks xmlns:a="http://schemas.openxmlformats.org/drawingml/2006/main" noGrp="1"/>
          </p:cNvSpPr>
          <p:nvPr/>
        </p:nvSpPr>
        <p:spPr>
          <a:xfrm xmlns:a="http://schemas.openxmlformats.org/drawingml/2006/main">
            <a:off x="4476750" y="13811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46684"/>
                </a:solidFill>
                <a:latin typeface="Arial"/>
                <a:ea typeface="Arial"/>
                <a:cs typeface="Arial"/>
              </a:defRPr>
            </a:defPPr>
            <a:lvl1pPr>
              <a:defRPr sz="2250" b="1">
                <a:solidFill>
                  <a:srgbClr val="246684"/>
                </a:solidFill>
                <a:latin typeface="Arial"/>
                <a:ea typeface="Arial"/>
                <a:cs typeface="Arial"/>
              </a:defRPr>
            </a:lvl1pPr>
            <a:lvl2pPr>
              <a:defRPr sz="2250" b="1">
                <a:solidFill>
                  <a:srgbClr val="246684"/>
                </a:solidFill>
                <a:latin typeface="Arial"/>
                <a:ea typeface="Arial"/>
                <a:cs typeface="Arial"/>
              </a:defRPr>
            </a:lvl2pPr>
            <a:lvl3pPr>
              <a:defRPr sz="2250" b="1">
                <a:solidFill>
                  <a:srgbClr val="246684"/>
                </a:solidFill>
                <a:latin typeface="Arial"/>
                <a:ea typeface="Arial"/>
                <a:cs typeface="Arial"/>
              </a:defRPr>
            </a:lvl3pPr>
            <a:lvl4pPr>
              <a:defRPr sz="2250" b="1">
                <a:solidFill>
                  <a:srgbClr val="246684"/>
                </a:solidFill>
                <a:latin typeface="Arial"/>
                <a:ea typeface="Arial"/>
                <a:cs typeface="Arial"/>
              </a:defRPr>
            </a:lvl4pPr>
            <a:lvl5pPr>
              <a:defRPr sz="2250" b="1">
                <a:solidFill>
                  <a:srgbClr val="246684"/>
                </a:solidFill>
                <a:latin typeface="Arial"/>
                <a:ea typeface="Arial"/>
                <a:cs typeface="Arial"/>
              </a:defRPr>
            </a:lvl5pPr>
            <a:lvl6pPr>
              <a:defRPr sz="2250" b="1">
                <a:solidFill>
                  <a:srgbClr val="246684"/>
                </a:solidFill>
                <a:latin typeface="Arial"/>
                <a:ea typeface="Arial"/>
                <a:cs typeface="Arial"/>
              </a:defRPr>
            </a:lvl6pPr>
            <a:lvl7pPr>
              <a:defRPr sz="2250" b="1">
                <a:solidFill>
                  <a:srgbClr val="246684"/>
                </a:solidFill>
                <a:latin typeface="Arial"/>
                <a:ea typeface="Arial"/>
                <a:cs typeface="Arial"/>
              </a:defRPr>
            </a:lvl7pPr>
            <a:lvl8pPr>
              <a:defRPr sz="2250" b="1">
                <a:solidFill>
                  <a:srgbClr val="246684"/>
                </a:solidFill>
                <a:latin typeface="Arial"/>
                <a:ea typeface="Arial"/>
                <a:cs typeface="Arial"/>
              </a:defRPr>
            </a:lvl8pPr>
            <a:lvl9pPr>
              <a:defRPr sz="2250" b="1">
                <a:solidFill>
                  <a:srgbClr val="246684"/>
                </a:solidFill>
                <a:latin typeface="Arial"/>
                <a:ea typeface="Arial"/>
                <a:cs typeface="Arial"/>
              </a:defRPr>
            </a:lvl9pPr>
          </a:lstStyle>
          <a:p xmlns:a="http://schemas.openxmlformats.org/drawingml/2006/main">
            <a:pPr>
              <a:defRPr sz="2250" b="1">
                <a:solidFill>
                  <a:srgbClr val="246684"/>
                </a:solidFill>
                <a:latin typeface="Arial"/>
                <a:ea typeface="Arial"/>
                <a:cs typeface="Arial"/>
              </a:defRPr>
            </a:pPr>
            <a:r>
              <a:rPr sz="2250" b="1">
                <a:solidFill>
                  <a:srgbClr val="246684"/>
                </a:solidFill>
                <a:latin typeface="Arial"/>
                <a:ea typeface="Arial"/>
                <a:cs typeface="Arial"/>
              </a:rPr>
              <a:t>Codex assistance</a:t>
            </a:r>
          </a:p>
        </p:txBody>
      </p:sp>
      <p:sp>
        <p:nvSpPr>
          <p:cNvPr id="6" name="">
            <a:extLst xmlns:a="http://schemas.openxmlformats.org/drawingml/2006/main">
              <a:ext uri="{FF2B5EF4-FFF2-40B4-BE49-F238E27FC236}">
                <a16:creationId xmlns:a16="http://schemas.microsoft.com/office/drawing/2014/main" id="{B6A5DEAB-83C7-491E-BD53-C2C8A0473460}"/>
              </a:ext>
            </a:extLst>
          </p:cNvPr>
          <p:cNvSpPr>
            <a:spLocks xmlns:a="http://schemas.openxmlformats.org/drawingml/2006/main" noGrp="1"/>
          </p:cNvSpPr>
          <p:nvPr/>
        </p:nvSpPr>
        <p:spPr>
          <a:xfrm xmlns:a="http://schemas.openxmlformats.org/drawingml/2006/main">
            <a:off x="4476750" y="2095500"/>
            <a:ext cx="3286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Source and code inspection</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CSV preparation</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Training and diagnostic code</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Tests and evidence packaging</a:t>
            </a:r>
          </a:p>
        </p:txBody>
      </p:sp>
      <p:sp>
        <p:nvSpPr>
          <p:cNvPr id="7" name="">
            <a:extLst xmlns:a="http://schemas.openxmlformats.org/drawingml/2006/main">
              <a:ext uri="{FF2B5EF4-FFF2-40B4-BE49-F238E27FC236}">
                <a16:creationId xmlns:a16="http://schemas.microsoft.com/office/drawing/2014/main" id="{C268116D-0619-49C6-949F-211EAAFA5B29}"/>
              </a:ext>
            </a:extLst>
          </p:cNvPr>
          <p:cNvSpPr>
            <a:spLocks xmlns:a="http://schemas.openxmlformats.org/drawingml/2006/main" noGrp="1"/>
          </p:cNvSpPr>
          <p:nvPr/>
        </p:nvSpPr>
        <p:spPr>
          <a:xfrm xmlns:a="http://schemas.openxmlformats.org/drawingml/2006/main">
            <a:off x="8429625" y="13811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1">
                <a:solidFill>
                  <a:srgbClr val="246684"/>
                </a:solidFill>
                <a:latin typeface="Arial"/>
                <a:ea typeface="Arial"/>
                <a:cs typeface="Arial"/>
              </a:defRPr>
            </a:defPPr>
            <a:lvl1pPr>
              <a:defRPr sz="2250" b="1">
                <a:solidFill>
                  <a:srgbClr val="246684"/>
                </a:solidFill>
                <a:latin typeface="Arial"/>
                <a:ea typeface="Arial"/>
                <a:cs typeface="Arial"/>
              </a:defRPr>
            </a:lvl1pPr>
            <a:lvl2pPr>
              <a:defRPr sz="2250" b="1">
                <a:solidFill>
                  <a:srgbClr val="246684"/>
                </a:solidFill>
                <a:latin typeface="Arial"/>
                <a:ea typeface="Arial"/>
                <a:cs typeface="Arial"/>
              </a:defRPr>
            </a:lvl2pPr>
            <a:lvl3pPr>
              <a:defRPr sz="2250" b="1">
                <a:solidFill>
                  <a:srgbClr val="246684"/>
                </a:solidFill>
                <a:latin typeface="Arial"/>
                <a:ea typeface="Arial"/>
                <a:cs typeface="Arial"/>
              </a:defRPr>
            </a:lvl3pPr>
            <a:lvl4pPr>
              <a:defRPr sz="2250" b="1">
                <a:solidFill>
                  <a:srgbClr val="246684"/>
                </a:solidFill>
                <a:latin typeface="Arial"/>
                <a:ea typeface="Arial"/>
                <a:cs typeface="Arial"/>
              </a:defRPr>
            </a:lvl4pPr>
            <a:lvl5pPr>
              <a:defRPr sz="2250" b="1">
                <a:solidFill>
                  <a:srgbClr val="246684"/>
                </a:solidFill>
                <a:latin typeface="Arial"/>
                <a:ea typeface="Arial"/>
                <a:cs typeface="Arial"/>
              </a:defRPr>
            </a:lvl5pPr>
            <a:lvl6pPr>
              <a:defRPr sz="2250" b="1">
                <a:solidFill>
                  <a:srgbClr val="246684"/>
                </a:solidFill>
                <a:latin typeface="Arial"/>
                <a:ea typeface="Arial"/>
                <a:cs typeface="Arial"/>
              </a:defRPr>
            </a:lvl6pPr>
            <a:lvl7pPr>
              <a:defRPr sz="2250" b="1">
                <a:solidFill>
                  <a:srgbClr val="246684"/>
                </a:solidFill>
                <a:latin typeface="Arial"/>
                <a:ea typeface="Arial"/>
                <a:cs typeface="Arial"/>
              </a:defRPr>
            </a:lvl7pPr>
            <a:lvl8pPr>
              <a:defRPr sz="2250" b="1">
                <a:solidFill>
                  <a:srgbClr val="246684"/>
                </a:solidFill>
                <a:latin typeface="Arial"/>
                <a:ea typeface="Arial"/>
                <a:cs typeface="Arial"/>
              </a:defRPr>
            </a:lvl8pPr>
            <a:lvl9pPr>
              <a:defRPr sz="2250" b="1">
                <a:solidFill>
                  <a:srgbClr val="246684"/>
                </a:solidFill>
                <a:latin typeface="Arial"/>
                <a:ea typeface="Arial"/>
                <a:cs typeface="Arial"/>
              </a:defRPr>
            </a:lvl9pPr>
          </a:lstStyle>
          <a:p xmlns:a="http://schemas.openxmlformats.org/drawingml/2006/main">
            <a:pPr>
              <a:defRPr sz="2250" b="1">
                <a:solidFill>
                  <a:srgbClr val="246684"/>
                </a:solidFill>
                <a:latin typeface="Arial"/>
                <a:ea typeface="Arial"/>
                <a:cs typeface="Arial"/>
              </a:defRPr>
            </a:pPr>
            <a:r>
              <a:rPr sz="2250" b="1">
                <a:solidFill>
                  <a:srgbClr val="246684"/>
                </a:solidFill>
                <a:latin typeface="Arial"/>
                <a:ea typeface="Arial"/>
                <a:cs typeface="Arial"/>
              </a:rPr>
              <a:t>Verified co-design</a:t>
            </a:r>
          </a:p>
        </p:txBody>
      </p:sp>
      <p:sp>
        <p:nvSpPr>
          <p:cNvPr id="8" name="">
            <a:extLst xmlns:a="http://schemas.openxmlformats.org/drawingml/2006/main">
              <a:ext uri="{FF2B5EF4-FFF2-40B4-BE49-F238E27FC236}">
                <a16:creationId xmlns:a16="http://schemas.microsoft.com/office/drawing/2014/main" id="{6D9A576B-E9B7-4D76-A91C-21F5B4BCABDF}"/>
              </a:ext>
            </a:extLst>
          </p:cNvPr>
          <p:cNvSpPr>
            <a:spLocks xmlns:a="http://schemas.openxmlformats.org/drawingml/2006/main" noGrp="1"/>
          </p:cNvSpPr>
          <p:nvPr/>
        </p:nvSpPr>
        <p:spPr>
          <a:xfrm xmlns:a="http://schemas.openxmlformats.org/drawingml/2006/main">
            <a:off x="8429625" y="2095500"/>
            <a:ext cx="3286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Six supported node types</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Trial-bound citations</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Complete outcome listings</a:t>
            </a:r>
          </a:p>
          <a:p xmlns:a="http://schemas.openxmlformats.org/drawingml/2006/main">
            <a:r>
              <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Negative GNN results retained</a:t>
            </a:r>
          </a:p>
        </p:txBody>
      </p:sp>
      <p:sp>
        <p:nvSpPr>
          <p:cNvPr id="9" name="">
            <a:extLst xmlns:a="http://schemas.openxmlformats.org/drawingml/2006/main">
              <a:ext uri="{FF2B5EF4-FFF2-40B4-BE49-F238E27FC236}">
                <a16:creationId xmlns:a16="http://schemas.microsoft.com/office/drawing/2014/main" id="{31ECC7CB-CC4F-4D0E-958A-A545E6DC85FD}"/>
              </a:ext>
            </a:extLst>
          </p:cNvPr>
          <p:cNvSpPr>
            <a:spLocks xmlns:a="http://schemas.openxmlformats.org/drawingml/2006/main" noGrp="1"/>
          </p:cNvSpPr>
          <p:nvPr/>
        </p:nvSpPr>
        <p:spPr>
          <a:xfrm xmlns:a="http://schemas.openxmlformats.org/drawingml/2006/main">
            <a:off x="533400" y="57150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0">
                <a:solidFill>
                  <a:srgbClr val="172F40"/>
                </a:solidFill>
                <a:latin typeface="Arial"/>
                <a:ea typeface="Arial"/>
                <a:cs typeface="Arial"/>
              </a:defRPr>
            </a:defPPr>
            <a:lvl1pPr>
              <a:defRPr sz="1800" b="0">
                <a:solidFill>
                  <a:srgbClr val="172F40"/>
                </a:solidFill>
                <a:latin typeface="Arial"/>
                <a:ea typeface="Arial"/>
                <a:cs typeface="Arial"/>
              </a:defRPr>
            </a:lvl1pPr>
            <a:lvl2pPr>
              <a:defRPr sz="1800" b="0">
                <a:solidFill>
                  <a:srgbClr val="172F40"/>
                </a:solidFill>
                <a:latin typeface="Arial"/>
                <a:ea typeface="Arial"/>
                <a:cs typeface="Arial"/>
              </a:defRPr>
            </a:lvl2pPr>
            <a:lvl3pPr>
              <a:defRPr sz="1800" b="0">
                <a:solidFill>
                  <a:srgbClr val="172F40"/>
                </a:solidFill>
                <a:latin typeface="Arial"/>
                <a:ea typeface="Arial"/>
                <a:cs typeface="Arial"/>
              </a:defRPr>
            </a:lvl3pPr>
            <a:lvl4pPr>
              <a:defRPr sz="1800" b="0">
                <a:solidFill>
                  <a:srgbClr val="172F40"/>
                </a:solidFill>
                <a:latin typeface="Arial"/>
                <a:ea typeface="Arial"/>
                <a:cs typeface="Arial"/>
              </a:defRPr>
            </a:lvl4pPr>
            <a:lvl5pPr>
              <a:defRPr sz="1800" b="0">
                <a:solidFill>
                  <a:srgbClr val="172F40"/>
                </a:solidFill>
                <a:latin typeface="Arial"/>
                <a:ea typeface="Arial"/>
                <a:cs typeface="Arial"/>
              </a:defRPr>
            </a:lvl5pPr>
            <a:lvl6pPr>
              <a:defRPr sz="1800" b="0">
                <a:solidFill>
                  <a:srgbClr val="172F40"/>
                </a:solidFill>
                <a:latin typeface="Arial"/>
                <a:ea typeface="Arial"/>
                <a:cs typeface="Arial"/>
              </a:defRPr>
            </a:lvl6pPr>
            <a:lvl7pPr>
              <a:defRPr sz="1800" b="0">
                <a:solidFill>
                  <a:srgbClr val="172F40"/>
                </a:solidFill>
                <a:latin typeface="Arial"/>
                <a:ea typeface="Arial"/>
                <a:cs typeface="Arial"/>
              </a:defRPr>
            </a:lvl7pPr>
            <a:lvl8pPr>
              <a:defRPr sz="1800" b="0">
                <a:solidFill>
                  <a:srgbClr val="172F40"/>
                </a:solidFill>
                <a:latin typeface="Arial"/>
                <a:ea typeface="Arial"/>
                <a:cs typeface="Arial"/>
              </a:defRPr>
            </a:lvl8pPr>
            <a:lvl9pPr>
              <a:defRPr sz="1800" b="0">
                <a:solidFill>
                  <a:srgbClr val="172F40"/>
                </a:solidFill>
                <a:latin typeface="Arial"/>
                <a:ea typeface="Arial"/>
                <a:cs typeface="Arial"/>
              </a:defRPr>
            </a:lvl9pPr>
          </a:lstStyle>
          <a:p xmlns:a="http://schemas.openxmlformats.org/drawingml/2006/main">
            <a:pPr>
              <a:defRPr sz="1800" b="0">
                <a:solidFill>
                  <a:srgbClr val="172F40"/>
                </a:solidFill>
                <a:latin typeface="Arial"/>
                <a:ea typeface="Arial"/>
                <a:cs typeface="Arial"/>
              </a:defRPr>
            </a:pPr>
            <a:r>
              <a:rPr sz="1800" b="0">
                <a:solidFill>
                  <a:srgbClr val="172F40"/>
                </a:solidFill>
                <a:latin typeface="Arial"/>
                <a:ea typeface="Arial"/>
                <a:cs typeface="Arial"/>
              </a:rPr>
              <a:t>Human review corrected omissions and false positives while retaining clinical-evidence safeguards</a:t>
            </a:r>
          </a:p>
        </p:txBody>
      </p:sp>
    </p:spTree>
    <p:extLst>
      <p:ext uri="{BB962C8B-B14F-4D97-AF65-F5344CB8AC3E}">
        <p14:creationId xmlns:p14="http://schemas.microsoft.com/office/powerpoint/2010/main" val="1227069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6795FA-4E44-4007-B7AD-0DDCFDFE008F}"/>
              </a:ext>
            </a:extLst>
          </p:cNvPr>
          <p:cNvSpPr>
            <a:spLocks xmlns:a="http://schemas.openxmlformats.org/drawingml/2006/main" noGrp="1"/>
          </p:cNvSpPr>
          <p:nvPr/>
        </p:nvSpPr>
        <p:spPr>
          <a:xfrm xmlns:a="http://schemas.openxmlformats.org/drawingml/2006/main">
            <a:off x="533400" y="3333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150" b="1">
                <a:solidFill>
                  <a:srgbClr val="172F40"/>
                </a:solidFill>
                <a:latin typeface="Arial"/>
                <a:ea typeface="Arial"/>
                <a:cs typeface="Arial"/>
              </a:defRPr>
            </a:defPPr>
            <a:lvl1pPr>
              <a:defRPr sz="3150" b="1">
                <a:solidFill>
                  <a:srgbClr val="172F40"/>
                </a:solidFill>
                <a:latin typeface="Arial"/>
                <a:ea typeface="Arial"/>
                <a:cs typeface="Arial"/>
              </a:defRPr>
            </a:lvl1pPr>
            <a:lvl2pPr>
              <a:defRPr sz="3150" b="1">
                <a:solidFill>
                  <a:srgbClr val="172F40"/>
                </a:solidFill>
                <a:latin typeface="Arial"/>
                <a:ea typeface="Arial"/>
                <a:cs typeface="Arial"/>
              </a:defRPr>
            </a:lvl2pPr>
            <a:lvl3pPr>
              <a:defRPr sz="3150" b="1">
                <a:solidFill>
                  <a:srgbClr val="172F40"/>
                </a:solidFill>
                <a:latin typeface="Arial"/>
                <a:ea typeface="Arial"/>
                <a:cs typeface="Arial"/>
              </a:defRPr>
            </a:lvl3pPr>
            <a:lvl4pPr>
              <a:defRPr sz="3150" b="1">
                <a:solidFill>
                  <a:srgbClr val="172F40"/>
                </a:solidFill>
                <a:latin typeface="Arial"/>
                <a:ea typeface="Arial"/>
                <a:cs typeface="Arial"/>
              </a:defRPr>
            </a:lvl4pPr>
            <a:lvl5pPr>
              <a:defRPr sz="3150" b="1">
                <a:solidFill>
                  <a:srgbClr val="172F40"/>
                </a:solidFill>
                <a:latin typeface="Arial"/>
                <a:ea typeface="Arial"/>
                <a:cs typeface="Arial"/>
              </a:defRPr>
            </a:lvl5pPr>
            <a:lvl6pPr>
              <a:defRPr sz="3150" b="1">
                <a:solidFill>
                  <a:srgbClr val="172F40"/>
                </a:solidFill>
                <a:latin typeface="Arial"/>
                <a:ea typeface="Arial"/>
                <a:cs typeface="Arial"/>
              </a:defRPr>
            </a:lvl6pPr>
            <a:lvl7pPr>
              <a:defRPr sz="3150" b="1">
                <a:solidFill>
                  <a:srgbClr val="172F40"/>
                </a:solidFill>
                <a:latin typeface="Arial"/>
                <a:ea typeface="Arial"/>
                <a:cs typeface="Arial"/>
              </a:defRPr>
            </a:lvl7pPr>
            <a:lvl8pPr>
              <a:defRPr sz="3150" b="1">
                <a:solidFill>
                  <a:srgbClr val="172F40"/>
                </a:solidFill>
                <a:latin typeface="Arial"/>
                <a:ea typeface="Arial"/>
                <a:cs typeface="Arial"/>
              </a:defRPr>
            </a:lvl8pPr>
            <a:lvl9pPr>
              <a:defRPr sz="3150" b="1">
                <a:solidFill>
                  <a:srgbClr val="172F40"/>
                </a:solidFill>
                <a:latin typeface="Arial"/>
                <a:ea typeface="Arial"/>
                <a:cs typeface="Arial"/>
              </a:defRPr>
            </a:lvl9pPr>
          </a:lstStyle>
          <a:p xmlns:a="http://schemas.openxmlformats.org/drawingml/2006/main">
            <a:pPr>
              <a:defRPr sz="3150" b="1">
                <a:solidFill>
                  <a:srgbClr val="172F40"/>
                </a:solidFill>
                <a:latin typeface="Arial"/>
                <a:ea typeface="Arial"/>
                <a:cs typeface="Arial"/>
              </a:defRPr>
            </a:pPr>
            <a:r>
              <a:rPr sz="3150" b="1">
                <a:solidFill>
                  <a:srgbClr val="172F40"/>
                </a:solidFill>
                <a:latin typeface="Arial"/>
                <a:ea typeface="Arial"/>
                <a:cs typeface="Arial"/>
              </a:rPr>
              <a:t>Lessons and Challenge 4</a:t>
            </a:r>
          </a:p>
        </p:txBody>
      </p:sp>
      <p:sp>
        <p:nvSpPr>
          <p:cNvPr id="2" name="">
            <a:extLst xmlns:a="http://schemas.openxmlformats.org/drawingml/2006/main">
              <a:ext uri="{FF2B5EF4-FFF2-40B4-BE49-F238E27FC236}">
                <a16:creationId xmlns:a16="http://schemas.microsoft.com/office/drawing/2014/main" id="{1C697406-35E8-42E0-9C83-5508ECB84AD3}"/>
              </a:ext>
            </a:extLst>
          </p:cNvPr>
          <p:cNvSpPr>
            <a:spLocks xmlns:a="http://schemas.openxmlformats.org/drawingml/2006/main" noGrp="1"/>
          </p:cNvSpPr>
          <p:nvPr/>
        </p:nvSpPr>
        <p:spPr>
          <a:xfrm xmlns:a="http://schemas.openxmlformats.org/drawingml/2006/main">
            <a:off x="533400" y="6429375"/>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54636C"/>
                </a:solidFill>
                <a:latin typeface="Arial"/>
                <a:ea typeface="Arial"/>
                <a:cs typeface="Arial"/>
              </a:defRPr>
            </a:defPPr>
            <a:lvl1pPr>
              <a:defRPr sz="1275" b="0">
                <a:solidFill>
                  <a:srgbClr val="54636C"/>
                </a:solidFill>
                <a:latin typeface="Arial"/>
                <a:ea typeface="Arial"/>
                <a:cs typeface="Arial"/>
              </a:defRPr>
            </a:lvl1pPr>
            <a:lvl2pPr>
              <a:defRPr sz="1275" b="0">
                <a:solidFill>
                  <a:srgbClr val="54636C"/>
                </a:solidFill>
                <a:latin typeface="Arial"/>
                <a:ea typeface="Arial"/>
                <a:cs typeface="Arial"/>
              </a:defRPr>
            </a:lvl2pPr>
            <a:lvl3pPr>
              <a:defRPr sz="1275" b="0">
                <a:solidFill>
                  <a:srgbClr val="54636C"/>
                </a:solidFill>
                <a:latin typeface="Arial"/>
                <a:ea typeface="Arial"/>
                <a:cs typeface="Arial"/>
              </a:defRPr>
            </a:lvl3pPr>
            <a:lvl4pPr>
              <a:defRPr sz="1275" b="0">
                <a:solidFill>
                  <a:srgbClr val="54636C"/>
                </a:solidFill>
                <a:latin typeface="Arial"/>
                <a:ea typeface="Arial"/>
                <a:cs typeface="Arial"/>
              </a:defRPr>
            </a:lvl4pPr>
            <a:lvl5pPr>
              <a:defRPr sz="1275" b="0">
                <a:solidFill>
                  <a:srgbClr val="54636C"/>
                </a:solidFill>
                <a:latin typeface="Arial"/>
                <a:ea typeface="Arial"/>
                <a:cs typeface="Arial"/>
              </a:defRPr>
            </a:lvl5pPr>
            <a:lvl6pPr>
              <a:defRPr sz="1275" b="0">
                <a:solidFill>
                  <a:srgbClr val="54636C"/>
                </a:solidFill>
                <a:latin typeface="Arial"/>
                <a:ea typeface="Arial"/>
                <a:cs typeface="Arial"/>
              </a:defRPr>
            </a:lvl6pPr>
            <a:lvl7pPr>
              <a:defRPr sz="1275" b="0">
                <a:solidFill>
                  <a:srgbClr val="54636C"/>
                </a:solidFill>
                <a:latin typeface="Arial"/>
                <a:ea typeface="Arial"/>
                <a:cs typeface="Arial"/>
              </a:defRPr>
            </a:lvl7pPr>
            <a:lvl8pPr>
              <a:defRPr sz="1275" b="0">
                <a:solidFill>
                  <a:srgbClr val="54636C"/>
                </a:solidFill>
                <a:latin typeface="Arial"/>
                <a:ea typeface="Arial"/>
                <a:cs typeface="Arial"/>
              </a:defRPr>
            </a:lvl8pPr>
            <a:lvl9pPr>
              <a:defRPr sz="1275" b="0">
                <a:solidFill>
                  <a:srgbClr val="54636C"/>
                </a:solidFill>
                <a:latin typeface="Arial"/>
                <a:ea typeface="Arial"/>
                <a:cs typeface="Arial"/>
              </a:defRPr>
            </a:lvl9pPr>
          </a:lstStyle>
          <a:p xmlns:a="http://schemas.openxmlformats.org/drawingml/2006/main">
            <a:pPr>
              <a:defRPr sz="1275" b="0">
                <a:solidFill>
                  <a:srgbClr val="54636C"/>
                </a:solidFill>
                <a:latin typeface="Arial"/>
                <a:ea typeface="Arial"/>
                <a:cs typeface="Arial"/>
              </a:defRPr>
            </a:pPr>
            <a:r>
              <a:rPr sz="1275" b="0">
                <a:solidFill>
                  <a:srgbClr val="54636C"/>
                </a:solidFill>
                <a:latin typeface="Arial"/>
                <a:ea typeface="Arial"/>
                <a:cs typeface="Arial"/>
              </a:rPr>
              <a:t>12   Report Sections 7–8 and consolidated reproducibility guide</a:t>
            </a:r>
          </a:p>
        </p:txBody>
      </p:sp>
      <p:sp>
        <p:nvSpPr>
          <p:cNvPr id="3" name="">
            <a:extLst xmlns:a="http://schemas.openxmlformats.org/drawingml/2006/main">
              <a:ext uri="{FF2B5EF4-FFF2-40B4-BE49-F238E27FC236}">
                <a16:creationId xmlns:a16="http://schemas.microsoft.com/office/drawing/2014/main" id="{3D7F6623-27D6-4671-B8A9-7FAD1AF0DFBA}"/>
              </a:ext>
            </a:extLst>
          </p:cNvPr>
          <p:cNvSpPr>
            <a:spLocks xmlns:a="http://schemas.openxmlformats.org/drawingml/2006/main" noGrp="1"/>
          </p:cNvSpPr>
          <p:nvPr/>
        </p:nvSpPr>
        <p:spPr>
          <a:xfrm xmlns:a="http://schemas.openxmlformats.org/drawingml/2006/main">
            <a:off x="533400" y="1381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72F40"/>
                </a:solidFill>
                <a:latin typeface="Arial"/>
                <a:ea typeface="Arial"/>
                <a:cs typeface="Arial"/>
              </a:defRPr>
            </a:defPPr>
            <a:lvl1pPr>
              <a:defRPr sz="2325" b="1">
                <a:solidFill>
                  <a:srgbClr val="172F40"/>
                </a:solidFill>
                <a:latin typeface="Arial"/>
                <a:ea typeface="Arial"/>
                <a:cs typeface="Arial"/>
              </a:defRPr>
            </a:lvl1pPr>
            <a:lvl2pPr>
              <a:defRPr sz="2325" b="1">
                <a:solidFill>
                  <a:srgbClr val="172F40"/>
                </a:solidFill>
                <a:latin typeface="Arial"/>
                <a:ea typeface="Arial"/>
                <a:cs typeface="Arial"/>
              </a:defRPr>
            </a:lvl2pPr>
            <a:lvl3pPr>
              <a:defRPr sz="2325" b="1">
                <a:solidFill>
                  <a:srgbClr val="172F40"/>
                </a:solidFill>
                <a:latin typeface="Arial"/>
                <a:ea typeface="Arial"/>
                <a:cs typeface="Arial"/>
              </a:defRPr>
            </a:lvl3pPr>
            <a:lvl4pPr>
              <a:defRPr sz="2325" b="1">
                <a:solidFill>
                  <a:srgbClr val="172F40"/>
                </a:solidFill>
                <a:latin typeface="Arial"/>
                <a:ea typeface="Arial"/>
                <a:cs typeface="Arial"/>
              </a:defRPr>
            </a:lvl4pPr>
            <a:lvl5pPr>
              <a:defRPr sz="2325" b="1">
                <a:solidFill>
                  <a:srgbClr val="172F40"/>
                </a:solidFill>
                <a:latin typeface="Arial"/>
                <a:ea typeface="Arial"/>
                <a:cs typeface="Arial"/>
              </a:defRPr>
            </a:lvl5pPr>
            <a:lvl6pPr>
              <a:defRPr sz="2325" b="1">
                <a:solidFill>
                  <a:srgbClr val="172F40"/>
                </a:solidFill>
                <a:latin typeface="Arial"/>
                <a:ea typeface="Arial"/>
                <a:cs typeface="Arial"/>
              </a:defRPr>
            </a:lvl6pPr>
            <a:lvl7pPr>
              <a:defRPr sz="2325" b="1">
                <a:solidFill>
                  <a:srgbClr val="172F40"/>
                </a:solidFill>
                <a:latin typeface="Arial"/>
                <a:ea typeface="Arial"/>
                <a:cs typeface="Arial"/>
              </a:defRPr>
            </a:lvl7pPr>
            <a:lvl8pPr>
              <a:defRPr sz="2325" b="1">
                <a:solidFill>
                  <a:srgbClr val="172F40"/>
                </a:solidFill>
                <a:latin typeface="Arial"/>
                <a:ea typeface="Arial"/>
                <a:cs typeface="Arial"/>
              </a:defRPr>
            </a:lvl8pPr>
            <a:lvl9pPr>
              <a:defRPr sz="2325" b="1">
                <a:solidFill>
                  <a:srgbClr val="172F40"/>
                </a:solidFill>
                <a:latin typeface="Arial"/>
                <a:ea typeface="Arial"/>
                <a:cs typeface="Arial"/>
              </a:defRPr>
            </a:lvl9pPr>
          </a:lstStyle>
          <a:p xmlns:a="http://schemas.openxmlformats.org/drawingml/2006/main">
            <a:pPr>
              <a:defRPr sz="2325" b="1">
                <a:solidFill>
                  <a:srgbClr val="172F40"/>
                </a:solidFill>
                <a:latin typeface="Arial"/>
                <a:ea typeface="Arial"/>
                <a:cs typeface="Arial"/>
              </a:defRPr>
            </a:pPr>
            <a:r>
              <a:rPr sz="2325" b="1">
                <a:solidFill>
                  <a:srgbClr val="172F40"/>
                </a:solidFill>
                <a:latin typeface="Arial"/>
                <a:ea typeface="Arial"/>
                <a:cs typeface="Arial"/>
              </a:rPr>
              <a:t>Evidence quality limits answer quality</a:t>
            </a:r>
          </a:p>
        </p:txBody>
      </p:sp>
      <p:sp>
        <p:nvSpPr>
          <p:cNvPr id="4" name="">
            <a:extLst xmlns:a="http://schemas.openxmlformats.org/drawingml/2006/main">
              <a:ext uri="{FF2B5EF4-FFF2-40B4-BE49-F238E27FC236}">
                <a16:creationId xmlns:a16="http://schemas.microsoft.com/office/drawing/2014/main" id="{F45AD9CC-44CB-4BFB-98B5-A65F6EBA31AC}"/>
              </a:ext>
            </a:extLst>
          </p:cNvPr>
          <p:cNvSpPr>
            <a:spLocks xmlns:a="http://schemas.openxmlformats.org/drawingml/2006/main" noGrp="1"/>
          </p:cNvSpPr>
          <p:nvPr/>
        </p:nvSpPr>
        <p:spPr>
          <a:xfrm xmlns:a="http://schemas.openxmlformats.org/drawingml/2006/main">
            <a:off x="533400" y="1952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Snapshot amendments, incomplete family screening and bounded retrieval remain explicit limitations.</a:t>
            </a:r>
          </a:p>
        </p:txBody>
      </p:sp>
      <p:sp>
        <p:nvSpPr>
          <p:cNvPr id="5" name="">
            <a:extLst xmlns:a="http://schemas.openxmlformats.org/drawingml/2006/main">
              <a:ext uri="{FF2B5EF4-FFF2-40B4-BE49-F238E27FC236}">
                <a16:creationId xmlns:a16="http://schemas.microsoft.com/office/drawing/2014/main" id="{2887BA54-92E0-4A1C-9542-1D152C81E069}"/>
              </a:ext>
            </a:extLst>
          </p:cNvPr>
          <p:cNvSpPr>
            <a:spLocks xmlns:a="http://schemas.openxmlformats.org/drawingml/2006/main" noGrp="1"/>
          </p:cNvSpPr>
          <p:nvPr/>
        </p:nvSpPr>
        <p:spPr>
          <a:xfrm xmlns:a="http://schemas.openxmlformats.org/drawingml/2006/main">
            <a:off x="533400" y="29527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72F40"/>
                </a:solidFill>
                <a:latin typeface="Arial"/>
                <a:ea typeface="Arial"/>
                <a:cs typeface="Arial"/>
              </a:defRPr>
            </a:defPPr>
            <a:lvl1pPr>
              <a:defRPr sz="2325" b="1">
                <a:solidFill>
                  <a:srgbClr val="172F40"/>
                </a:solidFill>
                <a:latin typeface="Arial"/>
                <a:ea typeface="Arial"/>
                <a:cs typeface="Arial"/>
              </a:defRPr>
            </a:lvl1pPr>
            <a:lvl2pPr>
              <a:defRPr sz="2325" b="1">
                <a:solidFill>
                  <a:srgbClr val="172F40"/>
                </a:solidFill>
                <a:latin typeface="Arial"/>
                <a:ea typeface="Arial"/>
                <a:cs typeface="Arial"/>
              </a:defRPr>
            </a:lvl2pPr>
            <a:lvl3pPr>
              <a:defRPr sz="2325" b="1">
                <a:solidFill>
                  <a:srgbClr val="172F40"/>
                </a:solidFill>
                <a:latin typeface="Arial"/>
                <a:ea typeface="Arial"/>
                <a:cs typeface="Arial"/>
              </a:defRPr>
            </a:lvl3pPr>
            <a:lvl4pPr>
              <a:defRPr sz="2325" b="1">
                <a:solidFill>
                  <a:srgbClr val="172F40"/>
                </a:solidFill>
                <a:latin typeface="Arial"/>
                <a:ea typeface="Arial"/>
                <a:cs typeface="Arial"/>
              </a:defRPr>
            </a:lvl4pPr>
            <a:lvl5pPr>
              <a:defRPr sz="2325" b="1">
                <a:solidFill>
                  <a:srgbClr val="172F40"/>
                </a:solidFill>
                <a:latin typeface="Arial"/>
                <a:ea typeface="Arial"/>
                <a:cs typeface="Arial"/>
              </a:defRPr>
            </a:lvl5pPr>
            <a:lvl6pPr>
              <a:defRPr sz="2325" b="1">
                <a:solidFill>
                  <a:srgbClr val="172F40"/>
                </a:solidFill>
                <a:latin typeface="Arial"/>
                <a:ea typeface="Arial"/>
                <a:cs typeface="Arial"/>
              </a:defRPr>
            </a:lvl6pPr>
            <a:lvl7pPr>
              <a:defRPr sz="2325" b="1">
                <a:solidFill>
                  <a:srgbClr val="172F40"/>
                </a:solidFill>
                <a:latin typeface="Arial"/>
                <a:ea typeface="Arial"/>
                <a:cs typeface="Arial"/>
              </a:defRPr>
            </a:lvl7pPr>
            <a:lvl8pPr>
              <a:defRPr sz="2325" b="1">
                <a:solidFill>
                  <a:srgbClr val="172F40"/>
                </a:solidFill>
                <a:latin typeface="Arial"/>
                <a:ea typeface="Arial"/>
                <a:cs typeface="Arial"/>
              </a:defRPr>
            </a:lvl8pPr>
            <a:lvl9pPr>
              <a:defRPr sz="2325" b="1">
                <a:solidFill>
                  <a:srgbClr val="172F40"/>
                </a:solidFill>
                <a:latin typeface="Arial"/>
                <a:ea typeface="Arial"/>
                <a:cs typeface="Arial"/>
              </a:defRPr>
            </a:lvl9pPr>
          </a:lstStyle>
          <a:p xmlns:a="http://schemas.openxmlformats.org/drawingml/2006/main">
            <a:pPr>
              <a:defRPr sz="2325" b="1">
                <a:solidFill>
                  <a:srgbClr val="172F40"/>
                </a:solidFill>
                <a:latin typeface="Arial"/>
                <a:ea typeface="Arial"/>
                <a:cs typeface="Arial"/>
              </a:defRPr>
            </a:pPr>
            <a:r>
              <a:rPr sz="2325" b="1">
                <a:solidFill>
                  <a:srgbClr val="172F40"/>
                </a:solidFill>
                <a:latin typeface="Arial"/>
                <a:ea typeface="Arial"/>
                <a:cs typeface="Arial"/>
              </a:rPr>
              <a:t>Revised models need independent confirmation data</a:t>
            </a:r>
          </a:p>
        </p:txBody>
      </p:sp>
      <p:sp>
        <p:nvSpPr>
          <p:cNvPr id="6" name="">
            <a:extLst xmlns:a="http://schemas.openxmlformats.org/drawingml/2006/main">
              <a:ext uri="{FF2B5EF4-FFF2-40B4-BE49-F238E27FC236}">
                <a16:creationId xmlns:a16="http://schemas.microsoft.com/office/drawing/2014/main" id="{C82E9E22-9035-400C-8B28-A47EA3CB7BB8}"/>
              </a:ext>
            </a:extLst>
          </p:cNvPr>
          <p:cNvSpPr>
            <a:spLocks xmlns:a="http://schemas.openxmlformats.org/drawingml/2006/main" noGrp="1"/>
          </p:cNvSpPr>
          <p:nvPr/>
        </p:nvSpPr>
        <p:spPr>
          <a:xfrm xmlns:a="http://schemas.openxmlformats.org/drawingml/2006/main">
            <a:off x="533400" y="3524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The current test is exposed. Future GNN improvements need prespecified training-only development.</a:t>
            </a:r>
          </a:p>
        </p:txBody>
      </p:sp>
      <p:sp>
        <p:nvSpPr>
          <p:cNvPr id="7" name="">
            <a:extLst xmlns:a="http://schemas.openxmlformats.org/drawingml/2006/main">
              <a:ext uri="{FF2B5EF4-FFF2-40B4-BE49-F238E27FC236}">
                <a16:creationId xmlns:a16="http://schemas.microsoft.com/office/drawing/2014/main" id="{25FB04EA-9A14-4CEC-B6EA-D76D4D2020D7}"/>
              </a:ext>
            </a:extLst>
          </p:cNvPr>
          <p:cNvSpPr>
            <a:spLocks xmlns:a="http://schemas.openxmlformats.org/drawingml/2006/main" noGrp="1"/>
          </p:cNvSpPr>
          <p:nvPr/>
        </p:nvSpPr>
        <p:spPr>
          <a:xfrm xmlns:a="http://schemas.openxmlformats.org/drawingml/2006/main">
            <a:off x="533400" y="4524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325" b="1">
                <a:solidFill>
                  <a:srgbClr val="172F40"/>
                </a:solidFill>
                <a:latin typeface="Arial"/>
                <a:ea typeface="Arial"/>
                <a:cs typeface="Arial"/>
              </a:defRPr>
            </a:defPPr>
            <a:lvl1pPr>
              <a:defRPr sz="2325" b="1">
                <a:solidFill>
                  <a:srgbClr val="172F40"/>
                </a:solidFill>
                <a:latin typeface="Arial"/>
                <a:ea typeface="Arial"/>
                <a:cs typeface="Arial"/>
              </a:defRPr>
            </a:lvl1pPr>
            <a:lvl2pPr>
              <a:defRPr sz="2325" b="1">
                <a:solidFill>
                  <a:srgbClr val="172F40"/>
                </a:solidFill>
                <a:latin typeface="Arial"/>
                <a:ea typeface="Arial"/>
                <a:cs typeface="Arial"/>
              </a:defRPr>
            </a:lvl2pPr>
            <a:lvl3pPr>
              <a:defRPr sz="2325" b="1">
                <a:solidFill>
                  <a:srgbClr val="172F40"/>
                </a:solidFill>
                <a:latin typeface="Arial"/>
                <a:ea typeface="Arial"/>
                <a:cs typeface="Arial"/>
              </a:defRPr>
            </a:lvl3pPr>
            <a:lvl4pPr>
              <a:defRPr sz="2325" b="1">
                <a:solidFill>
                  <a:srgbClr val="172F40"/>
                </a:solidFill>
                <a:latin typeface="Arial"/>
                <a:ea typeface="Arial"/>
                <a:cs typeface="Arial"/>
              </a:defRPr>
            </a:lvl4pPr>
            <a:lvl5pPr>
              <a:defRPr sz="2325" b="1">
                <a:solidFill>
                  <a:srgbClr val="172F40"/>
                </a:solidFill>
                <a:latin typeface="Arial"/>
                <a:ea typeface="Arial"/>
                <a:cs typeface="Arial"/>
              </a:defRPr>
            </a:lvl5pPr>
            <a:lvl6pPr>
              <a:defRPr sz="2325" b="1">
                <a:solidFill>
                  <a:srgbClr val="172F40"/>
                </a:solidFill>
                <a:latin typeface="Arial"/>
                <a:ea typeface="Arial"/>
                <a:cs typeface="Arial"/>
              </a:defRPr>
            </a:lvl6pPr>
            <a:lvl7pPr>
              <a:defRPr sz="2325" b="1">
                <a:solidFill>
                  <a:srgbClr val="172F40"/>
                </a:solidFill>
                <a:latin typeface="Arial"/>
                <a:ea typeface="Arial"/>
                <a:cs typeface="Arial"/>
              </a:defRPr>
            </a:lvl7pPr>
            <a:lvl8pPr>
              <a:defRPr sz="2325" b="1">
                <a:solidFill>
                  <a:srgbClr val="172F40"/>
                </a:solidFill>
                <a:latin typeface="Arial"/>
                <a:ea typeface="Arial"/>
                <a:cs typeface="Arial"/>
              </a:defRPr>
            </a:lvl8pPr>
            <a:lvl9pPr>
              <a:defRPr sz="2325" b="1">
                <a:solidFill>
                  <a:srgbClr val="172F40"/>
                </a:solidFill>
                <a:latin typeface="Arial"/>
                <a:ea typeface="Arial"/>
                <a:cs typeface="Arial"/>
              </a:defRPr>
            </a:lvl9pPr>
          </a:lstStyle>
          <a:p xmlns:a="http://schemas.openxmlformats.org/drawingml/2006/main">
            <a:pPr>
              <a:defRPr sz="2325" b="1">
                <a:solidFill>
                  <a:srgbClr val="172F40"/>
                </a:solidFill>
                <a:latin typeface="Arial"/>
                <a:ea typeface="Arial"/>
                <a:cs typeface="Arial"/>
              </a:defRPr>
            </a:pPr>
            <a:r>
              <a:rPr sz="2325" b="1">
                <a:solidFill>
                  <a:srgbClr val="172F40"/>
                </a:solidFill>
                <a:latin typeface="Arial"/>
                <a:ea typeface="Arial"/>
                <a:cs typeface="Arial"/>
              </a:rPr>
              <a:t>Controlled RAG comparison remains future work</a:t>
            </a:r>
          </a:p>
        </p:txBody>
      </p:sp>
      <p:sp>
        <p:nvSpPr>
          <p:cNvPr id="8" name="">
            <a:extLst xmlns:a="http://schemas.openxmlformats.org/drawingml/2006/main">
              <a:ext uri="{FF2B5EF4-FFF2-40B4-BE49-F238E27FC236}">
                <a16:creationId xmlns:a16="http://schemas.microsoft.com/office/drawing/2014/main" id="{352C1F61-6855-46A7-B380-60B86AD35D95}"/>
              </a:ext>
            </a:extLst>
          </p:cNvPr>
          <p:cNvSpPr>
            <a:spLocks xmlns:a="http://schemas.openxmlformats.org/drawingml/2006/main" noGrp="1"/>
          </p:cNvSpPr>
          <p:nvPr/>
        </p:nvSpPr>
        <p:spPr>
          <a:xfrm xmlns:a="http://schemas.openxmlformats.org/drawingml/2006/main">
            <a:off x="533400" y="5095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0">
                <a:solidFill>
                  <a:srgbClr val="172F40"/>
                </a:solidFill>
                <a:latin typeface="Arial"/>
                <a:ea typeface="Arial"/>
                <a:cs typeface="Arial"/>
              </a:defRPr>
            </a:defPPr>
            <a:lvl1pPr>
              <a:defRPr sz="1950" b="0">
                <a:solidFill>
                  <a:srgbClr val="172F40"/>
                </a:solidFill>
                <a:latin typeface="Arial"/>
                <a:ea typeface="Arial"/>
                <a:cs typeface="Arial"/>
              </a:defRPr>
            </a:lvl1pPr>
            <a:lvl2pPr>
              <a:defRPr sz="1950" b="0">
                <a:solidFill>
                  <a:srgbClr val="172F40"/>
                </a:solidFill>
                <a:latin typeface="Arial"/>
                <a:ea typeface="Arial"/>
                <a:cs typeface="Arial"/>
              </a:defRPr>
            </a:lvl2pPr>
            <a:lvl3pPr>
              <a:defRPr sz="1950" b="0">
                <a:solidFill>
                  <a:srgbClr val="172F40"/>
                </a:solidFill>
                <a:latin typeface="Arial"/>
                <a:ea typeface="Arial"/>
                <a:cs typeface="Arial"/>
              </a:defRPr>
            </a:lvl3pPr>
            <a:lvl4pPr>
              <a:defRPr sz="1950" b="0">
                <a:solidFill>
                  <a:srgbClr val="172F40"/>
                </a:solidFill>
                <a:latin typeface="Arial"/>
                <a:ea typeface="Arial"/>
                <a:cs typeface="Arial"/>
              </a:defRPr>
            </a:lvl4pPr>
            <a:lvl5pPr>
              <a:defRPr sz="1950" b="0">
                <a:solidFill>
                  <a:srgbClr val="172F40"/>
                </a:solidFill>
                <a:latin typeface="Arial"/>
                <a:ea typeface="Arial"/>
                <a:cs typeface="Arial"/>
              </a:defRPr>
            </a:lvl5pPr>
            <a:lvl6pPr>
              <a:defRPr sz="1950" b="0">
                <a:solidFill>
                  <a:srgbClr val="172F40"/>
                </a:solidFill>
                <a:latin typeface="Arial"/>
                <a:ea typeface="Arial"/>
                <a:cs typeface="Arial"/>
              </a:defRPr>
            </a:lvl6pPr>
            <a:lvl7pPr>
              <a:defRPr sz="1950" b="0">
                <a:solidFill>
                  <a:srgbClr val="172F40"/>
                </a:solidFill>
                <a:latin typeface="Arial"/>
                <a:ea typeface="Arial"/>
                <a:cs typeface="Arial"/>
              </a:defRPr>
            </a:lvl7pPr>
            <a:lvl8pPr>
              <a:defRPr sz="1950" b="0">
                <a:solidFill>
                  <a:srgbClr val="172F40"/>
                </a:solidFill>
                <a:latin typeface="Arial"/>
                <a:ea typeface="Arial"/>
                <a:cs typeface="Arial"/>
              </a:defRPr>
            </a:lvl8pPr>
            <a:lvl9pPr>
              <a:defRPr sz="1950" b="0">
                <a:solidFill>
                  <a:srgbClr val="172F40"/>
                </a:solidFill>
                <a:latin typeface="Arial"/>
                <a:ea typeface="Arial"/>
                <a:cs typeface="Arial"/>
              </a:defRPr>
            </a:lvl9pPr>
          </a:lstStyle>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Use the frozen Q1–Q10 specification, transparent budgets and provenance-aware scoring.</a:t>
            </a:r>
          </a:p>
        </p:txBody>
      </p:sp>
      <p:sp>
        <p:nvSpPr>
          <p:cNvPr id="9" name="">
            <a:extLst xmlns:a="http://schemas.openxmlformats.org/drawingml/2006/main">
              <a:ext uri="{FF2B5EF4-FFF2-40B4-BE49-F238E27FC236}">
                <a16:creationId xmlns:a16="http://schemas.microsoft.com/office/drawing/2014/main" id="{965A6E37-6F3B-4073-ABBB-FF7733E42A69}"/>
              </a:ext>
            </a:extLst>
          </p:cNvPr>
          <p:cNvSpPr>
            <a:spLocks xmlns:a="http://schemas.openxmlformats.org/drawingml/2006/main" noGrp="1"/>
          </p:cNvSpPr>
          <p:nvPr/>
        </p:nvSpPr>
        <p:spPr>
          <a:xfrm xmlns:a="http://schemas.openxmlformats.org/drawingml/2006/main">
            <a:off x="533400" y="59531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8C641F"/>
                </a:solidFill>
                <a:latin typeface="Arial"/>
                <a:ea typeface="Arial"/>
                <a:cs typeface="Arial"/>
              </a:defRPr>
            </a:defPPr>
            <a:lvl1pPr>
              <a:defRPr sz="1650" b="0">
                <a:solidFill>
                  <a:srgbClr val="8C641F"/>
                </a:solidFill>
                <a:latin typeface="Arial"/>
                <a:ea typeface="Arial"/>
                <a:cs typeface="Arial"/>
              </a:defRPr>
            </a:lvl1pPr>
            <a:lvl2pPr>
              <a:defRPr sz="1650" b="0">
                <a:solidFill>
                  <a:srgbClr val="8C641F"/>
                </a:solidFill>
                <a:latin typeface="Arial"/>
                <a:ea typeface="Arial"/>
                <a:cs typeface="Arial"/>
              </a:defRPr>
            </a:lvl2pPr>
            <a:lvl3pPr>
              <a:defRPr sz="1650" b="0">
                <a:solidFill>
                  <a:srgbClr val="8C641F"/>
                </a:solidFill>
                <a:latin typeface="Arial"/>
                <a:ea typeface="Arial"/>
                <a:cs typeface="Arial"/>
              </a:defRPr>
            </a:lvl3pPr>
            <a:lvl4pPr>
              <a:defRPr sz="1650" b="0">
                <a:solidFill>
                  <a:srgbClr val="8C641F"/>
                </a:solidFill>
                <a:latin typeface="Arial"/>
                <a:ea typeface="Arial"/>
                <a:cs typeface="Arial"/>
              </a:defRPr>
            </a:lvl4pPr>
            <a:lvl5pPr>
              <a:defRPr sz="1650" b="0">
                <a:solidFill>
                  <a:srgbClr val="8C641F"/>
                </a:solidFill>
                <a:latin typeface="Arial"/>
                <a:ea typeface="Arial"/>
                <a:cs typeface="Arial"/>
              </a:defRPr>
            </a:lvl5pPr>
            <a:lvl6pPr>
              <a:defRPr sz="1650" b="0">
                <a:solidFill>
                  <a:srgbClr val="8C641F"/>
                </a:solidFill>
                <a:latin typeface="Arial"/>
                <a:ea typeface="Arial"/>
                <a:cs typeface="Arial"/>
              </a:defRPr>
            </a:lvl6pPr>
            <a:lvl7pPr>
              <a:defRPr sz="1650" b="0">
                <a:solidFill>
                  <a:srgbClr val="8C641F"/>
                </a:solidFill>
                <a:latin typeface="Arial"/>
                <a:ea typeface="Arial"/>
                <a:cs typeface="Arial"/>
              </a:defRPr>
            </a:lvl7pPr>
            <a:lvl8pPr>
              <a:defRPr sz="1650" b="0">
                <a:solidFill>
                  <a:srgbClr val="8C641F"/>
                </a:solidFill>
                <a:latin typeface="Arial"/>
                <a:ea typeface="Arial"/>
                <a:cs typeface="Arial"/>
              </a:defRPr>
            </a:lvl8pPr>
            <a:lvl9pPr>
              <a:defRPr sz="1650" b="0">
                <a:solidFill>
                  <a:srgbClr val="8C641F"/>
                </a:solidFill>
                <a:latin typeface="Arial"/>
                <a:ea typeface="Arial"/>
                <a:cs typeface="Arial"/>
              </a:defRPr>
            </a:lvl9pPr>
          </a:lstStyle>
          <a:p xmlns:a="http://schemas.openxmlformats.org/drawingml/2006/main">
            <a:pPr>
              <a:defRPr sz="1650" b="0">
                <a:solidFill>
                  <a:srgbClr val="8C641F"/>
                </a:solidFill>
                <a:latin typeface="Arial"/>
                <a:ea typeface="Arial"/>
                <a:cs typeface="Arial"/>
              </a:defRPr>
            </a:pPr>
            <a:r>
              <a:rPr sz="1650" b="0">
                <a:solidFill>
                  <a:srgbClr val="8C641F"/>
                </a:solidFill>
                <a:latin typeface="Arial"/>
                <a:ea typeface="Arial"/>
                <a:cs typeface="Arial"/>
              </a:rPr>
              <a:t>Before publication: rotate the exposed credential and review the local full-cohort files.</a:t>
            </a:r>
          </a:p>
        </p:txBody>
      </p:sp>
    </p:spTree>
    <p:extLst>
      <p:ext uri="{BB962C8B-B14F-4D97-AF65-F5344CB8AC3E}">
        <p14:creationId xmlns:p14="http://schemas.microsoft.com/office/powerpoint/2010/main" val="1257141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2026-10-25T13:53:10.5780000Z</dcterms:created>
  <dcterms:modified xsi:type="dcterms:W3CDTF">2026-10-25T13:53:10.5790000Z</dcterms:modified>
</coreProperties>
</file>