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5237f7abe74fca" /><Relationship Type="http://schemas.openxmlformats.org/officeDocument/2006/relationships/extended-properties" Target="/docProps/app.xml" Id="Rd4103548462d47d3" /><Relationship Type="http://schemas.openxmlformats.org/officeDocument/2006/relationships/officeDocument" Target="/ppt/presentation.xml" Id="R8c0ed8a27962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19a50b4e4b40d9"/>
  </p:sldMasterIdLst>
  <p:notesMasterIdLst>
    <p:notesMasterId xmlns:r="http://schemas.openxmlformats.org/officeDocument/2006/relationships" r:id="R8408d436f46d45c8"/>
  </p:notesMasterIdLst>
  <p:sldIdLst>
    <p:sldId xmlns:r="http://schemas.openxmlformats.org/officeDocument/2006/relationships" id="256" r:id="R1e7dc5c160ae4510"/>
    <p:sldId xmlns:r="http://schemas.openxmlformats.org/officeDocument/2006/relationships" id="257" r:id="R66c2145d501d4fe9"/>
    <p:sldId xmlns:r="http://schemas.openxmlformats.org/officeDocument/2006/relationships" id="258" r:id="R85af9b78c34141ed"/>
    <p:sldId xmlns:r="http://schemas.openxmlformats.org/officeDocument/2006/relationships" id="259" r:id="R1950901ae081402f"/>
    <p:sldId xmlns:r="http://schemas.openxmlformats.org/officeDocument/2006/relationships" id="260" r:id="R7e7dff85e3b446ac"/>
    <p:sldId xmlns:r="http://schemas.openxmlformats.org/officeDocument/2006/relationships" id="261" r:id="Rbec1a76842ca4456"/>
    <p:sldId xmlns:r="http://schemas.openxmlformats.org/officeDocument/2006/relationships" id="262" r:id="R315134322a844583"/>
    <p:sldId xmlns:r="http://schemas.openxmlformats.org/officeDocument/2006/relationships" id="263" r:id="R0951d1c4cd4540d5"/>
    <p:sldId xmlns:r="http://schemas.openxmlformats.org/officeDocument/2006/relationships" id="264" r:id="R60886972163c47f4"/>
    <p:sldId xmlns:r="http://schemas.openxmlformats.org/officeDocument/2006/relationships" id="265" r:id="R65f387a6554c44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02429d4c1408a" /><Relationship Type="http://schemas.openxmlformats.org/officeDocument/2006/relationships/slideMaster" Target="/ppt/slideMasters/slideMaster1.xml" Id="R9c19a50b4e4b40d9" /><Relationship Type="http://schemas.openxmlformats.org/officeDocument/2006/relationships/notesMaster" Target="/ppt/notesMasters/notesMaster1.xml" Id="R8408d436f46d45c8" /><Relationship Type="http://schemas.openxmlformats.org/officeDocument/2006/relationships/presProps" Target="/ppt/presProps.xml" Id="R4eabf848e2194363" /><Relationship Type="http://schemas.openxmlformats.org/officeDocument/2006/relationships/tableStyles" Target="/ppt/tableStyles.xml" Id="R23bbb9ce99c64579" /><Relationship Type="http://schemas.openxmlformats.org/officeDocument/2006/relationships/slide" Target="/ppt/slides/slide1.xml" Id="R1e7dc5c160ae4510" /><Relationship Type="http://schemas.openxmlformats.org/officeDocument/2006/relationships/slide" Target="/ppt/slides/slide2.xml" Id="R66c2145d501d4fe9" /><Relationship Type="http://schemas.openxmlformats.org/officeDocument/2006/relationships/slide" Target="/ppt/slides/slide3.xml" Id="R85af9b78c34141ed" /><Relationship Type="http://schemas.openxmlformats.org/officeDocument/2006/relationships/slide" Target="/ppt/slides/slide4.xml" Id="R1950901ae081402f" /><Relationship Type="http://schemas.openxmlformats.org/officeDocument/2006/relationships/slide" Target="/ppt/slides/slide5.xml" Id="R7e7dff85e3b446ac" /><Relationship Type="http://schemas.openxmlformats.org/officeDocument/2006/relationships/slide" Target="/ppt/slides/slide6.xml" Id="Rbec1a76842ca4456" /><Relationship Type="http://schemas.openxmlformats.org/officeDocument/2006/relationships/slide" Target="/ppt/slides/slide7.xml" Id="R315134322a844583" /><Relationship Type="http://schemas.openxmlformats.org/officeDocument/2006/relationships/slide" Target="/ppt/slides/slide8.xml" Id="R0951d1c4cd4540d5" /><Relationship Type="http://schemas.openxmlformats.org/officeDocument/2006/relationships/slide" Target="/ppt/slides/slide9.xml" Id="R60886972163c47f4" /><Relationship Type="http://schemas.openxmlformats.org/officeDocument/2006/relationships/slide" Target="/ppt/slides/slide10.xml" Id="R65f387a6554c44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f7490e9e6241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c040b90e774ddc" /><Relationship Type="http://schemas.openxmlformats.org/officeDocument/2006/relationships/notesMaster" Target="/ppt/notesMasters/notesMaster1.xml" Id="R16568580ddb0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7fe485273744bf" /><Relationship Type="http://schemas.openxmlformats.org/officeDocument/2006/relationships/notesMaster" Target="/ppt/notesMasters/notesMaster1.xml" Id="R7b884bac2f1c42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c5738cbf164b96" /><Relationship Type="http://schemas.openxmlformats.org/officeDocument/2006/relationships/notesMaster" Target="/ppt/notesMasters/notesMaster1.xml" Id="R6314b774069d43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00db45bd6440ef" /><Relationship Type="http://schemas.openxmlformats.org/officeDocument/2006/relationships/notesMaster" Target="/ppt/notesMasters/notesMaster1.xml" Id="Rb7fa1d9586a44f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634603de464baf" /><Relationship Type="http://schemas.openxmlformats.org/officeDocument/2006/relationships/notesMaster" Target="/ppt/notesMasters/notesMaster1.xml" Id="R8a21bceb051a43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3d2fb688d846e9" /><Relationship Type="http://schemas.openxmlformats.org/officeDocument/2006/relationships/notesMaster" Target="/ppt/notesMasters/notesMaster1.xml" Id="Rf46ed16cf9e042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42ded78cc141a2" /><Relationship Type="http://schemas.openxmlformats.org/officeDocument/2006/relationships/notesMaster" Target="/ppt/notesMasters/notesMaster1.xml" Id="R293d3f5bbd3a4a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37dcd2893f4b2d" /><Relationship Type="http://schemas.openxmlformats.org/officeDocument/2006/relationships/notesMaster" Target="/ppt/notesMasters/notesMaster1.xml" Id="Rfa386bb38ee448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e644cdca14383" /><Relationship Type="http://schemas.openxmlformats.org/officeDocument/2006/relationships/notesMaster" Target="/ppt/notesMasters/notesMaster1.xml" Id="R611acd53dddc49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3be5a6ebad4c23" /><Relationship Type="http://schemas.openxmlformats.org/officeDocument/2006/relationships/notesMaster" Target="/ppt/notesMasters/notesMaster1.xml" Id="R40bb225756c741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materials: Human Design, AI Design, frozen cohort HTT-P1-AACT-20260905, validation_metrics.json, and the finalized Streamlit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week 4/human design/HeartTrialTwin_Challenge2_Human_Design.pptx; p1_app/feature_audit.md; historical_retrieval_pilot/pilot_report.md.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p1_app/app.py and p1_app/core.py. Runtime uses deterministic application logic, not an autonomous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p1_app/feature_build.py, train_model.py, score_all.py, evidence_fetch.py, app.py. Final-test labels are masked in features.parquet.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step3_manifest/HeartTrialTwin_first_p1_cohort_manifest_HTT-P1-AACT-20260905.audit.json and p1_app/feature_build_audit.json. Chart uses complete literal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screenshot captured from the local Streamlit app on 2026-09-20. Source image: p1_app/screenshots/01_failure_state.png.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p1_app/artefacts/validation_metrics.json. AUPRC 0.228136; prevalence baseline 0.232759; AUROC 0.484108; Brier 0.178645. Final test not 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screenshot captured from the local Streamlit app on 2026-09-20. The browser workflow verified accept, request revision, reject, and audit-log display.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p1_app/app.py, test evidence, screenshot verification, presentation validation, and published repository https://github.com/akwasianing/HeartTrialTwin. Codex assisted development; the project owner approved scope, constraints, validation evidence, blocked outputs, and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p1_app/TEST_RESULTS.md and p1_app/artefacts/pytest_results.xml. Current result: 8 passed, 0 failed, 0 skipped. Final test remains 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e13ed9fbb44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c858c3be5741b7" /><Relationship Type="http://schemas.openxmlformats.org/officeDocument/2006/relationships/slideLayout" Target="/ppt/slideLayouts/slideLayout1.xml" Id="Re440c55aa416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0c55aa416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b35a770e34c00" /><Relationship Type="http://schemas.openxmlformats.org/officeDocument/2006/relationships/notesSlide" Target="/ppt/notesSlides/notesSlide1.xml" Id="R393f8279fe814f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6eee4dd6d43a2" /><Relationship Type="http://schemas.openxmlformats.org/officeDocument/2006/relationships/notesSlide" Target="/ppt/notesSlides/notesSlide2.xml" Id="Rda52e576df1646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6df703be540fa" /><Relationship Type="http://schemas.openxmlformats.org/officeDocument/2006/relationships/notesSlide" Target="/ppt/notesSlides/notesSlide3.xml" Id="R1635deee4a0e44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3dc3c02b046fc" /><Relationship Type="http://schemas.openxmlformats.org/officeDocument/2006/relationships/notesSlide" Target="/ppt/notesSlides/notesSlide4.xml" Id="R96887f3bbeac46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81db6b1894a8c" /><Relationship Type="http://schemas.openxmlformats.org/officeDocument/2006/relationships/chart" Target="/ppt/slides/charts/chart1.xml" Id="R62b4154fd5b140a6" /><Relationship Type="http://schemas.openxmlformats.org/officeDocument/2006/relationships/notesSlide" Target="/ppt/notesSlides/notesSlide5.xml" Id="R9587c512076c4a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5e82f994844e1" /><Relationship Type="http://schemas.openxmlformats.org/officeDocument/2006/relationships/image" Target="/ppt/media/image.png" Id="R3ee4b09818af4916" /><Relationship Type="http://schemas.openxmlformats.org/officeDocument/2006/relationships/notesSlide" Target="/ppt/notesSlides/notesSlide6.xml" Id="Rd300ed167b564b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59bff50e414b" /><Relationship Type="http://schemas.openxmlformats.org/officeDocument/2006/relationships/chart" Target="/ppt/slides/charts/chart2.xml" Id="R48dfc21d3b6340f1" /><Relationship Type="http://schemas.openxmlformats.org/officeDocument/2006/relationships/notesSlide" Target="/ppt/notesSlides/notesSlide7.xml" Id="Rb8fcae32a7884a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1f801db414291" /><Relationship Type="http://schemas.openxmlformats.org/officeDocument/2006/relationships/image" Target="/ppt/media/image2.png" Id="R5c3fd6030952421d" /><Relationship Type="http://schemas.openxmlformats.org/officeDocument/2006/relationships/notesSlide" Target="/ppt/notesSlides/notesSlide8.xml" Id="R72d9c6f5df4746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e94c95d7643ec" /><Relationship Type="http://schemas.openxmlformats.org/officeDocument/2006/relationships/notesSlide" Target="/ppt/notesSlides/notesSlide9.xml" Id="Rb5483e91fb0c46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ecf8856f94a0b" /><Relationship Type="http://schemas.openxmlformats.org/officeDocument/2006/relationships/notesSlide" Target="/ppt/notesSlides/notesSlide10.xml" Id="Rf8c2e30b7dd6417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Trials</c:v>
          </c:tx>
          <c:spPr>
            <a:solidFill xmlns:a="http://schemas.openxmlformats.org/drawingml/2006/main">
              <a:srgbClr val="168C80"/>
            </a:solidFill>
          </c:spPr>
          <c:cat>
            <c:strLit>
              <c:ptCount val="3"/>
              <c:pt idx="0">
                <c:v>Development
1999–2017</c:v>
              </c:pt>
              <c:pt idx="1">
                <c:v>Validation
2018–2020</c:v>
              </c:pt>
              <c:pt idx="2">
                <c:v>Final test
2021–2024</c:v>
              </c:pt>
            </c:strLit>
          </c:cat>
          <c:val>
            <c:numLit>
              <c:formatCode>General</c:formatCode>
              <c:ptCount val="3"/>
              <c:pt idx="0">
                <c:v>1904</c:v>
              </c:pt>
              <c:pt idx="1">
                <c:v>464</c:v>
              </c:pt>
              <c:pt idx="2">
                <c:v>456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AUPRC</c:v>
          </c:tx>
          <c:spPr>
            <a:solidFill xmlns:a="http://schemas.openxmlformats.org/drawingml/2006/main">
              <a:srgbClr val="168C80"/>
            </a:solidFill>
          </c:spPr>
          <c:cat>
            <c:strLit>
              <c:ptCount val="2"/>
              <c:pt idx="0">
                <c:v>Temporal baseline</c:v>
              </c:pt>
              <c:pt idx="1">
                <c:v>No-skill prevalence</c:v>
              </c:pt>
            </c:strLit>
          </c:cat>
          <c:val>
            <c:numLit>
              <c:formatCode>General</c:formatCode>
              <c:ptCount val="2"/>
              <c:pt idx="0">
                <c:v>0.228136</c:v>
              </c:pt>
              <c:pt idx="1">
                <c:v>0.232759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EA2D8-6268-4316-A26F-D66BEE63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B9103-0C06-4619-B595-F78EC6A1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192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71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HeartTrialTwin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F6540-7EB7-40C7-80B4-789FC2F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Model-release readiness review for a selected clinical trial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F3B1F-0806-4187-96B9-59831B6F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7C7D6"/>
                </a:solidFill>
                <a:latin typeface="Helvetica Neue"/>
                <a:ea typeface="Helvetica Neue"/>
                <a:cs typeface="Helvetica Neue"/>
              </a:rPr>
              <a:t>CS 5588 Challenge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EFDA0-D341-45AB-91C4-D8900B10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7C7D6"/>
                </a:solidFill>
                <a:latin typeface="Helvetica Neue"/>
                <a:ea typeface="Helvetica Neue"/>
                <a:cs typeface="Helvetica Neue"/>
              </a:rPr>
              <a:t>Human–AI Co-Design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5DCF2-EEF4-42CF-9DD9-636540E1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715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8C80"/>
          </a:solidFill>
          <a:ln xmlns:a="http://schemas.openxmlformats.org/drawingml/2006/main" w="9525">
            <a:solidFill>
              <a:srgbClr val="168C8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Challenge 2  /  verified safe-failure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E421D-3A5B-44A4-9A65-5628E586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C7D6"/>
                </a:solidFill>
                <a:latin typeface="Helvetica Neue"/>
                <a:ea typeface="Helvetica Neue"/>
                <a:cs typeface="Helvetica Neue"/>
              </a:rPr>
              <a:t>Final delivery  ·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27667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C2017-0569-44F6-8EC7-75B09EFA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Human Design, AI Design, and Co-Design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494D5-3569-4380-BC83-E1BE6007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scope changed when evidence exposed a data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625AE-7F91-4195-A3B3-5611593D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A1824-549E-43AE-88C0-0ED05A5A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3048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HUMAN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Predict risk</a:t>
            </a:r>
          </a:p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Identify model factors</a:t>
            </a:r>
          </a:p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Explain with verified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DFB68-A86D-4E4C-80DC-0F8868FD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3048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CEFE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AI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Logistic Regression</a:t>
            </a:r>
          </a:p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SHAP on log-odds</a:t>
            </a:r>
          </a:p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Exact-NCT evidence</a:t>
            </a:r>
          </a:p>
          <a:p xmlns:a="http://schemas.openxmlformats.org/drawingml/2006/main">
            <a:pPr algn="ctr">
              <a:def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Deterministic explanation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878BE-D948-45D7-8447-E9EC97E1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3048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HUMAN–AI CO-DESIGN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Historical retrieval failed</a:t>
            </a:r>
          </a:p>
          <a:p xmlns:a="http://schemas.openxmlformats.org/drawingml/2006/main">
            <a:pPr algn="ctr">
              <a:def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One safe predictor remained</a:t>
            </a:r>
          </a:p>
          <a:p xmlns:a="http://schemas.openxmlformats.org/drawingml/2006/main">
            <a:pPr algn="ctr">
              <a:def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Validation failed</a:t>
            </a:r>
          </a:p>
          <a:p xmlns:a="http://schemas.openxmlformats.org/drawingml/2006/main">
            <a:pPr algn="ctr">
              <a:def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The application blocked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13C5C-C799-48DD-9265-028B798A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6230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E9C1D-5F09-465B-A29F-3D3F6AAD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6230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79861-9FE5-4767-982A-7372C2DF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Working task: Model-release readiness review for a selected clinical trial.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513D5-67AC-4C7C-9EA7-7BE1F777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CADC7-B33A-45D5-A0DC-560D3C1D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5129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04C7E-DEC3-48BB-84A7-2B9C0FAB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Human–AI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4FBB4-D709-4EE3-AD7E-953E3A5E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Model-release readiness review for a selected clinical 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3F8E2-3516-484E-B078-3BCE648E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DB6F4-0810-43B7-B802-65A4AC57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CEFE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Select NCT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92327-8E94-4E34-8BF3-0F18A005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47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8596F-7A5E-4379-97FC-E15E1C3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CEFE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Retrieve verified</a:t>
            </a:r>
          </a:p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submission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197EF-7252-4DA3-A781-5387CFDA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47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87210-BCBC-4CFC-A6B1-2638F08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Check model</a:t>
            </a:r>
          </a:p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21C26-BB08-46B6-BA23-FAC235AD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47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2E997-7784-4F3F-B17B-E3BF2EEC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E6C8"/>
          </a:solidFill>
          <a:ln xmlns:a="http://schemas.openxmlformats.org/drawingml/2006/main" w="9525">
            <a:solidFill>
              <a:srgbClr val="F6E6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rPr>
              <a:t>Read model</a:t>
            </a:r>
          </a:p>
          <a:p xmlns:a="http://schemas.openxmlformats.org/drawingml/2006/main">
            <a:pPr algn="ctr">
              <a:defRPr sz="1575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rPr>
              <a:t>release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3B510-B1C1-4324-9718-58A42157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47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52FF8-414A-4D13-B94B-950909AF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Display grounded</a:t>
            </a:r>
          </a:p>
          <a:p xmlns:a="http://schemas.openxmlformats.org/drawingml/2006/main">
            <a:pPr algn="ctr">
              <a:defRPr sz="157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BLOCKED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69BCC-7304-4682-864F-A0A7383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47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79B12-0C48-4B6E-9717-4876961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3F0E8"/>
          </a:solidFill>
          <a:ln xmlns:a="http://schemas.openxmlformats.org/drawingml/2006/main" w="9525">
            <a:solidFill>
              <a:srgbClr val="E3F0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  <a:p xmlns:a="http://schemas.openxmlformats.org/drawingml/2006/main">
            <a:pPr algn="ctr">
              <a:defRPr sz="157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and revision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A99D5-6BE0-4359-9149-06766A7A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C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68C80"/>
                </a:solidFill>
                <a:latin typeface="Helvetica Neue"/>
                <a:ea typeface="Helvetica Neue"/>
                <a:cs typeface="Helvetica Neue"/>
              </a:rPr>
              <a:t>Implemented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8B7E2-A507-44E5-9345-A9287513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5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No probability, SHAP attribution, or risk explanation leaves the gate after failed validation.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60228-801C-42BB-B5B6-3376719F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8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Exact provenance, uncertainty, and a deterministic readiness explanation remain available for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7847F-D1AD-4267-8F06-65985620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D650A-6EA9-445D-AA43-6CEF26E9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5813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7512B-3459-4EAF-B43F-D9F2D00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7DD9F-1032-4FF0-9C9F-28DEDB02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Frozen data, reproducible model artifacts, and an explicit safety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EBC88-DE8E-4798-B5AC-D504B13B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432AB-0DEE-4E54-BF3A-14016461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Frozen manifest</a:t>
            </a:r>
          </a:p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2,824 NCT 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94A43-7186-448B-92A9-3A118BED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CEFE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Feature builder</a:t>
            </a:r>
          </a:p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submission_year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4B088-C9FD-47CD-B12B-C8546078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E8EEF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Development fit</a:t>
            </a:r>
          </a:p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1999–2017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52DD8-6368-4DC7-A961-18D2AB2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E6C8"/>
          </a:solidFill>
          <a:ln xmlns:a="http://schemas.openxmlformats.org/drawingml/2006/main" w="9525">
            <a:solidFill>
              <a:srgbClr val="F6E6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rPr>
              <a:t>Validation gate</a:t>
            </a:r>
          </a:p>
          <a:p xmlns:a="http://schemas.openxmlformats.org/drawingml/2006/main">
            <a:pPr algn="ctr">
              <a:defRPr sz="1650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88412"/>
                </a:solidFill>
                <a:latin typeface="Helvetica Neue"/>
                <a:ea typeface="Helvetica Neue"/>
                <a:cs typeface="Helvetica Neue"/>
              </a:rPr>
              <a:t>2018–2020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A351F-C101-4B2D-A57A-61A6D8A1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85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55484-376D-4013-932C-53AB5765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85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90289-4DA6-4434-94C0-CF91BFB2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85975"/>
            <a:ext cx="361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0F306-C51B-451D-A902-FE9641AB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Exact-NCT provenance cache</a:t>
            </a:r>
          </a:p>
          <a:p xmlns:a="http://schemas.openxmlformats.org/drawingml/2006/main">
            <a:pPr algn="ctr">
              <a:def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No outcome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D4A08-5EC6-4140-AA61-6AB3DE87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05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Release-readiness result</a:t>
            </a:r>
          </a:p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Risk output BLOCKED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53480-FFF0-4150-9ADA-8A052D7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0E8"/>
          </a:solidFill>
          <a:ln xmlns:a="http://schemas.openxmlformats.org/drawingml/2006/main" w="9525">
            <a:solidFill>
              <a:srgbClr val="E3F0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Deterministic explanation</a:t>
            </a:r>
          </a:p>
          <a:p xmlns:a="http://schemas.openxmlformats.org/drawingml/2006/main">
            <a:pPr algn="ctr">
              <a:defRPr sz="16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Session-only review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399EE-E8C7-45BA-8A16-4A7325B1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29100"/>
            <a:ext cx="381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A863E-EFDB-47BC-ADA5-136D71B1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381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C80"/>
          </a:solidFill>
          <a:ln xmlns:a="http://schemas.openxmlformats.org/drawingml/2006/main" w="0">
            <a:solidFill>
              <a:srgbClr val="168C8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4E5D2-63F6-4D2E-B778-D34556B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4768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7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Final test: 456 labels masked, no automatic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1ED24-B5A7-4984-A3A8-84C66C72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69153C-C094-40E6-88C0-CE044EF9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23839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315F7-7749-4146-820A-6E2F2C9A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Data and AI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AE131-145D-4755-A2B3-606F926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Trained-but-rejected ML remains separate from the operational safety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1E1DA-8A3A-4D0E-9D9F-A1038011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6096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b4154fd5b140a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7F349-F274-4428-B546-014FE37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4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2,824 frozen trials</a:t>
            </a:r>
          </a:p>
          <a:p xmlns:a="http://schemas.openxmlformats.org/drawingml/2006/main">
            <a:pPr algn="ctr">
              <a:defRPr sz="23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587 discontinued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9E992-2971-49AA-9564-846FBF1F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ML baseline</a:t>
            </a:r>
          </a:p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Trained and evaluated</a:t>
            </a:r>
          </a:p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Release status: FAIL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AC35B-694F-4036-96A1-C48CF94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48125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CEFE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Operational output</a:t>
            </a:r>
          </a:p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Deterministic readiness result</a:t>
            </a:r>
          </a:p>
          <a:p xmlns:a="http://schemas.openxmlformats.org/drawingml/2006/main">
            <a:pPr algn="ctr">
              <a:def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No probability or SHAP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2D580-AE66-413E-94BB-7A3EAE04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483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Verified predictor: submission_year</a:t>
            </a:r>
          </a:p>
          <a:p xmlns:a="http://schemas.openxmlformats.org/drawingml/2006/main">
            <a:pPr algn="ctr">
              <a:defRPr sz="142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Final-test outcomes remained 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4395E-0EC3-4239-9F61-C1E46EB7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21F27-E0F4-40FE-9BC6-E059EEBF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9968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6C405-B4FE-4D48-9B50-5690D05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Release-readiness result in Streamlit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BF32-4B4F-44E1-A0B4-6FFE93F8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Model-release readiness review for NCT03414632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19FAB-C3DB-4073-A6E1-1055616F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4b09818af4916"/>
          <a:stretch xmlns:a="http://schemas.openxmlformats.org/drawingml/2006/main"/>
        </p:blipFill>
        <p:spPr>
          <a:xfrm xmlns:a="http://schemas.openxmlformats.org/drawingml/2006/main">
            <a:off x="809625" y="1381125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F3741-7505-448B-ABD7-79E8DB16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Visible safeguards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1019B-0511-4DAB-9D59-9DE241B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3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Exact NCT ID and submission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CC90D-161B-4844-8F47-EFE4F6AA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6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Frozen cohort and source 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82E98-0FF6-40B4-8F24-51F166B5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Validation metrics and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0DFBE-40E9-4D43-B93E-7453C4C5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BLOCKED model release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5485E-9BD3-4E82-9285-0DD7FD17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05375"/>
            <a:ext cx="3048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No selected-trial probability or SHAP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DAD63-C8F8-4C28-B9D5-7FBBC1F8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2FD4E-6F2B-4657-AA8D-5983ECE8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563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6FD14-3C75-4DB9-8843-DEBDABD8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Validation evidence blocked the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55818-D694-4BDC-B12E-F8B7D4C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one-feature baseline performed below its no-skill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36901-B96E-451A-8EB2-0304300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dfc21d3b6340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0D090-26BE-425E-919D-16BE1083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AUPRC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8440B-5DF5-49D5-B57B-D05CA23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0.484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944A1-DBB9-4F07-90C0-E2E5A724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validation AUROC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2D761-F5D7-41DE-ADCC-80B3F12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3375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FAIL</a:t>
            </a:r>
          </a:p>
          <a:p xmlns:a="http://schemas.openxmlformats.org/drawingml/2006/main">
            <a:pPr algn="ctr">
              <a:defRPr sz="18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Below 0.5 random ranking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5DB68-15AA-461E-AC2C-101B8ED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Brier score  0.178645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5FC48-79CD-4D0A-9E1E-9E77CE07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863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Validation-derived threshold classified every trial positive: recall 1.0, precision 0.233.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BFD50-942A-462F-AEC2-C47A19E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34822-CDF3-4FF0-BDF7-A91795AA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46239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02795-8590-4967-A263-624B580A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Human review and revision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1CAC2-513F-4F31-8E61-6FFE2246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Session-only review with a downloadable audit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FEA5A-6F85-423C-A8A6-5758B05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fd6030952421d"/>
          <a:stretch xmlns:a="http://schemas.openxmlformats.org/drawingml/2006/main"/>
        </p:blipFill>
        <p:spPr>
          <a:xfrm xmlns:a="http://schemas.openxmlformats.org/drawingml/2006/main">
            <a:off x="4524375" y="1381125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6BB89-8E33-477E-9AC9-02D463D5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Implemented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5F284-71D4-4B40-A836-74FFBA1A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Accept records 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EAB74-A529-45D1-805A-AD889C18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Reject requires a reason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2A1D8-AC0A-4133-9F7B-E4E41BFF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Revision changes emphasis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6B0CF-1DC7-48AE-9AA9-C687FEF9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Stored facts remain fixed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524C3-9643-40DB-A497-6DCB7BC8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3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Log clears after reload or close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80E5B-64A3-4126-9DE1-430D1102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314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3F0E8"/>
          </a:solidFill>
          <a:ln xmlns:a="http://schemas.openxmlformats.org/drawingml/2006/main" w="9525">
            <a:solidFill>
              <a:srgbClr val="E3F0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Session-only log</a:t>
            </a:r>
          </a:p>
          <a:p xmlns:a="http://schemas.openxmlformats.org/drawingml/2006/main">
            <a:pPr algn="ctr">
              <a:defRPr sz="15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Download before reloading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3E66F-650F-4320-A7F7-F445E56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EAEAC-2F0D-4DD9-94B2-C197780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37252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22AB6-F518-47D9-8029-BA770072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Codex-assisted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C4E4C-AD27-4F21-BF59-3489ADDB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Human approval governed development. Runtime remains deterministic.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7CCBA-0E86-4FBD-91E0-44246921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84AD9-3410-455D-A43E-5BAA498A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Human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E3753-D536-4E8E-B892-E24717C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Approved task and constraints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Protected the final test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Reviewed validation evidence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Required blocked outputs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Authorized publication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4AF4C-CA1D-4D4F-A8BE-B369A20F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Codex contributions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62D1C-60A8-4774-8611-428150B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Audited files and provenance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Implemented scoped code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Debugged and ran tests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Verified UI and screenshots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Prepared and validated slides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5436F-DFE2-4F30-A40D-A3D6F41B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71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Runtime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2FD8A-A1C8-4053-A5CB-895AC608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No autonomous runtime agent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No LLM or RAG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Deterministic safety output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Explicit human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C3A67-1E1F-49A2-8513-2454C58F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ADCD9-1701-44D7-A935-6811EC40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1925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7A99B-58CB-4601-A178-51576DA2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67250"/>
            <a:ext cx="4953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FEB"/>
          </a:solidFill>
          <a:ln xmlns:a="http://schemas.openxmlformats.org/drawingml/2006/main" w="9525">
            <a:solidFill>
              <a:srgbClr val="DCEFE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Published GitHub repository</a:t>
            </a:r>
          </a:p>
          <a:p xmlns:a="http://schemas.openxmlformats.org/drawingml/2006/main">
            <a:pPr algn="ctr">
              <a:defRPr sz="15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83C"/>
                </a:solidFill>
                <a:latin typeface="Helvetica Neue"/>
                <a:ea typeface="Helvetica Neue"/>
                <a:cs typeface="Helvetica Neue"/>
              </a:rPr>
              <a:t>github.com/akwasianing/HeartTrialTwin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E1A44-532A-4FCD-9F82-D11FEC0C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67250"/>
            <a:ext cx="4191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F0E8"/>
          </a:solidFill>
          <a:ln xmlns:a="http://schemas.openxmlformats.org/drawingml/2006/main" w="9525">
            <a:solidFill>
              <a:srgbClr val="E3F0E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Credentials and raw course files excluded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13369-7C09-4010-9BCA-7512C33A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HeartTrialTwin  |  CS 5588 Challenge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E8700-5BAC-4FAC-A6D2-8B2ED703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3959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4A19F-2B42-430D-A5EC-6EFAFF26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Tests, limitations,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B184E-2F0B-4255-8D8A-2336EFF8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76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4B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B4B4"/>
                </a:solidFill>
                <a:latin typeface="Helvetica Neue"/>
                <a:ea typeface="Helvetica Neue"/>
                <a:cs typeface="Helvetica Neue"/>
              </a:rPr>
              <a:t>8 software tests passed; model validation failed.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FB4D0-2202-4B00-88C7-2420D22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95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77D5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77D5C9"/>
                </a:solidFill>
                <a:latin typeface="Helvetica Neue"/>
                <a:ea typeface="Helvetica Neue"/>
                <a:cs typeface="Helvetica Neue"/>
              </a:rPr>
              <a:t>8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F3DAA-7A6A-47ED-BE2D-9CB95475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software tests passed</a:t>
            </a:r>
          </a:p>
          <a:p xmlns:a="http://schemas.openxmlformats.org/drawingml/2006/main">
            <a:pPr algn="ctr">
              <a:defRPr sz="1650" b="1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0 failed  /  0 skipped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10220-AD97-4846-890A-7AABC02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219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  <p:txBody>
          <a:bodyPr xmlns:a="http://schemas.openxmlformats.org/drawingml/2006/main" anchor="ctr">
            <a:normAutofit fontScale="949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MODEL VALIDATION</a:t>
            </a:r>
          </a:p>
          <a:p xmlns:a="http://schemas.openxmlformats.org/drawingml/2006/main">
            <a:pPr algn="ctr">
              <a:def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43C45"/>
                </a:solidFill>
                <a:latin typeface="Helvetica Neue"/>
                <a:ea typeface="Helvetica Neue"/>
                <a:cs typeface="Helvetica Neue"/>
              </a:rPr>
              <a:t>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B9D08-4186-4A0A-AA82-455F9041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46E1B-6F47-405E-A627-F7F49EC6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3476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Valid and invalid NCT selection</a:t>
            </a:r>
          </a:p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Development-only fit and split integrity</a:t>
            </a:r>
          </a:p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Probability consistency and output blocking</a:t>
            </a:r>
          </a:p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SHAP additivity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2F08E-559C-4ED2-A33E-3CEA20A9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858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and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A198F-C16A-4451-B7D1-FA767275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Exact-NCT provenance</a:t>
            </a:r>
          </a:p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Explanation fidelity and claim safety</a:t>
            </a:r>
          </a:p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Missing-evidence failure</a:t>
            </a:r>
          </a:p>
          <a:p xmlns:a="http://schemas.openxmlformats.org/drawingml/2006/main">
            <a:pPr algn="l">
              <a:def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7E5EC"/>
                </a:solidFill>
                <a:latin typeface="Helvetica Neue"/>
                <a:ea typeface="Helvetica Neue"/>
                <a:cs typeface="Helvetica Neue"/>
              </a:rPr>
              <a:t>Functional revision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C9992-904D-4093-9BB5-904B560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45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F039B-F972-4337-BE9B-6DEC27F7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7D5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77D5C9"/>
                </a:solidFill>
                <a:latin typeface="Helvetica Neue"/>
                <a:ea typeface="Helvetica Neue"/>
                <a:cs typeface="Helvetica Neue"/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CF739-1389-4D61-A910-260C1230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243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failure application, provenance, deterministic explanation, human review,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9E47E-E18F-4503-8858-3AE18392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9B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9B9B"/>
                </a:solidFill>
                <a:latin typeface="Helvetica Neue"/>
                <a:ea typeface="Helvetica Neue"/>
                <a:cs typeface="Helvetica Neue"/>
              </a:rPr>
              <a:t>Unfinished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756B3-3B54-4FC4-92C4-11C26124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720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validated trial-level risk predictor and multifeature SHAP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C1C37-B486-4DC2-BF62-C89AB02E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B2171-AC3A-4589-BDC5-3B8C9D4E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97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Obtain verified historical predictors and add durable review storage before operational 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49F4D-D70B-48A9-83B4-50510906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C7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C7D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757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2026-09-20T22:06:23.5880000Z</dcterms:created>
  <dcterms:modified xsi:type="dcterms:W3CDTF">2026-09-20T22:06:23.5880000Z</dcterms:modified>
</coreProperties>
</file>