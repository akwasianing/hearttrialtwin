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d9d01d120704c3b" /><Relationship Type="http://schemas.openxmlformats.org/officeDocument/2006/relationships/extended-properties" Target="/docProps/app.xml" Id="Rbe63cc29ef4545d3" /><Relationship Type="http://schemas.openxmlformats.org/officeDocument/2006/relationships/officeDocument" Target="/ppt/presentation.xml" Id="Rbad6e96dc4ee45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5f64eda8e149f0"/>
  </p:sldMasterIdLst>
  <p:notesMasterIdLst>
    <p:notesMasterId xmlns:r="http://schemas.openxmlformats.org/officeDocument/2006/relationships" r:id="Ra84e09ad002e4d44"/>
  </p:notesMasterIdLst>
  <p:sldIdLst>
    <p:sldId xmlns:r="http://schemas.openxmlformats.org/officeDocument/2006/relationships" id="256" r:id="R334a5c389efe4222"/>
    <p:sldId xmlns:r="http://schemas.openxmlformats.org/officeDocument/2006/relationships" id="257" r:id="R99eaf8fe964d415b"/>
    <p:sldId xmlns:r="http://schemas.openxmlformats.org/officeDocument/2006/relationships" id="258" r:id="R3edbbb267ee6472e"/>
    <p:sldId xmlns:r="http://schemas.openxmlformats.org/officeDocument/2006/relationships" id="259" r:id="Ra990e8444a59463d"/>
    <p:sldId xmlns:r="http://schemas.openxmlformats.org/officeDocument/2006/relationships" id="260" r:id="Re068a72a6bdb4115"/>
    <p:sldId xmlns:r="http://schemas.openxmlformats.org/officeDocument/2006/relationships" id="261" r:id="Rc7adf710bb0945d9"/>
    <p:sldId xmlns:r="http://schemas.openxmlformats.org/officeDocument/2006/relationships" id="262" r:id="R6a6050085ed740fe"/>
    <p:sldId xmlns:r="http://schemas.openxmlformats.org/officeDocument/2006/relationships" id="263" r:id="Rdb6ec31a6c26480f"/>
    <p:sldId xmlns:r="http://schemas.openxmlformats.org/officeDocument/2006/relationships" id="264" r:id="R587b04cfe0d84d60"/>
    <p:sldId xmlns:r="http://schemas.openxmlformats.org/officeDocument/2006/relationships" id="265" r:id="Rdb201cf1d7714aa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e9f3c2e8b04dd4" /><Relationship Type="http://schemas.openxmlformats.org/officeDocument/2006/relationships/slideMaster" Target="/ppt/slideMasters/slideMaster1.xml" Id="R8f5f64eda8e149f0" /><Relationship Type="http://schemas.openxmlformats.org/officeDocument/2006/relationships/notesMaster" Target="/ppt/notesMasters/notesMaster1.xml" Id="Ra84e09ad002e4d44" /><Relationship Type="http://schemas.openxmlformats.org/officeDocument/2006/relationships/presProps" Target="/ppt/presProps.xml" Id="R85d7570697c049dc" /><Relationship Type="http://schemas.openxmlformats.org/officeDocument/2006/relationships/tableStyles" Target="/ppt/tableStyles.xml" Id="R71fc6bbd1f724125" /><Relationship Type="http://schemas.openxmlformats.org/officeDocument/2006/relationships/slide" Target="/ppt/slides/slide1.xml" Id="R334a5c389efe4222" /><Relationship Type="http://schemas.openxmlformats.org/officeDocument/2006/relationships/slide" Target="/ppt/slides/slide2.xml" Id="R99eaf8fe964d415b" /><Relationship Type="http://schemas.openxmlformats.org/officeDocument/2006/relationships/slide" Target="/ppt/slides/slide3.xml" Id="R3edbbb267ee6472e" /><Relationship Type="http://schemas.openxmlformats.org/officeDocument/2006/relationships/slide" Target="/ppt/slides/slide4.xml" Id="Ra990e8444a59463d" /><Relationship Type="http://schemas.openxmlformats.org/officeDocument/2006/relationships/slide" Target="/ppt/slides/slide5.xml" Id="Re068a72a6bdb4115" /><Relationship Type="http://schemas.openxmlformats.org/officeDocument/2006/relationships/slide" Target="/ppt/slides/slide6.xml" Id="Rc7adf710bb0945d9" /><Relationship Type="http://schemas.openxmlformats.org/officeDocument/2006/relationships/slide" Target="/ppt/slides/slide7.xml" Id="R6a6050085ed740fe" /><Relationship Type="http://schemas.openxmlformats.org/officeDocument/2006/relationships/slide" Target="/ppt/slides/slide8.xml" Id="Rdb6ec31a6c26480f" /><Relationship Type="http://schemas.openxmlformats.org/officeDocument/2006/relationships/slide" Target="/ppt/slides/slide9.xml" Id="R587b04cfe0d84d60" /><Relationship Type="http://schemas.openxmlformats.org/officeDocument/2006/relationships/slide" Target="/ppt/slides/slide10.xml" Id="Rdb201cf1d7714aa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4d868174ef144d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f06d0ca9df446f" /><Relationship Type="http://schemas.openxmlformats.org/officeDocument/2006/relationships/notesMaster" Target="/ppt/notesMasters/notesMaster1.xml" Id="Rcdfb47fa548343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4073bcfd58e4de8" /><Relationship Type="http://schemas.openxmlformats.org/officeDocument/2006/relationships/notesMaster" Target="/ppt/notesMasters/notesMaster1.xml" Id="R7c94e08173b041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dc5ae3cdedc40b8" /><Relationship Type="http://schemas.openxmlformats.org/officeDocument/2006/relationships/notesMaster" Target="/ppt/notesMasters/notesMaster1.xml" Id="Rcb8469fcb5f7416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47853d4e8944b7" /><Relationship Type="http://schemas.openxmlformats.org/officeDocument/2006/relationships/notesMaster" Target="/ppt/notesMasters/notesMaster1.xml" Id="R6bb2535b65b64f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f745b7f335a45e4" /><Relationship Type="http://schemas.openxmlformats.org/officeDocument/2006/relationships/notesMaster" Target="/ppt/notesMasters/notesMaster1.xml" Id="R63942211b5ca4c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9fbd7c3f7d9494c" /><Relationship Type="http://schemas.openxmlformats.org/officeDocument/2006/relationships/notesMaster" Target="/ppt/notesMasters/notesMaster1.xml" Id="Rf042399a2f6740b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ec520dcb4424ddd" /><Relationship Type="http://schemas.openxmlformats.org/officeDocument/2006/relationships/notesMaster" Target="/ppt/notesMasters/notesMaster1.xml" Id="R3bf858b9659243d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764a8eba0424dcb" /><Relationship Type="http://schemas.openxmlformats.org/officeDocument/2006/relationships/notesMaster" Target="/ppt/notesMasters/notesMaster1.xml" Id="Rd9a8463a6f07446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2347c320f4f4504" /><Relationship Type="http://schemas.openxmlformats.org/officeDocument/2006/relationships/notesMaster" Target="/ppt/notesMasters/notesMaster1.xml" Id="R2e610c71c54448c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fcaf754d646485a" /><Relationship Type="http://schemas.openxmlformats.org/officeDocument/2006/relationships/notesMaster" Target="/ppt/notesMasters/notesMaster1.xml" Id="R5ed1ccffdcec42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 materials: Human Design, AI Design, frozen cohort HTT-P1-AACT-20260905, validation_metrics.json, and the finalized Streamlit application.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week 4/human design/HeartTrialTwin_Challenge2_Human_Design.pptx; p1_app/feature_audit.md; historical_retrieval_pilot/pilot_report.md.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p1_app/app.py and p1_app/core.py. Runtime uses deterministic application logic, not an autonomous agent.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p1_app/feature_build.py, train_model.py, score_all.py, evidence_fetch.py, app.py. Final-test labels are masked in features.parquet.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step3_manifest/HeartTrialTwin_first_p1_cohort_manifest_HTT-P1-AACT-20260905.audit.json and p1_app/feature_build_audit.json. Chart uses complete literal values.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screenshot captured from the local Streamlit app on 2026-09-20. Source image: p1_app/screenshots/01_failure_state.png.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p1_app/artefacts/validation_metrics.json. AUPRC 0.228136; prevalence baseline 0.232759; AUROC 0.484108; Brier 0.178645. Final test not evaluated.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screenshot captured from the local Streamlit app on 2026-09-20. The browser workflow verified accept, request revision, reject, and audit-log display.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local Git status and repository preparation completed for this delivery. Runtime behavior is documented in README.md and p1_app/app.py.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p1_app/TEST_RESULTS.md and p1_app/artefacts/pytest_results.xml. Current result: 8 passed, 0 failed, 0 skipped. Final test remains locked.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268302d1af4bb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40e20ac5fd8441a" /><Relationship Type="http://schemas.openxmlformats.org/officeDocument/2006/relationships/slideLayout" Target="/ppt/slideLayouts/slideLayout1.xml" Id="Rbe6b47892930422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6b47892930422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6c682116f34ab6" /><Relationship Type="http://schemas.openxmlformats.org/officeDocument/2006/relationships/notesSlide" Target="/ppt/notesSlides/notesSlide1.xml" Id="Rff851fd10bd64b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70d467ed164185" /><Relationship Type="http://schemas.openxmlformats.org/officeDocument/2006/relationships/notesSlide" Target="/ppt/notesSlides/notesSlide2.xml" Id="R5e87fab925d540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8ee984eb92424b" /><Relationship Type="http://schemas.openxmlformats.org/officeDocument/2006/relationships/notesSlide" Target="/ppt/notesSlides/notesSlide3.xml" Id="R62276431d063441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7dfef2c3554341" /><Relationship Type="http://schemas.openxmlformats.org/officeDocument/2006/relationships/notesSlide" Target="/ppt/notesSlides/notesSlide4.xml" Id="Rd0222d33b0b548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cd20deaf5541dd" /><Relationship Type="http://schemas.openxmlformats.org/officeDocument/2006/relationships/chart" Target="/ppt/slides/charts/chart1.xml" Id="R5f266ded44274e69" /><Relationship Type="http://schemas.openxmlformats.org/officeDocument/2006/relationships/notesSlide" Target="/ppt/notesSlides/notesSlide5.xml" Id="R41da5fe40f0c4e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cc50c7c70d4a28" /><Relationship Type="http://schemas.openxmlformats.org/officeDocument/2006/relationships/image" Target="/ppt/media/image.png" Id="R05b7f746bd774f9e" /><Relationship Type="http://schemas.openxmlformats.org/officeDocument/2006/relationships/notesSlide" Target="/ppt/notesSlides/notesSlide6.xml" Id="R64d576af6b82489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b12ab8e0e74b7e" /><Relationship Type="http://schemas.openxmlformats.org/officeDocument/2006/relationships/chart" Target="/ppt/slides/charts/chart2.xml" Id="R0e180df2e2c34b3a" /><Relationship Type="http://schemas.openxmlformats.org/officeDocument/2006/relationships/notesSlide" Target="/ppt/notesSlides/notesSlide7.xml" Id="R77627c7335e8406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c4888153244a3d" /><Relationship Type="http://schemas.openxmlformats.org/officeDocument/2006/relationships/image" Target="/ppt/media/image2.png" Id="Rf44e8487783b4b38" /><Relationship Type="http://schemas.openxmlformats.org/officeDocument/2006/relationships/notesSlide" Target="/ppt/notesSlides/notesSlide8.xml" Id="R7d4d89ea6df44a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2aedbb7ec474c" /><Relationship Type="http://schemas.openxmlformats.org/officeDocument/2006/relationships/notesSlide" Target="/ppt/notesSlides/notesSlide9.xml" Id="R2d05b845db90431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6a23aa7bc44dd9" /><Relationship Type="http://schemas.openxmlformats.org/officeDocument/2006/relationships/notesSlide" Target="/ppt/notesSlides/notesSlide10.xml" Id="Rf1c31db5b6bf47b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Trials</c:v>
          </c:tx>
          <c:spPr>
            <a:solidFill xmlns:a="http://schemas.openxmlformats.org/drawingml/2006/main">
              <a:srgbClr val="168C80"/>
            </a:solidFill>
          </c:spPr>
          <c:cat>
            <c:strLit>
              <c:ptCount val="3"/>
              <c:pt idx="0">
                <c:v>Development
1999–2017</c:v>
              </c:pt>
              <c:pt idx="1">
                <c:v>Validation
2018–2020</c:v>
              </c:pt>
              <c:pt idx="2">
                <c:v>Final test
2021–2024</c:v>
              </c:pt>
            </c:strLit>
          </c:cat>
          <c:val>
            <c:numLit>
              <c:formatCode>General</c:formatCode>
              <c:ptCount val="3"/>
              <c:pt idx="0">
                <c:v>1904</c:v>
              </c:pt>
              <c:pt idx="1">
                <c:v>464</c:v>
              </c:pt>
              <c:pt idx="2">
                <c:v>456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AUPRC</c:v>
          </c:tx>
          <c:spPr>
            <a:solidFill xmlns:a="http://schemas.openxmlformats.org/drawingml/2006/main">
              <a:srgbClr val="168C80"/>
            </a:solidFill>
          </c:spPr>
          <c:cat>
            <c:strLit>
              <c:ptCount val="2"/>
              <c:pt idx="0">
                <c:v>Temporal baseline</c:v>
              </c:pt>
              <c:pt idx="1">
                <c:v>No-skill prevalence</c:v>
              </c:pt>
            </c:strLit>
          </c:cat>
          <c:val>
            <c:numLit>
              <c:formatCode>General</c:formatCode>
              <c:ptCount val="2"/>
              <c:pt idx="0">
                <c:v>0.228136</c:v>
              </c:pt>
              <c:pt idx="1">
                <c:v>0.232759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328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CDC54A-725A-48F1-98C3-2EF95BCA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0"/>
          </a:solidFill>
          <a:ln xmlns:a="http://schemas.openxmlformats.org/drawingml/2006/main" w="0">
            <a:solidFill>
              <a:srgbClr val="168C80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42D1BB-6C22-4661-9856-90D9A83A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219200"/>
            <a:ext cx="857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271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HeartTrialTwin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AAEC39-D163-4342-AB08-69424088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D7E5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D7E5EC"/>
                </a:solidFill>
                <a:latin typeface="Helvetica Neue"/>
                <a:ea typeface="Helvetica Neue"/>
                <a:cs typeface="Helvetica Neue"/>
              </a:rPr>
              <a:t>Safe AI for trial discontinuation risk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BDE01D-1107-4715-893E-08F05E4C4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575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7C7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A7C7D6"/>
                </a:solidFill>
                <a:latin typeface="Helvetica Neue"/>
                <a:ea typeface="Helvetica Neue"/>
                <a:cs typeface="Helvetica Neue"/>
              </a:rPr>
              <a:t>CS 5588 Challenge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E2A919-5AC8-44CD-8DF3-A855CB9FB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86175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7C7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A7C7D6"/>
                </a:solidFill>
                <a:latin typeface="Helvetica Neue"/>
                <a:ea typeface="Helvetica Neue"/>
                <a:cs typeface="Helvetica Neue"/>
              </a:rPr>
              <a:t>Human–AI Co-Design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0FB3AB-D649-447A-8401-A3796DA04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57150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68C80"/>
          </a:solidFill>
          <a:ln xmlns:a="http://schemas.openxmlformats.org/drawingml/2006/main" w="9525">
            <a:solidFill>
              <a:srgbClr val="168C80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Temporal baseline  /  technical proof of concept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C42C25-C7B9-4A5D-BA65-7195B30A9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97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C7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A7C7D6"/>
                </a:solidFill>
                <a:latin typeface="Helvetica Neue"/>
                <a:ea typeface="Helvetica Neue"/>
                <a:cs typeface="Helvetica Neue"/>
              </a:rPr>
              <a:t>Final delivery  · 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13706854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832A27-533F-4F6C-BDB8-F397D774E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798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Human Design, AI Design, and Co-Design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BB9F19-4D98-4343-BA6E-C335BCD6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667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The scope changed when evidence exposed a data constraint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455645-9FBD-4972-8C71-5D970F8C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76059E-87C0-4AA5-BF20-00ADCAEA9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2857500" cy="30480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HUMAN DESIGN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Predict risk</a:t>
            </a:r>
          </a:p>
          <a:p xmlns:a="http://schemas.openxmlformats.org/drawingml/2006/main">
            <a:pPr algn="ctr">
              <a:def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Identify model factors</a:t>
            </a:r>
          </a:p>
          <a:p xmlns:a="http://schemas.openxmlformats.org/drawingml/2006/main">
            <a:pPr algn="ctr">
              <a:def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Explain with verified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441CF2-3011-49E5-BF99-AB6D0BE4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809750"/>
            <a:ext cx="2857500" cy="30480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DCEFEB"/>
          </a:solidFill>
          <a:ln xmlns:a="http://schemas.openxmlformats.org/drawingml/2006/main" w="9525">
            <a:solidFill>
              <a:srgbClr val="DCEFEB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AI DESIGN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Logistic Regression</a:t>
            </a:r>
          </a:p>
          <a:p xmlns:a="http://schemas.openxmlformats.org/drawingml/2006/main">
            <a:pPr algn="ctr">
              <a:def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SHAP on log-odds</a:t>
            </a:r>
          </a:p>
          <a:p xmlns:a="http://schemas.openxmlformats.org/drawingml/2006/main">
            <a:pPr algn="ctr">
              <a:def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Exact-NCT evidence</a:t>
            </a:r>
          </a:p>
          <a:p xmlns:a="http://schemas.openxmlformats.org/drawingml/2006/main">
            <a:pPr algn="ctr">
              <a:def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Deterministic explanation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D38E10-E9BD-48BA-B900-F73B3885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09750"/>
            <a:ext cx="2857500" cy="30480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BE8E8"/>
          </a:solidFill>
          <a:ln xmlns:a="http://schemas.openxmlformats.org/drawingml/2006/main" w="9525">
            <a:solidFill>
              <a:srgbClr val="FBE8E8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rPr>
              <a:t>HUMAN–AI CO-DESIGN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725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rPr>
              <a:t>Historical retrieval failed</a:t>
            </a:r>
          </a:p>
          <a:p xmlns:a="http://schemas.openxmlformats.org/drawingml/2006/main">
            <a:pPr algn="ctr">
              <a:defRPr sz="1725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rPr>
              <a:t>One safe predictor remained</a:t>
            </a:r>
          </a:p>
          <a:p xmlns:a="http://schemas.openxmlformats.org/drawingml/2006/main">
            <a:pPr algn="ctr">
              <a:defRPr sz="1725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rPr>
              <a:t>Validation failed</a:t>
            </a:r>
          </a:p>
          <a:p xmlns:a="http://schemas.openxmlformats.org/drawingml/2006/main">
            <a:pPr algn="ctr">
              <a:defRPr sz="1725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rPr>
              <a:t>The application blocked output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07D18-674D-41ED-8E6E-86C16557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62300"/>
            <a:ext cx="49530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C80"/>
          </a:solidFill>
          <a:ln xmlns:a="http://schemas.openxmlformats.org/drawingml/2006/main" w="0">
            <a:solidFill>
              <a:srgbClr val="168C80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20883D-762F-4F0C-9085-0DC591C2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3162300"/>
            <a:ext cx="49530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C80"/>
          </a:solidFill>
          <a:ln xmlns:a="http://schemas.openxmlformats.org/drawingml/2006/main" w="0">
            <a:solidFill>
              <a:srgbClr val="168C80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24B816-8051-4C8E-BC73-89431D1B9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81625"/>
            <a:ext cx="857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24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Human review preserved the scientific constraint instead of forcing a successful demo.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5C11C1-FF27-4513-AE07-DB2F9016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8889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HeartTrialTwin  |  CS 5588 Challenge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0CFD68-5F35-4AE0-B15E-021E99E82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8889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263174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E80A8D-6D0B-4A63-A18B-8BFE26B2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798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Human–AI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66349-6F4E-420A-B093-53E20E25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667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The validation gate controls whether trial-level results may appear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977C8A-D3B4-41B4-B3D2-E23C495A5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03ACD-E5D8-4E7E-BAB9-7FD5D59BF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00300"/>
            <a:ext cx="1428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CEFEB"/>
          </a:solidFill>
          <a:ln xmlns:a="http://schemas.openxmlformats.org/drawingml/2006/main" w="9525">
            <a:solidFill>
              <a:srgbClr val="DCEFEB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Select NCT ID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67DAF-0A01-4AD5-B5B2-2024C8F3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2847975"/>
            <a:ext cx="3619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C80"/>
          </a:solidFill>
          <a:ln xmlns:a="http://schemas.openxmlformats.org/drawingml/2006/main" w="0">
            <a:solidFill>
              <a:srgbClr val="168C80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1FA6A2-30C1-4F59-AA87-6967FCCC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00300"/>
            <a:ext cx="1428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CEFEB"/>
          </a:solidFill>
          <a:ln xmlns:a="http://schemas.openxmlformats.org/drawingml/2006/main" w="9525">
            <a:solidFill>
              <a:srgbClr val="DCEFEB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Retrieve verified</a:t>
            </a:r>
          </a:p>
          <a:p xmlns:a="http://schemas.openxmlformats.org/drawingml/2006/main">
            <a:pPr algn="ctr">
              <a:defRPr sz="157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submission metadata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57A0F-B866-4ED6-87D1-7957C7021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847975"/>
            <a:ext cx="3619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C80"/>
          </a:solidFill>
          <a:ln xmlns:a="http://schemas.openxmlformats.org/drawingml/2006/main" w="0">
            <a:solidFill>
              <a:srgbClr val="168C80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5F3CF6-4E54-4EB4-82E2-B2AADF1A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00300"/>
            <a:ext cx="1428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9525">
            <a:solidFill>
              <a:srgbClr val="E8EEF3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Run temporal</a:t>
            </a:r>
          </a:p>
          <a:p xmlns:a="http://schemas.openxmlformats.org/drawingml/2006/main">
            <a:pPr algn="ctr">
              <a:defRPr sz="157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baseline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29887A-9731-4097-84F8-783CD827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847975"/>
            <a:ext cx="3619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C80"/>
          </a:solidFill>
          <a:ln xmlns:a="http://schemas.openxmlformats.org/drawingml/2006/main" w="0">
            <a:solidFill>
              <a:srgbClr val="168C80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EBC096-B01B-43D6-AB08-7D5420F6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00300"/>
            <a:ext cx="1428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6E6C8"/>
          </a:solidFill>
          <a:ln xmlns:a="http://schemas.openxmlformats.org/drawingml/2006/main" w="9525">
            <a:solidFill>
              <a:srgbClr val="F6E6C8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8841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C88412"/>
                </a:solidFill>
                <a:latin typeface="Helvetica Neue"/>
                <a:ea typeface="Helvetica Neue"/>
                <a:cs typeface="Helvetica Neue"/>
              </a:rPr>
              <a:t>Apply validation</a:t>
            </a:r>
          </a:p>
          <a:p xmlns:a="http://schemas.openxmlformats.org/drawingml/2006/main">
            <a:pPr algn="ctr">
              <a:defRPr sz="1575" b="1">
                <a:solidFill>
                  <a:srgbClr val="C8841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C88412"/>
                </a:solidFill>
                <a:latin typeface="Helvetica Neue"/>
                <a:ea typeface="Helvetica Neue"/>
                <a:cs typeface="Helvetica Neue"/>
              </a:rPr>
              <a:t>release gate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103DBE-09CB-4777-A439-C62EEA148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47975"/>
            <a:ext cx="3619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C80"/>
          </a:solidFill>
          <a:ln xmlns:a="http://schemas.openxmlformats.org/drawingml/2006/main" w="0">
            <a:solidFill>
              <a:srgbClr val="168C80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CB6519-F6A9-48D2-B721-B30B46D4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400300"/>
            <a:ext cx="1428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BE8E8"/>
          </a:solidFill>
          <a:ln xmlns:a="http://schemas.openxmlformats.org/drawingml/2006/main" w="9525">
            <a:solidFill>
              <a:srgbClr val="FBE8E8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rPr>
              <a:t>Block</a:t>
            </a:r>
          </a:p>
          <a:p xmlns:a="http://schemas.openxmlformats.org/drawingml/2006/main">
            <a:pPr algn="ctr">
              <a:defRPr sz="1575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rPr>
              <a:t>risk 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4F7A55-68DB-4E18-8153-181D6301D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847975"/>
            <a:ext cx="3619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C80"/>
          </a:solidFill>
          <a:ln xmlns:a="http://schemas.openxmlformats.org/drawingml/2006/main" w="0">
            <a:solidFill>
              <a:srgbClr val="168C8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BE1958-0790-45D9-8589-F2F375654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400300"/>
            <a:ext cx="14287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3F0E8"/>
          </a:solidFill>
          <a:ln xmlns:a="http://schemas.openxmlformats.org/drawingml/2006/main" w="9525">
            <a:solidFill>
              <a:srgbClr val="E3F0E8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37A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237A57"/>
                </a:solidFill>
                <a:latin typeface="Helvetica Neue"/>
                <a:ea typeface="Helvetica Neue"/>
                <a:cs typeface="Helvetica Neue"/>
              </a:rPr>
              <a:t>Human review</a:t>
            </a:r>
          </a:p>
          <a:p xmlns:a="http://schemas.openxmlformats.org/drawingml/2006/main">
            <a:pPr algn="ctr">
              <a:defRPr sz="1575" b="1">
                <a:solidFill>
                  <a:srgbClr val="237A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237A57"/>
                </a:solidFill>
                <a:latin typeface="Helvetica Neue"/>
                <a:ea typeface="Helvetica Neue"/>
                <a:cs typeface="Helvetica Neue"/>
              </a:rPr>
              <a:t>and revision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0282DE-51DA-451D-83A8-F2E34C08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8C8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68C80"/>
                </a:solidFill>
                <a:latin typeface="Helvetica Neue"/>
                <a:ea typeface="Helvetica Neue"/>
                <a:cs typeface="Helvetica Neue"/>
              </a:rPr>
              <a:t>Implemented path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004D8F-D97F-4CA3-A78B-52FF34DC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33875"/>
            <a:ext cx="914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852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rPr>
              <a:t>No probability, SHAP attribution, or risk explanation leaves the gate after failed validation.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EF836A-83F0-4C62-B343-5539A666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000625"/>
            <a:ext cx="800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Exact provenance and a safety explanation remain available for review.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9F9C59-881F-406F-A442-3DAAA54C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8889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HeartTrialTwin  |  CS 5588 Challenge 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4CCFD5-5738-46E0-A676-96F496E92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8889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073968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3C516A-08F8-4E85-9CF1-CD4AF434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798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Application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9A8DBD-D967-476D-B563-870A0968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667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Frozen data, reproducible model artifacts, and an explicit safety gate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CA06DD-40D4-45EE-971C-E9B5ED57D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DF3880-4E16-4EE9-93C8-7CBA85DD8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2381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Frozen manifest</a:t>
            </a:r>
          </a:p>
          <a:p xmlns:a="http://schemas.openxmlformats.org/drawingml/2006/main">
            <a:pPr algn="ctr">
              <a:defRPr sz="16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2,824 NCT IDs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3EDDE2-F698-4BCB-9F1B-9BAC90DDA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762125"/>
            <a:ext cx="21907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CEFEB"/>
          </a:solidFill>
          <a:ln xmlns:a="http://schemas.openxmlformats.org/drawingml/2006/main" w="9525">
            <a:solidFill>
              <a:srgbClr val="DCEFEB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Feature builder</a:t>
            </a:r>
          </a:p>
          <a:p xmlns:a="http://schemas.openxmlformats.org/drawingml/2006/main">
            <a:pPr algn="ctr">
              <a:defRPr sz="16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submission_year only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C1A7F8-376E-4635-A550-8CA08BC65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62125"/>
            <a:ext cx="2000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EEF3"/>
          </a:solidFill>
          <a:ln xmlns:a="http://schemas.openxmlformats.org/drawingml/2006/main" w="9525">
            <a:solidFill>
              <a:srgbClr val="E8EEF3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Development fit</a:t>
            </a:r>
          </a:p>
          <a:p xmlns:a="http://schemas.openxmlformats.org/drawingml/2006/main">
            <a:pPr algn="ctr">
              <a:defRPr sz="16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1999–2017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760B21-6684-4DFD-93EC-2E808C77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62125"/>
            <a:ext cx="2095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E6C8"/>
          </a:solidFill>
          <a:ln xmlns:a="http://schemas.openxmlformats.org/drawingml/2006/main" w="9525">
            <a:solidFill>
              <a:srgbClr val="F6E6C8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841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C88412"/>
                </a:solidFill>
                <a:latin typeface="Helvetica Neue"/>
                <a:ea typeface="Helvetica Neue"/>
                <a:cs typeface="Helvetica Neue"/>
              </a:rPr>
              <a:t>Validation gate</a:t>
            </a:r>
          </a:p>
          <a:p xmlns:a="http://schemas.openxmlformats.org/drawingml/2006/main">
            <a:pPr algn="ctr">
              <a:defRPr sz="1650" b="1">
                <a:solidFill>
                  <a:srgbClr val="C8841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C88412"/>
                </a:solidFill>
                <a:latin typeface="Helvetica Neue"/>
                <a:ea typeface="Helvetica Neue"/>
                <a:cs typeface="Helvetica Neue"/>
              </a:rPr>
              <a:t>2018–2020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936427-670C-4E39-945A-5A4C7E16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085975"/>
            <a:ext cx="3619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C80"/>
          </a:solidFill>
          <a:ln xmlns:a="http://schemas.openxmlformats.org/drawingml/2006/main" w="0">
            <a:solidFill>
              <a:srgbClr val="168C80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6055C2-FBF4-49A7-BE35-2853F07E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085975"/>
            <a:ext cx="3619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C80"/>
          </a:solidFill>
          <a:ln xmlns:a="http://schemas.openxmlformats.org/drawingml/2006/main" w="0">
            <a:solidFill>
              <a:srgbClr val="168C80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710B4C-C380-43FA-A35E-51620D29F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085975"/>
            <a:ext cx="3619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C80"/>
          </a:solidFill>
          <a:ln xmlns:a="http://schemas.openxmlformats.org/drawingml/2006/main" w="0">
            <a:solidFill>
              <a:srgbClr val="168C80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6A6477-5C3C-4062-8B00-1605497CC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05250"/>
            <a:ext cx="2857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Exact-NCT provenance cache</a:t>
            </a:r>
          </a:p>
          <a:p xmlns:a="http://schemas.openxmlformats.org/drawingml/2006/main">
            <a:pPr algn="ctr">
              <a:defRPr sz="16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No outcome fields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3292E5-3EB4-4301-8A30-10008D114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905250"/>
            <a:ext cx="2857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BE8E8"/>
          </a:solidFill>
          <a:ln xmlns:a="http://schemas.openxmlformats.org/drawingml/2006/main" w="9525">
            <a:solidFill>
              <a:srgbClr val="FBE8E8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rPr>
              <a:t>Streamlit safe failure state</a:t>
            </a:r>
          </a:p>
          <a:p xmlns:a="http://schemas.openxmlformats.org/drawingml/2006/main">
            <a:pPr algn="ctr">
              <a:defRPr sz="1650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rPr>
              <a:t>Risk output blocked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F0521E-B4C9-4401-BE8F-50D23EE1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05250"/>
            <a:ext cx="2857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0E8"/>
          </a:solidFill>
          <a:ln xmlns:a="http://schemas.openxmlformats.org/drawingml/2006/main" w="9525">
            <a:solidFill>
              <a:srgbClr val="E3F0E8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37A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237A57"/>
                </a:solidFill>
                <a:latin typeface="Helvetica Neue"/>
                <a:ea typeface="Helvetica Neue"/>
                <a:cs typeface="Helvetica Neue"/>
              </a:rPr>
              <a:t>Deterministic safety explanation</a:t>
            </a:r>
          </a:p>
          <a:p xmlns:a="http://schemas.openxmlformats.org/drawingml/2006/main">
            <a:pPr algn="ctr">
              <a:defRPr sz="1650" b="1">
                <a:solidFill>
                  <a:srgbClr val="237A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237A57"/>
                </a:solidFill>
                <a:latin typeface="Helvetica Neue"/>
                <a:ea typeface="Helvetica Neue"/>
                <a:cs typeface="Helvetica Neue"/>
              </a:rPr>
              <a:t>Human review audit log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0A2FCB-21A8-4F5D-A401-AAAC7D4CB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229100"/>
            <a:ext cx="38100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C80"/>
          </a:solidFill>
          <a:ln xmlns:a="http://schemas.openxmlformats.org/drawingml/2006/main" w="0">
            <a:solidFill>
              <a:srgbClr val="168C80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88304D-9098-4F27-A02B-95710AFB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229100"/>
            <a:ext cx="38100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C80"/>
          </a:solidFill>
          <a:ln xmlns:a="http://schemas.openxmlformats.org/drawingml/2006/main" w="0">
            <a:solidFill>
              <a:srgbClr val="168C80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D50D7C-9590-40FB-91F1-A7CAE65F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47687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977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Final test: 456 labels masked, no automatic evaluation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C121C2-4FEE-412A-9651-6C08E6E44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8889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HeartTrialTwin  |  CS 5588 Challenge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F7FAE0-04C9-4EDD-9977-1991105A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8889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320819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6B86FD-5F4A-4E1F-B68D-C53EBB02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798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Data and AI capability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630314-F8E9-4869-B18E-7914A67D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667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The frozen cohort remains intact while the baseline uses one verified predictor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E80564-4113-4942-B69B-1C272DB49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66750" y="1666875"/>
          <a:ext xmlns:a="http://schemas.openxmlformats.org/drawingml/2006/main" cx="6096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266ded44274e69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697D44-A302-43C2-8472-C154A3EB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954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7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2,824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0EF6F9-04BE-4CFB-A66E-FE7C90F3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24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frozen modeling trials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7BC30C-FAEF-4255-B930-8EB7B10A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289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750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750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rPr>
              <a:t>587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1A9EE1-0D28-445A-905B-8CC8F8144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576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424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discontinued in the frozen cohort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E49C46-4F54-4A4B-AC71-E653987C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76750"/>
            <a:ext cx="30480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CEFEB"/>
          </a:solidFill>
          <a:ln xmlns:a="http://schemas.openxmlformats.org/drawingml/2006/main" w="9525">
            <a:solidFill>
              <a:srgbClr val="DCEFEB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Verified predictor</a:t>
            </a:r>
          </a:p>
          <a:p xmlns:a="http://schemas.openxmlformats.org/drawingml/2006/main">
            <a:pPr algn="ctr">
              <a:def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submission_year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748BC4-CB38-4B97-B289-80FF2F1B3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6388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097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37A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237A57"/>
                </a:solidFill>
                <a:latin typeface="Helvetica Neue"/>
                <a:ea typeface="Helvetica Neue"/>
                <a:cs typeface="Helvetica Neue"/>
              </a:rPr>
              <a:t>Final-test outcomes remained locked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1AD508-31A3-474F-BB65-151EBF28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8889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HeartTrialTwin  |  CS 5588 Challenge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1BBC45-4B0D-4A1A-9FA8-AB68D143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8889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6663055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2425A0-B947-4C25-89AB-4F249815E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798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Streamlit safe failure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5906FD-6E65-41C4-AE13-F1173062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667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Actual application screen for NCT03414632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EFA67D-ADCF-46D4-8D7D-D1FBBBF1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b7f746bd774f9e"/>
          <a:stretch xmlns:a="http://schemas.openxmlformats.org/drawingml/2006/main"/>
        </p:blipFill>
        <p:spPr>
          <a:xfrm xmlns:a="http://schemas.openxmlformats.org/drawingml/2006/main">
            <a:off x="809625" y="1381125"/>
            <a:ext cx="6858000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23EE03-33D6-4AE2-B126-304CB29F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615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Visible safeguards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75FF97-5DD4-4D7A-A815-0DFF27170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098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439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Exact NCT ID and submission 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0FDB1A-4D8E-4F8C-AA5A-D74ED67EB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003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966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Frozen cohort and source field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3C17CD-3862-423B-A398-E7F9098E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9090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62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Validation metrics in the sidebar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046182-5248-444A-AE2B-E6ED2805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9814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64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rPr>
              <a:t>Red release-block message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D3D799-D65C-418D-AC00-66D5F134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905375"/>
            <a:ext cx="30480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BE8E8"/>
          </a:solidFill>
          <a:ln xmlns:a="http://schemas.openxmlformats.org/drawingml/2006/main" w="9525">
            <a:solidFill>
              <a:srgbClr val="FBE8E8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rPr>
              <a:t>No selected-trial probability or SHAP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E53B68-28E1-4462-8EAF-C4AF592C1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8889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HeartTrialTwin  |  CS 5588 Challenge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E92B1-3112-425B-8B3D-E3BEF8C6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8889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08620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486B99-2BC3-4432-B1FB-201C4E301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798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Validation evidence blocked the prediction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693FC2-CE59-4DA1-AC9F-881627364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667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The one-feature baseline performed below its no-skill checks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02084C-B84C-403E-8D2B-24FE6EBEE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581025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180df2e2c34b3a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BDA742-0D56-430F-B404-A868F10E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AUPRC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DB24C9-CD4A-44F0-9945-4E725647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80975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rPr>
              <a:t>0.484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140C55-02C9-4B5B-9138-A1BBC36C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6479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8406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validation AUROC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4CB00D-CED0-4750-80E6-B1A44453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333750"/>
            <a:ext cx="2667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BE8E8"/>
          </a:solidFill>
          <a:ln xmlns:a="http://schemas.openxmlformats.org/drawingml/2006/main" w="9525">
            <a:solidFill>
              <a:srgbClr val="FBE8E8"/>
            </a:solidFill>
            <a:prstDash val="solid"/>
          </a:ln>
        </p:spPr>
        <p:txBody>
          <a:bodyPr xmlns:a="http://schemas.openxmlformats.org/drawingml/2006/main" anchor="ctr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rPr>
              <a:t>FAIL</a:t>
            </a:r>
          </a:p>
          <a:p xmlns:a="http://schemas.openxmlformats.org/drawingml/2006/main">
            <a:pPr algn="ctr">
              <a:defRPr sz="1800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rPr>
              <a:t>Below 0.5 random ranking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6BC563-9E18-4605-A6A5-45162D11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6725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667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Brier score  0.178645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401496-04C6-42F4-8F37-505E270F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52863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Validation-derived threshold classified every trial positive: recall 1.0, precision 0.233.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F1A596-C66F-4117-A628-EBB26031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8889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HeartTrialTwin  |  CS 5588 Challenge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88C998-48AD-4F41-857A-D838037D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8889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969210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B78CAB-F3C4-4F1D-9BE7-5DD0584B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798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Human review and revision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393494-F0E4-4B1C-AB5B-A00ECAE8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667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Actual rejection workflow after a metrics-focused revision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9AD90A-BA35-4E07-823E-88C530B0B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4e8487783b4b38"/>
          <a:stretch xmlns:a="http://schemas.openxmlformats.org/drawingml/2006/main"/>
        </p:blipFill>
        <p:spPr>
          <a:xfrm xmlns:a="http://schemas.openxmlformats.org/drawingml/2006/main">
            <a:off x="4524375" y="1381125"/>
            <a:ext cx="6858000" cy="4762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36B01B-8608-4747-82FF-4CEE6F09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6687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7654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Implemented controls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A029D9-1391-4E73-851D-AF366959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24100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Accept records approval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F65A9A-0364-429E-A524-488179CA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Reject requires a reason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486A83-9443-4287-BB14-46570E45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Revision changes emphasis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B940A9-8CB2-441D-8770-D33CF4D7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300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Stored facts remain fixed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85BCCC-AD92-4740-8290-E98903856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00625"/>
            <a:ext cx="31432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3F0E8"/>
          </a:solidFill>
          <a:ln xmlns:a="http://schemas.openxmlformats.org/drawingml/2006/main" w="9525">
            <a:solidFill>
              <a:srgbClr val="E3F0E8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37A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237A57"/>
                </a:solidFill>
                <a:latin typeface="Helvetica Neue"/>
                <a:ea typeface="Helvetica Neue"/>
                <a:cs typeface="Helvetica Neue"/>
              </a:rPr>
              <a:t>Reviewer comments stay separate from system 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11E60E-175E-434A-9109-94B7A2D3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8889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HeartTrialTwin  |  CS 5588 Challenge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374E98-BA51-4EA3-A696-C7D60CB2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8889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8259971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B0E3F2-F832-42FD-B406-B470EA98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3798"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Bounded AI-assisted implementation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1A9F-6D8B-4212-8936-E60E80714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667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Agentic development with human checkpoints, deterministic runtime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499197-1EBC-440E-B200-0BFD15EC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5EDDA6-EE9A-4C61-923A-DA2CF7FB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571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Human authority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547065-01E2-4DB2-B464-A466B05E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95500"/>
            <a:ext cx="295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Approved the scope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Protected the final test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Rejected unsafe predictors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Accepted the safe failure state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150335-4A04-4CA8-83A6-02E9BF9F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571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AI implementation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6A6627-783F-42EB-8380-CEC4E481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95500"/>
            <a:ext cx="3048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Audited project data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Built reproducible code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Verified SHAP mathematics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Executed UI and test workflows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A25965-3CA0-40A7-A311-2DDC62813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452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Runtime behavior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C7D1C6-0797-42D5-8C81-D5041BCAB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95500"/>
            <a:ext cx="285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No autonomous agent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No LLM or RAG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Deterministic explanation</a:t>
            </a:r>
          </a:p>
          <a:p xmlns:a="http://schemas.openxmlformats.org/drawingml/2006/main">
            <a:pPr algn="l">
              <a:def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1F2937"/>
                </a:solidFill>
                <a:latin typeface="Helvetica Neue"/>
                <a:ea typeface="Helvetica Neue"/>
                <a:cs typeface="Helvetica Neue"/>
              </a:rPr>
              <a:t>Explicit human review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C62802-3B67-4C20-9D01-2160D1130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19250"/>
            <a:ext cx="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EE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8BB851-A370-465C-BA59-054BB627B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619250"/>
            <a:ext cx="0" cy="2476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7DEE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66D5AE-D661-4378-BEFB-BC13E0E9F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67250"/>
            <a:ext cx="2857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DCEFEB"/>
          </a:solidFill>
          <a:ln xmlns:a="http://schemas.openxmlformats.org/drawingml/2006/main" w="9525">
            <a:solidFill>
              <a:srgbClr val="DCEFEB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Git repository prepared locally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CE13A1-DBD4-4CA2-8BD7-5F836822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67250"/>
            <a:ext cx="30480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DCEFEB"/>
          </a:solidFill>
          <a:ln xmlns:a="http://schemas.openxmlformats.org/drawingml/2006/main" w="9525">
            <a:solidFill>
              <a:srgbClr val="DCEFEB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3283C"/>
                </a:solidFill>
                <a:latin typeface="Helvetica Neue"/>
                <a:ea typeface="Helvetica Neue"/>
                <a:cs typeface="Helvetica Neue"/>
              </a:rPr>
              <a:t>Credentials and raw course files excluded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C86CB2-C04F-4337-9C77-85F138A4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67250"/>
            <a:ext cx="2857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BE8E8"/>
          </a:solidFill>
          <a:ln xmlns:a="http://schemas.openxmlformats.org/drawingml/2006/main" w="9525">
            <a:solidFill>
              <a:srgbClr val="FBE8E8"/>
            </a:solidFill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C43C45"/>
                </a:solidFill>
                <a:latin typeface="Helvetica Neue"/>
                <a:ea typeface="Helvetica Neue"/>
                <a:cs typeface="Helvetica Neue"/>
              </a:rPr>
              <a:t>GitHub remote awaiting authorization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94BD44-76C8-4752-AD3A-69AED22C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504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8889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HeartTrialTwin  |  CS 5588 Challenge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4975AD-E9DD-4636-9C50-487E444B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8889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48B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854278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328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9C4D80-00E3-4FF9-8BDD-70E909FD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454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Tests, limitations, and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7D6847-5AA7-43CC-A558-64BE1EE7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85875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095"/>
          </a:bodyPr>
          <a:lstStyle xmlns:a="http://schemas.openxmlformats.org/drawingml/2006/main"/>
          <a:p xmlns:a="http://schemas.openxmlformats.org/drawingml/2006/main">
            <a:pPr algn="ctr">
              <a:defRPr sz="5250" b="1">
                <a:solidFill>
                  <a:srgbClr val="77D5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5250" b="1">
                <a:solidFill>
                  <a:srgbClr val="77D5C9"/>
                </a:solidFill>
                <a:latin typeface="Helvetica Neue"/>
                <a:ea typeface="Helvetica Neue"/>
                <a:cs typeface="Helvetica Neue"/>
              </a:rPr>
              <a:t>8 / 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FC2CF8-0AE8-4980-873B-3452097D8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D7E5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D7E5EC"/>
                </a:solidFill>
                <a:latin typeface="Helvetica Neue"/>
                <a:ea typeface="Helvetica Neue"/>
                <a:cs typeface="Helvetica Neue"/>
              </a:rPr>
              <a:t>tests passed</a:t>
            </a:r>
          </a:p>
          <a:p xmlns:a="http://schemas.openxmlformats.org/drawingml/2006/main">
            <a:pPr algn="ctr">
              <a:defRPr sz="1725" b="1">
                <a:solidFill>
                  <a:srgbClr val="D7E5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D7E5EC"/>
                </a:solidFill>
                <a:latin typeface="Helvetica Neue"/>
                <a:ea typeface="Helvetica Neue"/>
                <a:cs typeface="Helvetica Neue"/>
              </a:rPr>
              <a:t>0 failed  ·  0 skipped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4F97DC-18E8-420E-9AAF-374188F3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285875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571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Test coverage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1A58BA-F369-4890-B284-CDD05487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809750"/>
            <a:ext cx="347662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7E5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D7E5EC"/>
                </a:solidFill>
                <a:latin typeface="Helvetica Neue"/>
                <a:ea typeface="Helvetica Neue"/>
                <a:cs typeface="Helvetica Neue"/>
              </a:rPr>
              <a:t>Valid and invalid NCT selection</a:t>
            </a:r>
          </a:p>
          <a:p xmlns:a="http://schemas.openxmlformats.org/drawingml/2006/main">
            <a:pPr algn="l">
              <a:defRPr sz="1650" b="0">
                <a:solidFill>
                  <a:srgbClr val="D7E5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D7E5EC"/>
                </a:solidFill>
                <a:latin typeface="Helvetica Neue"/>
                <a:ea typeface="Helvetica Neue"/>
                <a:cs typeface="Helvetica Neue"/>
              </a:rPr>
              <a:t>Development-only fit and split integrity</a:t>
            </a:r>
          </a:p>
          <a:p xmlns:a="http://schemas.openxmlformats.org/drawingml/2006/main">
            <a:pPr algn="l">
              <a:defRPr sz="1650" b="0">
                <a:solidFill>
                  <a:srgbClr val="D7E5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D7E5EC"/>
                </a:solidFill>
                <a:latin typeface="Helvetica Neue"/>
                <a:ea typeface="Helvetica Neue"/>
                <a:cs typeface="Helvetica Neue"/>
              </a:rPr>
              <a:t>Probability consistency and output blocking</a:t>
            </a:r>
          </a:p>
          <a:p xmlns:a="http://schemas.openxmlformats.org/drawingml/2006/main">
            <a:pPr algn="l">
              <a:defRPr sz="1650" b="0">
                <a:solidFill>
                  <a:srgbClr val="D7E5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D7E5EC"/>
                </a:solidFill>
                <a:latin typeface="Helvetica Neue"/>
                <a:ea typeface="Helvetica Neue"/>
                <a:cs typeface="Helvetica Neue"/>
              </a:rPr>
              <a:t>SHAP additivity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E203A-8D36-422C-9DB9-779F6A25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285875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571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Evidence and review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BF842C-D4F7-4EA9-8223-776060F0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09750"/>
            <a:ext cx="3333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7E5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D7E5EC"/>
                </a:solidFill>
                <a:latin typeface="Helvetica Neue"/>
                <a:ea typeface="Helvetica Neue"/>
                <a:cs typeface="Helvetica Neue"/>
              </a:rPr>
              <a:t>Exact-NCT provenance</a:t>
            </a:r>
          </a:p>
          <a:p xmlns:a="http://schemas.openxmlformats.org/drawingml/2006/main">
            <a:pPr algn="l">
              <a:defRPr sz="1650" b="0">
                <a:solidFill>
                  <a:srgbClr val="D7E5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D7E5EC"/>
                </a:solidFill>
                <a:latin typeface="Helvetica Neue"/>
                <a:ea typeface="Helvetica Neue"/>
                <a:cs typeface="Helvetica Neue"/>
              </a:rPr>
              <a:t>Explanation fidelity and claim safety</a:t>
            </a:r>
          </a:p>
          <a:p xmlns:a="http://schemas.openxmlformats.org/drawingml/2006/main">
            <a:pPr algn="l">
              <a:defRPr sz="1650" b="0">
                <a:solidFill>
                  <a:srgbClr val="D7E5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D7E5EC"/>
                </a:solidFill>
                <a:latin typeface="Helvetica Neue"/>
                <a:ea typeface="Helvetica Neue"/>
                <a:cs typeface="Helvetica Neue"/>
              </a:rPr>
              <a:t>Missing-evidence failure</a:t>
            </a:r>
          </a:p>
          <a:p xmlns:a="http://schemas.openxmlformats.org/drawingml/2006/main">
            <a:pPr algn="l">
              <a:defRPr sz="1650" b="0">
                <a:solidFill>
                  <a:srgbClr val="D7E5E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D7E5EC"/>
                </a:solidFill>
                <a:latin typeface="Helvetica Neue"/>
                <a:ea typeface="Helvetica Neue"/>
                <a:cs typeface="Helvetica Neue"/>
              </a:rPr>
              <a:t>Functional revision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9EAE14-81EB-4D09-B3A1-371D94DD5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10382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4445E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6F1511-3778-427E-A215-858CBAFB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77D5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77D5C9"/>
                </a:solidFill>
                <a:latin typeface="Helvetica Neue"/>
                <a:ea typeface="Helvetica Neue"/>
                <a:cs typeface="Helvetica Neue"/>
              </a:rPr>
              <a:t>Implemented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7F5D73-6724-4FAB-9BF6-836A2D77B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524375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Safe failure application, provenance, deterministic explanation, human review, tests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BF21DA-09E3-40E0-8A29-9FF4CE9A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9B9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F9B9B"/>
                </a:solidFill>
                <a:latin typeface="Helvetica Neue"/>
                <a:ea typeface="Helvetica Neue"/>
                <a:cs typeface="Helvetica Neue"/>
              </a:rPr>
              <a:t>Unfinished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595411-6C40-4045-86A2-3AE948B3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172075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validated trial-level risk predictor and multifeature SHAP explanation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23C3C4-0427-4639-B03C-BCCEF482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674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2C8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F2C879"/>
                </a:solidFill>
                <a:latin typeface="Helvetica Neue"/>
                <a:ea typeface="Helvetica Neue"/>
                <a:cs typeface="Helvetica Neue"/>
              </a:rPr>
              <a:t>Next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5FBE97-FC0E-4921-8C20-548681406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819775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711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Publish the approved repository, then revisit historical predictors when a supported source exists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86E731-F0F7-4879-9AB7-4B245B56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33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8889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A7C7D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A7C7D6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172011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2026-09-20T14:34:36.7040000Z</dcterms:created>
  <dcterms:modified xsi:type="dcterms:W3CDTF">2026-09-20T14:34:36.7040000Z</dcterms:modified>
</coreProperties>
</file>